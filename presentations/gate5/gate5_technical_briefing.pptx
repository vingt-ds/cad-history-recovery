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41130059ae474ffa" Type="http://schemas.microsoft.com/office/2006/relationships/ui/extensibility" Target="customUI/customUI.xml"/><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handoutMasterIdLst>
    <p:handoutMasterId r:id="rId20"/>
  </p:handoutMasterIdLst>
  <p:sldIdLst>
    <p:sldId id="370" r:id="rId5"/>
    <p:sldId id="359" r:id="rId6"/>
    <p:sldId id="467" r:id="rId7"/>
    <p:sldId id="466" r:id="rId8"/>
    <p:sldId id="468" r:id="rId9"/>
    <p:sldId id="469" r:id="rId10"/>
    <p:sldId id="470" r:id="rId11"/>
    <p:sldId id="471" r:id="rId12"/>
    <p:sldId id="472" r:id="rId13"/>
    <p:sldId id="473" r:id="rId14"/>
    <p:sldId id="474" r:id="rId15"/>
    <p:sldId id="475" r:id="rId16"/>
    <p:sldId id="476" r:id="rId17"/>
    <p:sldId id="352" r:id="rId18"/>
  </p:sldIdLst>
  <p:sldSz cx="12192000" cy="6858000"/>
  <p:notesSz cx="6858000" cy="9144000"/>
  <p:defaultText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hay" initials="" lastIdx="0" clrIdx="0"/>
  <p:cmAuthor id="1" name="Shay" initials="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F46"/>
    <a:srgbClr val="4F81BD"/>
    <a:srgbClr val="000000"/>
    <a:srgbClr val="F2B8D8"/>
    <a:srgbClr val="EB7BBE"/>
    <a:srgbClr val="FFD629"/>
    <a:srgbClr val="EBEBEB"/>
    <a:srgbClr val="4F4C37"/>
    <a:srgbClr val="1E497D"/>
    <a:srgbClr val="8F99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186E7CC-E9CA-4A81-9595-9A8B10420DC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34" autoAdjust="0"/>
    <p:restoredTop sz="80766" autoAdjust="0"/>
  </p:normalViewPr>
  <p:slideViewPr>
    <p:cSldViewPr snapToObjects="1">
      <p:cViewPr varScale="1">
        <p:scale>
          <a:sx n="100" d="100"/>
          <a:sy n="100" d="100"/>
        </p:scale>
        <p:origin x="1608" y="82"/>
      </p:cViewPr>
      <p:guideLst/>
    </p:cSldViewPr>
  </p:slideViewPr>
  <p:outlineViewPr>
    <p:cViewPr>
      <p:scale>
        <a:sx n="33" d="100"/>
        <a:sy n="33" d="100"/>
      </p:scale>
      <p:origin x="0" y="0"/>
    </p:cViewPr>
  </p:outlineViewPr>
  <p:notesTextViewPr>
    <p:cViewPr>
      <p:scale>
        <a:sx n="110" d="100"/>
        <a:sy n="110" d="100"/>
      </p:scale>
      <p:origin x="0" y="0"/>
    </p:cViewPr>
  </p:notesTextViewPr>
  <p:sorterViewPr>
    <p:cViewPr>
      <p:scale>
        <a:sx n="172" d="100"/>
        <a:sy n="172" d="100"/>
      </p:scale>
      <p:origin x="0" y="-9864"/>
    </p:cViewPr>
  </p:sorterViewPr>
  <p:notesViewPr>
    <p:cSldViewPr snapToObjects="1" showGuides="1">
      <p:cViewPr varScale="1">
        <p:scale>
          <a:sx n="84" d="100"/>
          <a:sy n="84" d="100"/>
        </p:scale>
        <p:origin x="297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7200"/>
          </a:xfrm>
          <a:prstGeom prst="rect">
            <a:avLst/>
          </a:prstGeom>
        </p:spPr>
        <p:txBody>
          <a:bodyPr vert="horz" lIns="72000" tIns="72000" rIns="72000" bIns="72000" rtlCol="0" anchor="t" anchorCtr="0"/>
          <a:lstStyle/>
          <a:p>
            <a:endParaRPr lang="en-AU" sz="1000" dirty="0">
              <a:cs typeface="Arial"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72000" tIns="72000" rIns="72000" bIns="72000" rtlCol="0"/>
          <a:lstStyle>
            <a:lvl1pPr algn="r">
              <a:defRPr sz="1200"/>
            </a:lvl1pPr>
          </a:lstStyle>
          <a:p>
            <a:fld id="{4E50C307-5AD1-4F8C-91A0-1FC7219EFB34}" type="datetimeFigureOut">
              <a:rPr lang="en-AU" sz="1000" smtClean="0">
                <a:cs typeface="Arial" pitchFamily="34" charset="0"/>
              </a:rPr>
              <a:t>21/09/2026</a:t>
            </a:fld>
            <a:endParaRPr lang="en-AU" sz="1000" dirty="0">
              <a:cs typeface="Arial"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72000" tIns="72000" rIns="72000" bIns="72000" rtlCol="0" anchor="b"/>
          <a:lstStyle>
            <a:lvl1pPr algn="l">
              <a:defRPr sz="1200"/>
            </a:lvl1pPr>
          </a:lstStyle>
          <a:p>
            <a:endParaRPr lang="en-AU" sz="1000" dirty="0">
              <a:cs typeface="Arial" pitchFamily="34" charset="0"/>
            </a:endParaRPr>
          </a:p>
        </p:txBody>
      </p:sp>
      <p:sp>
        <p:nvSpPr>
          <p:cNvPr id="5" name="Slide Number Placeholder 4"/>
          <p:cNvSpPr>
            <a:spLocks noGrp="1"/>
          </p:cNvSpPr>
          <p:nvPr>
            <p:ph type="sldNum" sz="quarter" idx="3"/>
          </p:nvPr>
        </p:nvSpPr>
        <p:spPr>
          <a:xfrm>
            <a:off x="5769261" y="8685213"/>
            <a:ext cx="1087153" cy="457200"/>
          </a:xfrm>
          <a:prstGeom prst="rect">
            <a:avLst/>
          </a:prstGeom>
        </p:spPr>
        <p:txBody>
          <a:bodyPr vert="horz" lIns="0" tIns="36000" rIns="91440" bIns="36000" rtlCol="0" anchor="b"/>
          <a:lstStyle>
            <a:lvl1pPr algn="r">
              <a:defRPr sz="1200"/>
            </a:lvl1pPr>
          </a:lstStyle>
          <a:p>
            <a:fld id="{AF84CFB5-B6E9-4915-957C-05CFA717E28F}" type="slidenum">
              <a:rPr lang="en-AU" sz="1000" smtClean="0">
                <a:cs typeface="Arial" pitchFamily="34" charset="0"/>
              </a:rPr>
              <a:t>‹#›</a:t>
            </a:fld>
            <a:endParaRPr lang="en-AU" sz="1000" dirty="0">
              <a:cs typeface="Arial" pitchFamily="34" charset="0"/>
            </a:endParaRPr>
          </a:p>
        </p:txBody>
      </p:sp>
    </p:spTree>
    <p:extLst>
      <p:ext uri="{BB962C8B-B14F-4D97-AF65-F5344CB8AC3E}">
        <p14:creationId xmlns:p14="http://schemas.microsoft.com/office/powerpoint/2010/main" val="26682905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6200" y="76200"/>
            <a:ext cx="5017985" cy="381000"/>
          </a:xfrm>
          <a:prstGeom prst="rect">
            <a:avLst/>
          </a:prstGeom>
        </p:spPr>
        <p:txBody>
          <a:bodyPr vert="horz" lIns="0" tIns="0" rIns="0" bIns="0" rtlCol="0"/>
          <a:lstStyle>
            <a:lvl1pPr algn="l">
              <a:defRPr sz="1200">
                <a:latin typeface="+mn-lt"/>
              </a:defRPr>
            </a:lvl1pPr>
          </a:lstStyle>
          <a:p>
            <a:endParaRPr lang="en-AU" dirty="0"/>
          </a:p>
        </p:txBody>
      </p:sp>
      <p:sp>
        <p:nvSpPr>
          <p:cNvPr id="3" name="Date Placeholder 2"/>
          <p:cNvSpPr>
            <a:spLocks noGrp="1"/>
          </p:cNvSpPr>
          <p:nvPr>
            <p:ph type="dt" idx="1"/>
          </p:nvPr>
        </p:nvSpPr>
        <p:spPr>
          <a:xfrm>
            <a:off x="5398770" y="64770"/>
            <a:ext cx="1417320" cy="381000"/>
          </a:xfrm>
          <a:prstGeom prst="rect">
            <a:avLst/>
          </a:prstGeom>
        </p:spPr>
        <p:txBody>
          <a:bodyPr vert="horz" lIns="0" tIns="0" rIns="0" bIns="0" rtlCol="0"/>
          <a:lstStyle>
            <a:lvl1pPr algn="r">
              <a:defRPr sz="1200">
                <a:latin typeface="+mn-lt"/>
              </a:defRPr>
            </a:lvl1pPr>
          </a:lstStyle>
          <a:p>
            <a:fld id="{9BB1C32A-CF46-409D-8B8D-587A7E3A4DCC}" type="datetimeFigureOut">
              <a:rPr lang="en-AU" smtClean="0"/>
              <a:pPr/>
              <a:t>21/09/2026</a:t>
            </a:fld>
            <a:endParaRPr lang="en-AU" dirty="0"/>
          </a:p>
        </p:txBody>
      </p:sp>
      <p:sp>
        <p:nvSpPr>
          <p:cNvPr id="4" name="Slide Image Placeholder 3"/>
          <p:cNvSpPr>
            <a:spLocks noGrp="1" noRot="1" noChangeAspect="1"/>
          </p:cNvSpPr>
          <p:nvPr>
            <p:ph type="sldImg" idx="2"/>
          </p:nvPr>
        </p:nvSpPr>
        <p:spPr>
          <a:xfrm>
            <a:off x="-246063" y="542925"/>
            <a:ext cx="7342188" cy="4130675"/>
          </a:xfrm>
          <a:prstGeom prst="rect">
            <a:avLst/>
          </a:prstGeom>
          <a:noFill/>
          <a:ln w="3175">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72264" y="4977044"/>
            <a:ext cx="5505891" cy="3481155"/>
          </a:xfrm>
          <a:prstGeom prst="rect">
            <a:avLst/>
          </a:prstGeom>
        </p:spPr>
        <p:txBody>
          <a:bodyPr vert="horz" lIns="0" tIns="0" rIns="0" bIns="0" rtlCol="0">
            <a:normAutofit/>
          </a:bodyPr>
          <a:lstStyle/>
          <a:p>
            <a:pPr lvl="0"/>
            <a:r>
              <a:rPr lang="en-AU" noProof="0" dirty="0"/>
              <a:t>Click to edit Master text styles</a:t>
            </a:r>
          </a:p>
          <a:p>
            <a:pPr marL="0" lvl="1"/>
            <a:r>
              <a:rPr lang="en-AU" noProof="0" dirty="0"/>
              <a:t>Second level</a:t>
            </a:r>
          </a:p>
          <a:p>
            <a:pPr marL="144000" lvl="2" indent="-144000">
              <a:buFont typeface="Arial" pitchFamily="34" charset="0"/>
              <a:buChar char="•"/>
            </a:pPr>
            <a:r>
              <a:rPr lang="en-AU" noProof="0" dirty="0"/>
              <a:t>Third level</a:t>
            </a:r>
          </a:p>
          <a:p>
            <a:pPr marL="288000" lvl="3" indent="-144000">
              <a:buFont typeface="Arial" pitchFamily="34" charset="0"/>
              <a:buChar char="•"/>
            </a:pPr>
            <a:r>
              <a:rPr lang="en-AU" noProof="0" dirty="0"/>
              <a:t>Fourth level</a:t>
            </a:r>
          </a:p>
        </p:txBody>
      </p:sp>
      <p:sp>
        <p:nvSpPr>
          <p:cNvPr id="6" name="Footer Placeholder 5"/>
          <p:cNvSpPr>
            <a:spLocks noGrp="1"/>
          </p:cNvSpPr>
          <p:nvPr>
            <p:ph type="ftr" sz="quarter" idx="4"/>
          </p:nvPr>
        </p:nvSpPr>
        <p:spPr>
          <a:xfrm>
            <a:off x="76200" y="8685213"/>
            <a:ext cx="4800600" cy="360000"/>
          </a:xfrm>
          <a:prstGeom prst="rect">
            <a:avLst/>
          </a:prstGeom>
        </p:spPr>
        <p:txBody>
          <a:bodyPr vert="horz" lIns="91440" tIns="45720" rIns="91440" bIns="45720" rtlCol="0" anchor="b"/>
          <a:lstStyle>
            <a:lvl1pPr algn="l">
              <a:defRPr sz="1200">
                <a:latin typeface="+mn-lt"/>
                <a:cs typeface="Arial" pitchFamily="34" charset="0"/>
              </a:defRPr>
            </a:lvl1pPr>
          </a:lstStyle>
          <a:p>
            <a:endParaRPr lang="en-AU" dirty="0"/>
          </a:p>
        </p:txBody>
      </p:sp>
      <p:sp>
        <p:nvSpPr>
          <p:cNvPr id="7" name="Slide Number Placeholder 6"/>
          <p:cNvSpPr>
            <a:spLocks noGrp="1"/>
          </p:cNvSpPr>
          <p:nvPr>
            <p:ph type="sldNum" sz="quarter" idx="5"/>
          </p:nvPr>
        </p:nvSpPr>
        <p:spPr>
          <a:xfrm>
            <a:off x="5855969" y="8685213"/>
            <a:ext cx="989013" cy="360000"/>
          </a:xfrm>
          <a:prstGeom prst="rect">
            <a:avLst/>
          </a:prstGeom>
        </p:spPr>
        <p:txBody>
          <a:bodyPr vert="horz" lIns="91440" tIns="45720" rIns="91440" bIns="45720" rtlCol="0" anchor="b"/>
          <a:lstStyle>
            <a:lvl1pPr algn="r">
              <a:defRPr sz="1200">
                <a:latin typeface="+mn-lt"/>
              </a:defRPr>
            </a:lvl1pPr>
          </a:lstStyle>
          <a:p>
            <a:fld id="{D5A593CC-2149-4E6C-BC3C-0044C280ECB2}" type="slidenum">
              <a:rPr lang="en-AU" smtClean="0"/>
              <a:pPr/>
              <a:t>‹#›</a:t>
            </a:fld>
            <a:endParaRPr lang="en-AU"/>
          </a:p>
        </p:txBody>
      </p:sp>
    </p:spTree>
    <p:extLst>
      <p:ext uri="{BB962C8B-B14F-4D97-AF65-F5344CB8AC3E}">
        <p14:creationId xmlns:p14="http://schemas.microsoft.com/office/powerpoint/2010/main" val="3772576877"/>
      </p:ext>
    </p:extLst>
  </p:cSld>
  <p:clrMap bg1="lt1" tx1="dk1" bg2="lt2" tx2="dk2" accent1="accent1" accent2="accent2" accent3="accent3" accent4="accent4" accent5="accent5" accent6="accent6" hlink="hlink" folHlink="folHlink"/>
  <p:notesStyle>
    <a:lvl1pPr marL="0" algn="l" defTabSz="1218895" rtl="0" eaLnBrk="1" latinLnBrk="0" hangingPunct="1">
      <a:defRPr lang="en-US" sz="1600" b="1" kern="1200" dirty="0" smtClean="0">
        <a:solidFill>
          <a:schemeClr val="tx1"/>
        </a:solidFill>
        <a:latin typeface="+mn-lt"/>
        <a:ea typeface="+mn-ea"/>
        <a:cs typeface="Arial" pitchFamily="34" charset="0"/>
      </a:defRPr>
    </a:lvl1pPr>
    <a:lvl2pPr marL="609448" algn="l" defTabSz="1218895" rtl="0" eaLnBrk="1" latinLnBrk="0" hangingPunct="1">
      <a:defRPr lang="en-US" sz="1600" kern="1200" dirty="0" smtClean="0">
        <a:solidFill>
          <a:schemeClr val="tx1"/>
        </a:solidFill>
        <a:latin typeface="Arial" pitchFamily="34" charset="0"/>
        <a:ea typeface="+mn-ea"/>
        <a:cs typeface="Arial" pitchFamily="34" charset="0"/>
      </a:defRPr>
    </a:lvl2pPr>
    <a:lvl3pPr marL="1218895" algn="l" defTabSz="1218895" rtl="0" eaLnBrk="1" latinLnBrk="0" hangingPunct="1">
      <a:defRPr lang="en-US" sz="1600" kern="1200" dirty="0" smtClean="0">
        <a:solidFill>
          <a:schemeClr val="tx1"/>
        </a:solidFill>
        <a:latin typeface="Arial" pitchFamily="34" charset="0"/>
        <a:ea typeface="+mn-ea"/>
        <a:cs typeface="Arial" pitchFamily="34" charset="0"/>
      </a:defRPr>
    </a:lvl3pPr>
    <a:lvl4pPr marL="1828343" algn="l" defTabSz="1218895" rtl="0" eaLnBrk="1" latinLnBrk="0" hangingPunct="1">
      <a:defRPr lang="en-US" sz="1600" kern="1200" dirty="0" smtClean="0">
        <a:solidFill>
          <a:schemeClr val="tx1"/>
        </a:solidFill>
        <a:latin typeface="Arial" pitchFamily="34" charset="0"/>
        <a:ea typeface="+mn-ea"/>
        <a:cs typeface="Arial" pitchFamily="34" charset="0"/>
      </a:defRPr>
    </a:lvl4pPr>
    <a:lvl5pPr marL="2437790" algn="l" defTabSz="1218895" rtl="0" eaLnBrk="1" latinLnBrk="0" hangingPunct="1">
      <a:defRPr lang="en-AU" sz="1600" kern="1200" baseline="0" dirty="0">
        <a:solidFill>
          <a:schemeClr val="tx1"/>
        </a:solidFill>
        <a:latin typeface="Arial" pitchFamily="34" charset="0"/>
        <a:ea typeface="+mn-ea"/>
        <a:cs typeface="Arial" pitchFamily="34" charset="0"/>
      </a:defRPr>
    </a:lvl5pPr>
    <a:lvl6pPr marL="3047238" algn="l" defTabSz="1218895" rtl="0" eaLnBrk="1" latinLnBrk="0" hangingPunct="1">
      <a:defRPr sz="1600" kern="1200">
        <a:solidFill>
          <a:schemeClr val="tx1"/>
        </a:solidFill>
        <a:latin typeface="+mn-lt"/>
        <a:ea typeface="+mn-ea"/>
        <a:cs typeface="+mn-cs"/>
      </a:defRPr>
    </a:lvl6pPr>
    <a:lvl7pPr marL="3656686" algn="l" defTabSz="1218895" rtl="0" eaLnBrk="1" latinLnBrk="0" hangingPunct="1">
      <a:defRPr sz="1600" kern="1200">
        <a:solidFill>
          <a:schemeClr val="tx1"/>
        </a:solidFill>
        <a:latin typeface="+mn-lt"/>
        <a:ea typeface="+mn-ea"/>
        <a:cs typeface="+mn-cs"/>
      </a:defRPr>
    </a:lvl7pPr>
    <a:lvl8pPr marL="4266133" algn="l" defTabSz="1218895" rtl="0" eaLnBrk="1" latinLnBrk="0" hangingPunct="1">
      <a:defRPr sz="1600" kern="1200">
        <a:solidFill>
          <a:schemeClr val="tx1"/>
        </a:solidFill>
        <a:latin typeface="+mn-lt"/>
        <a:ea typeface="+mn-ea"/>
        <a:cs typeface="+mn-cs"/>
      </a:defRPr>
    </a:lvl8pPr>
    <a:lvl9pPr marL="4875581" algn="l" defTabSz="121889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normAutofit/>
          </a:bodyPr>
          <a:lstStyle/>
          <a:p>
            <a:r>
              <a:rPr lang="zh-CN" altLang="zh-CN" dirty="0"/>
              <a:t>Good morning. Today I will present my project on rule-based CAD construction sequence synthesis from B-rep models.</a:t>
            </a:r>
          </a:p>
          <a:p>
            <a:r>
              <a:rPr lang="zh-CN" altLang="zh-CN" dirty="0"/>
              <a:t>The original goal is to recover executable CAD construction explanations from history-free B-rep models.</a:t>
            </a:r>
          </a:p>
          <a:p>
            <a:r>
              <a:rPr lang="zh-CN" altLang="zh-CN" dirty="0"/>
              <a:t>In this implementation, I focus on a constrained scope and evaluate whether final geometry and topology can support a plausible and executable construction explanation.</a:t>
            </a:r>
          </a:p>
          <a:p>
            <a:r>
              <a:rPr lang="zh-CN" altLang="zh-CN" dirty="0"/>
              <a:t>I will mainly introduce the pipeline, evaluation design, demonstrations, and the current limitations.</a:t>
            </a:r>
          </a:p>
        </p:txBody>
      </p:sp>
      <p:sp>
        <p:nvSpPr>
          <p:cNvPr id="4" name="灯片编号占位符 3"/>
          <p:cNvSpPr>
            <a:spLocks noGrp="1"/>
          </p:cNvSpPr>
          <p:nvPr>
            <p:ph type="sldNum" sz="quarter" idx="5"/>
          </p:nvPr>
        </p:nvSpPr>
        <p:spPr/>
        <p:txBody>
          <a:bodyPr/>
          <a:lstStyle/>
          <a:p>
            <a:fld id="{D5A593CC-2149-4E6C-BC3C-0044C280ECB2}" type="slidenum">
              <a:rPr lang="en-AU" smtClean="0"/>
              <a:pPr/>
              <a:t>1</a:t>
            </a:fld>
            <a:endParaRPr lang="en-AU"/>
          </a:p>
        </p:txBody>
      </p:sp>
    </p:spTree>
    <p:extLst>
      <p:ext uri="{BB962C8B-B14F-4D97-AF65-F5344CB8AC3E}">
        <p14:creationId xmlns:p14="http://schemas.microsoft.com/office/powerpoint/2010/main" val="1605763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normAutofit/>
          </a:bodyPr>
          <a:lstStyle/>
          <a:p>
            <a:r>
              <a:rPr lang="zh-CN" altLang="zh-CN" dirty="0"/>
              <a:t>The key research question is: given only a final history-free STEP/B-rep model, can we generate a plausible executable construction explanation?</a:t>
            </a:r>
          </a:p>
          <a:p>
            <a:r>
              <a:rPr lang="zh-CN" altLang="zh-CN" dirty="0"/>
              <a:t>Here, the input only contains final geometry and topology information. We do not use the original CAD history.</a:t>
            </a:r>
          </a:p>
          <a:p>
            <a:r>
              <a:rPr lang="zh-CN" altLang="zh-CN" dirty="0"/>
              <a:t>In this project, I tested two controlled construction classes.</a:t>
            </a:r>
          </a:p>
          <a:p>
            <a:r>
              <a:rPr lang="zh-CN" altLang="zh-CN" dirty="0"/>
              <a:t>The first one is single extrusion from a planar profile.</a:t>
            </a:r>
          </a:p>
          <a:p>
            <a:r>
              <a:rPr lang="zh-CN" altLang="zh-CN" dirty="0"/>
              <a:t>The second one is a base extrusion followed by one straight through cylindrical cut.</a:t>
            </a:r>
          </a:p>
          <a:p>
            <a:r>
              <a:rPr lang="zh-CN" altLang="zh-CN" dirty="0"/>
              <a:t>Importantly, the goal is not to claim unique recovery of the original designer history. The claim is only a plausible executable explanation within this defined scope.</a:t>
            </a:r>
          </a:p>
          <a:p>
            <a:endParaRPr lang="zh-CN" altLang="zh-CN" dirty="0"/>
          </a:p>
        </p:txBody>
      </p:sp>
      <p:sp>
        <p:nvSpPr>
          <p:cNvPr id="4" name="灯片编号占位符 3"/>
          <p:cNvSpPr>
            <a:spLocks noGrp="1"/>
          </p:cNvSpPr>
          <p:nvPr>
            <p:ph type="sldNum" sz="quarter" idx="5"/>
          </p:nvPr>
        </p:nvSpPr>
        <p:spPr/>
        <p:txBody>
          <a:bodyPr/>
          <a:lstStyle/>
          <a:p>
            <a:fld id="{D5A593CC-2149-4E6C-BC3C-0044C280ECB2}" type="slidenum">
              <a:rPr lang="en-AU" smtClean="0"/>
              <a:pPr/>
              <a:t>2</a:t>
            </a:fld>
            <a:endParaRPr lang="en-AU"/>
          </a:p>
        </p:txBody>
      </p:sp>
    </p:spTree>
    <p:extLst>
      <p:ext uri="{BB962C8B-B14F-4D97-AF65-F5344CB8AC3E}">
        <p14:creationId xmlns:p14="http://schemas.microsoft.com/office/powerpoint/2010/main" val="24149966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9A9F3-443A-104A-C0FF-36B9FB07A7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654AE5-D99F-952E-00B8-A44F92296C09}"/>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E78C14AD-776D-E47B-1303-1BCFC29A35A2}"/>
              </a:ext>
            </a:extLst>
          </p:cNvPr>
          <p:cNvSpPr>
            <a:spLocks noGrp="1"/>
          </p:cNvSpPr>
          <p:nvPr>
            <p:ph type="body" idx="1"/>
          </p:nvPr>
        </p:nvSpPr>
        <p:spPr/>
        <p:txBody>
          <a:bodyPr>
            <a:normAutofit/>
          </a:bodyPr>
          <a:lstStyle/>
          <a:p>
            <a:r>
              <a:rPr lang="zh-CN" altLang="zh-CN" dirty="0"/>
              <a:t>This slide shows the overall evidence pipeline.</a:t>
            </a:r>
          </a:p>
          <a:p>
            <a:r>
              <a:rPr lang="zh-CN" altLang="zh-CN" dirty="0"/>
              <a:t>Starting from a history-free B-rep, we first extract observable geometric and topological facts, such as geometry, topology, and adjacency information.</a:t>
            </a:r>
          </a:p>
          <a:p>
            <a:r>
              <a:rPr lang="zh-CN" altLang="zh-CN" dirty="0"/>
              <a:t>These observations constrain possible construction hypotheses.</a:t>
            </a:r>
          </a:p>
          <a:p>
            <a:r>
              <a:rPr lang="zh-CN" altLang="zh-CN" dirty="0"/>
              <a:t>Then the candidate sequence is translated into an executable CAD sequence and replayed in Fusion.</a:t>
            </a:r>
          </a:p>
          <a:p>
            <a:r>
              <a:rPr lang="zh-CN" altLang="zh-CN" dirty="0"/>
              <a:t>Finally, the result is checked through route-specific validation.</a:t>
            </a:r>
          </a:p>
          <a:p>
            <a:r>
              <a:rPr lang="zh-CN" altLang="zh-CN" dirty="0"/>
              <a:t>The key idea is that a candidate explanation is not accepted only because it looks reasonable. It needs replay evidence and validation evidence.</a:t>
            </a:r>
          </a:p>
          <a:p>
            <a:endParaRPr lang="zh-CN" altLang="zh-CN" dirty="0"/>
          </a:p>
        </p:txBody>
      </p:sp>
      <p:sp>
        <p:nvSpPr>
          <p:cNvPr id="4" name="灯片编号占位符 3">
            <a:extLst>
              <a:ext uri="{FF2B5EF4-FFF2-40B4-BE49-F238E27FC236}">
                <a16:creationId xmlns:a16="http://schemas.microsoft.com/office/drawing/2014/main" id="{65219EF4-24DC-40CA-A644-6EB354B52F10}"/>
              </a:ext>
            </a:extLst>
          </p:cNvPr>
          <p:cNvSpPr>
            <a:spLocks noGrp="1"/>
          </p:cNvSpPr>
          <p:nvPr>
            <p:ph type="sldNum" sz="quarter" idx="5"/>
          </p:nvPr>
        </p:nvSpPr>
        <p:spPr/>
        <p:txBody>
          <a:bodyPr/>
          <a:lstStyle/>
          <a:p>
            <a:fld id="{D5A593CC-2149-4E6C-BC3C-0044C280ECB2}" type="slidenum">
              <a:rPr lang="en-AU" smtClean="0"/>
              <a:pPr/>
              <a:t>3</a:t>
            </a:fld>
            <a:endParaRPr lang="en-AU"/>
          </a:p>
        </p:txBody>
      </p:sp>
    </p:spTree>
    <p:extLst>
      <p:ext uri="{BB962C8B-B14F-4D97-AF65-F5344CB8AC3E}">
        <p14:creationId xmlns:p14="http://schemas.microsoft.com/office/powerpoint/2010/main" val="957526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A22F2-A350-A0C3-A026-65FAC87AE9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0BD7861-6857-3C0A-3FB2-3142B1CED112}"/>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7D9FDF24-FF8A-C38D-862B-732C4C8B29CE}"/>
              </a:ext>
            </a:extLst>
          </p:cNvPr>
          <p:cNvSpPr>
            <a:spLocks noGrp="1"/>
          </p:cNvSpPr>
          <p:nvPr>
            <p:ph type="body" idx="1"/>
          </p:nvPr>
        </p:nvSpPr>
        <p:spPr/>
        <p:txBody>
          <a:bodyPr>
            <a:normAutofit/>
          </a:bodyPr>
          <a:lstStyle/>
          <a:p>
            <a:r>
              <a:rPr lang="zh-CN" altLang="zh-CN" dirty="0"/>
              <a:t>For evaluation, I created a small controlled benchmark with 30 cases.</a:t>
            </a:r>
          </a:p>
          <a:p>
            <a:r>
              <a:rPr lang="zh-CN" altLang="zh-CN" dirty="0"/>
              <a:t>It contains 15 development cases and 15 frozen held-out cases.</a:t>
            </a:r>
          </a:p>
          <a:p>
            <a:r>
              <a:rPr lang="zh-CN" altLang="zh-CN" dirty="0"/>
              <a:t>The important point is that the evaluation system was frozen before running both splits.</a:t>
            </a:r>
          </a:p>
          <a:p>
            <a:r>
              <a:rPr lang="zh-CN" altLang="zh-CN" dirty="0"/>
              <a:t>Expected labels were only used after formal runs were completed, so they were not available during semantic inference.</a:t>
            </a:r>
          </a:p>
          <a:p>
            <a:r>
              <a:rPr lang="zh-CN" altLang="zh-CN" dirty="0"/>
              <a:t>This benchmark is designed for controlled evaluation of the current scope, rather than representing a general industrial CAD dataset.</a:t>
            </a:r>
          </a:p>
          <a:p>
            <a:endParaRPr lang="zh-CN" altLang="zh-CN" dirty="0"/>
          </a:p>
        </p:txBody>
      </p:sp>
      <p:sp>
        <p:nvSpPr>
          <p:cNvPr id="4" name="灯片编号占位符 3">
            <a:extLst>
              <a:ext uri="{FF2B5EF4-FFF2-40B4-BE49-F238E27FC236}">
                <a16:creationId xmlns:a16="http://schemas.microsoft.com/office/drawing/2014/main" id="{19E423AC-DA0E-EF64-B0DD-EE663C5D7559}"/>
              </a:ext>
            </a:extLst>
          </p:cNvPr>
          <p:cNvSpPr>
            <a:spLocks noGrp="1"/>
          </p:cNvSpPr>
          <p:nvPr>
            <p:ph type="sldNum" sz="quarter" idx="5"/>
          </p:nvPr>
        </p:nvSpPr>
        <p:spPr/>
        <p:txBody>
          <a:bodyPr/>
          <a:lstStyle/>
          <a:p>
            <a:fld id="{D5A593CC-2149-4E6C-BC3C-0044C280ECB2}" type="slidenum">
              <a:rPr lang="en-AU" smtClean="0"/>
              <a:pPr/>
              <a:t>4</a:t>
            </a:fld>
            <a:endParaRPr lang="en-AU"/>
          </a:p>
        </p:txBody>
      </p:sp>
    </p:spTree>
    <p:extLst>
      <p:ext uri="{BB962C8B-B14F-4D97-AF65-F5344CB8AC3E}">
        <p14:creationId xmlns:p14="http://schemas.microsoft.com/office/powerpoint/2010/main" val="671343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F0FE6-2AF6-4541-40A8-95837B457E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4FEE33-07E8-F80A-2828-965F01C3F4F3}"/>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BE4E188-6D56-76BE-71D7-D69DA5B3290C}"/>
              </a:ext>
            </a:extLst>
          </p:cNvPr>
          <p:cNvSpPr>
            <a:spLocks noGrp="1"/>
          </p:cNvSpPr>
          <p:nvPr>
            <p:ph type="body" idx="1"/>
          </p:nvPr>
        </p:nvSpPr>
        <p:spPr/>
        <p:txBody>
          <a:bodyPr>
            <a:normAutofit/>
          </a:bodyPr>
          <a:lstStyle/>
          <a:p>
            <a:r>
              <a:rPr lang="zh-CN" altLang="zh-CN" dirty="0"/>
              <a:t>This slide summarizes the Gate 4 evaluation results.</a:t>
            </a:r>
          </a:p>
          <a:p>
            <a:r>
              <a:rPr lang="zh-CN" altLang="zh-CN" dirty="0"/>
              <a:t>First, all 30 cases produced complete evidence packages, meaning the evaluation process itself was reproducible.</a:t>
            </a:r>
          </a:p>
          <a:p>
            <a:r>
              <a:rPr lang="zh-CN" altLang="zh-CN" dirty="0"/>
              <a:t>Among the validated reconstruction cases, 27 geometry checks passed.</a:t>
            </a:r>
          </a:p>
          <a:p>
            <a:r>
              <a:rPr lang="zh-CN" altLang="zh-CN" dirty="0"/>
              <a:t>The final outcomes are separated into different categories.</a:t>
            </a:r>
          </a:p>
          <a:p>
            <a:r>
              <a:rPr lang="zh-CN" altLang="zh-CN" dirty="0"/>
              <a:t>We distinguish automatic success, supported-case recovery, unsupported rejection, and validation status.</a:t>
            </a:r>
          </a:p>
          <a:p>
            <a:r>
              <a:rPr lang="zh-CN" altLang="zh-CN" dirty="0"/>
              <a:t>The important point is that Gate 4 PASS means the evaluation protocol and evidence integrity passed. It is not simply a success-rate threshold.</a:t>
            </a:r>
          </a:p>
          <a:p>
            <a:endParaRPr lang="zh-CN" altLang="zh-CN" dirty="0"/>
          </a:p>
        </p:txBody>
      </p:sp>
      <p:sp>
        <p:nvSpPr>
          <p:cNvPr id="4" name="灯片编号占位符 3">
            <a:extLst>
              <a:ext uri="{FF2B5EF4-FFF2-40B4-BE49-F238E27FC236}">
                <a16:creationId xmlns:a16="http://schemas.microsoft.com/office/drawing/2014/main" id="{B843F836-B043-D4CD-0AF6-4460CA7CDB57}"/>
              </a:ext>
            </a:extLst>
          </p:cNvPr>
          <p:cNvSpPr>
            <a:spLocks noGrp="1"/>
          </p:cNvSpPr>
          <p:nvPr>
            <p:ph type="sldNum" sz="quarter" idx="5"/>
          </p:nvPr>
        </p:nvSpPr>
        <p:spPr/>
        <p:txBody>
          <a:bodyPr/>
          <a:lstStyle/>
          <a:p>
            <a:fld id="{D5A593CC-2149-4E6C-BC3C-0044C280ECB2}" type="slidenum">
              <a:rPr lang="en-AU" smtClean="0"/>
              <a:pPr/>
              <a:t>5</a:t>
            </a:fld>
            <a:endParaRPr lang="en-AU"/>
          </a:p>
        </p:txBody>
      </p:sp>
    </p:spTree>
    <p:extLst>
      <p:ext uri="{BB962C8B-B14F-4D97-AF65-F5344CB8AC3E}">
        <p14:creationId xmlns:p14="http://schemas.microsoft.com/office/powerpoint/2010/main" val="24794472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A8AE5-DC09-0F38-4B35-513F7EBFB0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721784A-3173-3DCB-BEFF-C54860C2073D}"/>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54BD6FC2-E6C7-4F53-0EE5-C94443590CE4}"/>
              </a:ext>
            </a:extLst>
          </p:cNvPr>
          <p:cNvSpPr>
            <a:spLocks noGrp="1"/>
          </p:cNvSpPr>
          <p:nvPr>
            <p:ph type="body" idx="1"/>
          </p:nvPr>
        </p:nvSpPr>
        <p:spPr/>
        <p:txBody>
          <a:bodyPr>
            <a:normAutofit/>
          </a:bodyPr>
          <a:lstStyle/>
          <a:p>
            <a:r>
              <a:rPr lang="zh-CN" altLang="zh-CN" dirty="0"/>
              <a:t>Before showing demonstrations, I want to clarify their role.</a:t>
            </a:r>
          </a:p>
          <a:p>
            <a:r>
              <a:rPr lang="zh-CN" altLang="zh-CN" dirty="0"/>
              <a:t>These demonstrations are not additional evaluation results.</a:t>
            </a:r>
          </a:p>
          <a:p>
            <a:r>
              <a:rPr lang="zh-CN" altLang="zh-CN" dirty="0"/>
              <a:t>D-S04 and D-H01 are development cases used to demonstrate the current capability.</a:t>
            </a:r>
          </a:p>
          <a:p>
            <a:r>
              <a:rPr lang="zh-CN" altLang="zh-CN" dirty="0"/>
              <a:t>D-S01 uses sealed Gate 4 evidence only.</a:t>
            </a:r>
          </a:p>
          <a:p>
            <a:r>
              <a:rPr lang="zh-CN" altLang="zh-CN" dirty="0"/>
              <a:t>No benchmark update, no parameter tuning, and no algorithm modification are involved.</a:t>
            </a:r>
          </a:p>
          <a:p>
            <a:r>
              <a:rPr lang="zh-CN" altLang="zh-CN" dirty="0"/>
              <a:t>So the purpose here is explanation of the system behavior, not improving the evaluation result.</a:t>
            </a:r>
          </a:p>
          <a:p>
            <a:endParaRPr lang="zh-CN" altLang="zh-CN" dirty="0"/>
          </a:p>
        </p:txBody>
      </p:sp>
      <p:sp>
        <p:nvSpPr>
          <p:cNvPr id="4" name="灯片编号占位符 3">
            <a:extLst>
              <a:ext uri="{FF2B5EF4-FFF2-40B4-BE49-F238E27FC236}">
                <a16:creationId xmlns:a16="http://schemas.microsoft.com/office/drawing/2014/main" id="{B3CD8F0D-36FF-C70B-9B55-F94AD9429D9C}"/>
              </a:ext>
            </a:extLst>
          </p:cNvPr>
          <p:cNvSpPr>
            <a:spLocks noGrp="1"/>
          </p:cNvSpPr>
          <p:nvPr>
            <p:ph type="sldNum" sz="quarter" idx="5"/>
          </p:nvPr>
        </p:nvSpPr>
        <p:spPr/>
        <p:txBody>
          <a:bodyPr/>
          <a:lstStyle/>
          <a:p>
            <a:fld id="{D5A593CC-2149-4E6C-BC3C-0044C280ECB2}" type="slidenum">
              <a:rPr lang="en-AU" smtClean="0"/>
              <a:pPr/>
              <a:t>6</a:t>
            </a:fld>
            <a:endParaRPr lang="en-AU"/>
          </a:p>
        </p:txBody>
      </p:sp>
    </p:spTree>
    <p:extLst>
      <p:ext uri="{BB962C8B-B14F-4D97-AF65-F5344CB8AC3E}">
        <p14:creationId xmlns:p14="http://schemas.microsoft.com/office/powerpoint/2010/main" val="3795875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02C84-332E-D9BD-1C47-0E31AA32AA7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16160C2-0DD4-502B-BCCC-9AE053960086}"/>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2907CED-2B38-2F8F-4B89-CD7DCE3BEDC8}"/>
              </a:ext>
            </a:extLst>
          </p:cNvPr>
          <p:cNvSpPr>
            <a:spLocks noGrp="1"/>
          </p:cNvSpPr>
          <p:nvPr>
            <p:ph type="body" idx="1"/>
          </p:nvPr>
        </p:nvSpPr>
        <p:spPr/>
        <p:txBody>
          <a:bodyPr>
            <a:normAutofit/>
          </a:bodyPr>
          <a:lstStyle/>
          <a:p>
            <a:r>
              <a:rPr lang="zh-CN" altLang="zh-CN" dirty="0"/>
              <a:t>This is one demonstration of the single extrusion case.</a:t>
            </a:r>
          </a:p>
          <a:p>
            <a:r>
              <a:rPr lang="zh-CN" altLang="zh-CN" dirty="0"/>
              <a:t>The input is a history-free STEP/B-rep model.</a:t>
            </a:r>
          </a:p>
          <a:p>
            <a:r>
              <a:rPr lang="zh-CN" altLang="zh-CN" dirty="0"/>
              <a:t>The system extracts geometric constraints, generates a candidate sequence, and replays this sequence in a new Fusion document.</a:t>
            </a:r>
          </a:p>
          <a:p>
            <a:r>
              <a:rPr lang="zh-CN" altLang="zh-CN" dirty="0"/>
              <a:t>The final result passes the frozen single-extrusion validation route.</a:t>
            </a:r>
          </a:p>
          <a:p>
            <a:r>
              <a:rPr lang="zh-CN" altLang="zh-CN" dirty="0"/>
              <a:t>This demonstrates that, for this controlled case, the generated explanation is executable and geometrically consistent.</a:t>
            </a:r>
          </a:p>
          <a:p>
            <a:r>
              <a:rPr lang="zh-CN" altLang="zh-CN" dirty="0"/>
              <a:t>However, it does not imply that the original CAD history has been uniquely recovered.</a:t>
            </a:r>
          </a:p>
          <a:p>
            <a:endParaRPr lang="zh-CN" altLang="zh-CN" dirty="0"/>
          </a:p>
        </p:txBody>
      </p:sp>
      <p:sp>
        <p:nvSpPr>
          <p:cNvPr id="4" name="灯片编号占位符 3">
            <a:extLst>
              <a:ext uri="{FF2B5EF4-FFF2-40B4-BE49-F238E27FC236}">
                <a16:creationId xmlns:a16="http://schemas.microsoft.com/office/drawing/2014/main" id="{8A57FADF-AF8D-5B16-E4A1-92816C929969}"/>
              </a:ext>
            </a:extLst>
          </p:cNvPr>
          <p:cNvSpPr>
            <a:spLocks noGrp="1"/>
          </p:cNvSpPr>
          <p:nvPr>
            <p:ph type="sldNum" sz="quarter" idx="5"/>
          </p:nvPr>
        </p:nvSpPr>
        <p:spPr/>
        <p:txBody>
          <a:bodyPr/>
          <a:lstStyle/>
          <a:p>
            <a:fld id="{D5A593CC-2149-4E6C-BC3C-0044C280ECB2}" type="slidenum">
              <a:rPr lang="en-AU" smtClean="0"/>
              <a:pPr/>
              <a:t>7</a:t>
            </a:fld>
            <a:endParaRPr lang="en-AU"/>
          </a:p>
        </p:txBody>
      </p:sp>
    </p:spTree>
    <p:extLst>
      <p:ext uri="{BB962C8B-B14F-4D97-AF65-F5344CB8AC3E}">
        <p14:creationId xmlns:p14="http://schemas.microsoft.com/office/powerpoint/2010/main" val="3731949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E1EA9-5BD7-C3C5-BDFB-9AE915BDBAB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16FEA5-CA94-072E-EA57-8FC309ECF624}"/>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B6781EA9-95AF-EC3C-3A87-D0A55C23129A}"/>
              </a:ext>
            </a:extLst>
          </p:cNvPr>
          <p:cNvSpPr>
            <a:spLocks noGrp="1"/>
          </p:cNvSpPr>
          <p:nvPr>
            <p:ph type="body" idx="1"/>
          </p:nvPr>
        </p:nvSpPr>
        <p:spPr/>
        <p:txBody>
          <a:bodyPr>
            <a:normAutofit/>
          </a:bodyPr>
          <a:lstStyle/>
          <a:p>
            <a:r>
              <a:rPr lang="zh-CN" altLang="zh-CN" dirty="0"/>
              <a:t>This example demonstrates the second construction class.</a:t>
            </a:r>
          </a:p>
          <a:p>
            <a:r>
              <a:rPr lang="zh-CN" altLang="zh-CN" dirty="0"/>
              <a:t>The explanation contains two operations:</a:t>
            </a:r>
          </a:p>
          <a:p>
            <a:r>
              <a:rPr lang="zh-CN" altLang="zh-CN" dirty="0"/>
              <a:t>first, a base extrusion;</a:t>
            </a:r>
            <a:br>
              <a:rPr lang="zh-CN" altLang="zh-CN" dirty="0"/>
            </a:br>
            <a:r>
              <a:rPr lang="zh-CN" altLang="zh-CN" dirty="0"/>
              <a:t>second, a straight through cylindrical cut.</a:t>
            </a:r>
          </a:p>
          <a:p>
            <a:r>
              <a:rPr lang="zh-CN" altLang="zh-CN" dirty="0"/>
              <a:t>The important observation is that both the base geometry and the cylindrical cut can be explained by one coupled sequence.</a:t>
            </a:r>
          </a:p>
          <a:p>
            <a:r>
              <a:rPr lang="zh-CN" altLang="zh-CN" dirty="0"/>
              <a:t>After replay in Fusion, the geometry check, base geometry check, and feature match check all pass.</a:t>
            </a:r>
          </a:p>
          <a:p>
            <a:r>
              <a:rPr lang="zh-CN" altLang="zh-CN" dirty="0"/>
              <a:t>The scope is limited to this straight through cylindrical cut. It does not represent general hole recognition.</a:t>
            </a:r>
          </a:p>
        </p:txBody>
      </p:sp>
      <p:sp>
        <p:nvSpPr>
          <p:cNvPr id="4" name="灯片编号占位符 3">
            <a:extLst>
              <a:ext uri="{FF2B5EF4-FFF2-40B4-BE49-F238E27FC236}">
                <a16:creationId xmlns:a16="http://schemas.microsoft.com/office/drawing/2014/main" id="{694E9F89-C0BC-B61C-43E5-4B95A9C5DF86}"/>
              </a:ext>
            </a:extLst>
          </p:cNvPr>
          <p:cNvSpPr>
            <a:spLocks noGrp="1"/>
          </p:cNvSpPr>
          <p:nvPr>
            <p:ph type="sldNum" sz="quarter" idx="5"/>
          </p:nvPr>
        </p:nvSpPr>
        <p:spPr/>
        <p:txBody>
          <a:bodyPr/>
          <a:lstStyle/>
          <a:p>
            <a:fld id="{D5A593CC-2149-4E6C-BC3C-0044C280ECB2}" type="slidenum">
              <a:rPr lang="en-AU" smtClean="0"/>
              <a:pPr/>
              <a:t>8</a:t>
            </a:fld>
            <a:endParaRPr lang="en-AU"/>
          </a:p>
        </p:txBody>
      </p:sp>
    </p:spTree>
    <p:extLst>
      <p:ext uri="{BB962C8B-B14F-4D97-AF65-F5344CB8AC3E}">
        <p14:creationId xmlns:p14="http://schemas.microsoft.com/office/powerpoint/2010/main" val="29815784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15452-B424-4C83-5211-F6212B689E8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16BDBB-2B33-AC7F-E57A-EC2587C0BDB1}"/>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80F6256B-0080-B3EC-48DC-C59510CDCF35}"/>
              </a:ext>
            </a:extLst>
          </p:cNvPr>
          <p:cNvSpPr>
            <a:spLocks noGrp="1"/>
          </p:cNvSpPr>
          <p:nvPr>
            <p:ph type="body" idx="1"/>
          </p:nvPr>
        </p:nvSpPr>
        <p:spPr/>
        <p:txBody>
          <a:bodyPr>
            <a:normAutofit/>
          </a:bodyPr>
          <a:lstStyle/>
          <a:p>
            <a:r>
              <a:rPr lang="zh-CN" altLang="zh-CN" dirty="0"/>
              <a:t>This case focuses on ambiguity handling.</a:t>
            </a:r>
          </a:p>
          <a:p>
            <a:r>
              <a:rPr lang="zh-CN" altLang="zh-CN" dirty="0"/>
              <a:t>During candidate generation, three hypotheses satisfy the frozen pre-Fusion acceptance contract.</a:t>
            </a:r>
          </a:p>
          <a:p>
            <a:r>
              <a:rPr lang="zh-CN" altLang="zh-CN" dirty="0"/>
              <a:t>However, only the canonical selected candidate has replay evidence and geometry validation evidence.</a:t>
            </a:r>
          </a:p>
          <a:p>
            <a:r>
              <a:rPr lang="zh-CN" altLang="zh-CN" dirty="0"/>
              <a:t>Therefore, the system keeps the ambiguity flag as true.</a:t>
            </a:r>
          </a:p>
          <a:p>
            <a:r>
              <a:rPr lang="zh-CN" altLang="zh-CN" dirty="0"/>
              <a:t>The important distinction is that three accepted candidates do not mean three independently validated histories.</a:t>
            </a:r>
          </a:p>
          <a:p>
            <a:r>
              <a:rPr lang="zh-CN" altLang="zh-CN" dirty="0"/>
              <a:t>This demonstrates how ambiguity is preserved instead of being artificially removed.</a:t>
            </a:r>
          </a:p>
        </p:txBody>
      </p:sp>
      <p:sp>
        <p:nvSpPr>
          <p:cNvPr id="4" name="灯片编号占位符 3">
            <a:extLst>
              <a:ext uri="{FF2B5EF4-FFF2-40B4-BE49-F238E27FC236}">
                <a16:creationId xmlns:a16="http://schemas.microsoft.com/office/drawing/2014/main" id="{39720DF2-AF69-3155-C113-D1A8595EE908}"/>
              </a:ext>
            </a:extLst>
          </p:cNvPr>
          <p:cNvSpPr>
            <a:spLocks noGrp="1"/>
          </p:cNvSpPr>
          <p:nvPr>
            <p:ph type="sldNum" sz="quarter" idx="5"/>
          </p:nvPr>
        </p:nvSpPr>
        <p:spPr/>
        <p:txBody>
          <a:bodyPr/>
          <a:lstStyle/>
          <a:p>
            <a:fld id="{D5A593CC-2149-4E6C-BC3C-0044C280ECB2}" type="slidenum">
              <a:rPr lang="en-AU" smtClean="0"/>
              <a:pPr/>
              <a:t>9</a:t>
            </a:fld>
            <a:endParaRPr lang="en-AU"/>
          </a:p>
        </p:txBody>
      </p:sp>
    </p:spTree>
    <p:extLst>
      <p:ext uri="{BB962C8B-B14F-4D97-AF65-F5344CB8AC3E}">
        <p14:creationId xmlns:p14="http://schemas.microsoft.com/office/powerpoint/2010/main" val="21972663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C0BDE-A51B-8F20-E9CE-7AA7FC128E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10C845-F752-4C25-9C90-30D66E72FA05}"/>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CD902E2-A156-7EE5-4E70-B64F7C4A7A04}"/>
              </a:ext>
            </a:extLst>
          </p:cNvPr>
          <p:cNvSpPr>
            <a:spLocks noGrp="1"/>
          </p:cNvSpPr>
          <p:nvPr>
            <p:ph type="body" idx="1"/>
          </p:nvPr>
        </p:nvSpPr>
        <p:spPr/>
        <p:txBody>
          <a:bodyPr>
            <a:normAutofit/>
          </a:bodyPr>
          <a:lstStyle/>
          <a:p>
            <a:r>
              <a:rPr lang="zh-CN" altLang="zh-CN" dirty="0"/>
              <a:t>This slide summarizes what has been validated and what remains open.</a:t>
            </a:r>
          </a:p>
          <a:p>
            <a:r>
              <a:rPr lang="zh-CN" altLang="zh-CN" dirty="0"/>
              <a:t>Within the tested scope, the system supports constrained executable reconstruction for single extrusion and one base extrusion with one straight through cut.</a:t>
            </a:r>
          </a:p>
          <a:p>
            <a:r>
              <a:rPr lang="zh-CN" altLang="zh-CN" dirty="0"/>
              <a:t>The evidence supports replay and validation, but not unique designer history recovery or arbitrary operation support.</a:t>
            </a:r>
          </a:p>
          <a:p>
            <a:r>
              <a:rPr lang="zh-CN" altLang="zh-CN" dirty="0"/>
              <a:t>I also show T-S07 as an executor boundary case.</a:t>
            </a:r>
          </a:p>
          <a:p>
            <a:r>
              <a:rPr lang="zh-CN" altLang="zh-CN" dirty="0"/>
              <a:t>The semantic candidate reached replay, but the executor returned an unsupported absolute-frame error.</a:t>
            </a:r>
          </a:p>
          <a:p>
            <a:r>
              <a:rPr lang="zh-CN" altLang="zh-CN" dirty="0"/>
              <a:t>This is treated as an executor capability limitation, not as semantic unsupported or history ambiguity.</a:t>
            </a:r>
          </a:p>
          <a:p>
            <a:r>
              <a:rPr lang="zh-CN" altLang="zh-CN" dirty="0"/>
              <a:t>Future work will investigate more complex operation ordering and ambiguity.</a:t>
            </a:r>
          </a:p>
          <a:p>
            <a:endParaRPr lang="zh-CN" altLang="zh-CN" dirty="0"/>
          </a:p>
        </p:txBody>
      </p:sp>
      <p:sp>
        <p:nvSpPr>
          <p:cNvPr id="4" name="灯片编号占位符 3">
            <a:extLst>
              <a:ext uri="{FF2B5EF4-FFF2-40B4-BE49-F238E27FC236}">
                <a16:creationId xmlns:a16="http://schemas.microsoft.com/office/drawing/2014/main" id="{02F7FBFA-6141-20F1-80C1-120D19949358}"/>
              </a:ext>
            </a:extLst>
          </p:cNvPr>
          <p:cNvSpPr>
            <a:spLocks noGrp="1"/>
          </p:cNvSpPr>
          <p:nvPr>
            <p:ph type="sldNum" sz="quarter" idx="5"/>
          </p:nvPr>
        </p:nvSpPr>
        <p:spPr/>
        <p:txBody>
          <a:bodyPr/>
          <a:lstStyle/>
          <a:p>
            <a:fld id="{D5A593CC-2149-4E6C-BC3C-0044C280ECB2}" type="slidenum">
              <a:rPr lang="en-AU" smtClean="0"/>
              <a:pPr/>
              <a:t>10</a:t>
            </a:fld>
            <a:endParaRPr lang="en-AU"/>
          </a:p>
        </p:txBody>
      </p:sp>
    </p:spTree>
    <p:extLst>
      <p:ext uri="{BB962C8B-B14F-4D97-AF65-F5344CB8AC3E}">
        <p14:creationId xmlns:p14="http://schemas.microsoft.com/office/powerpoint/2010/main" val="40385487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C437F-E9C8-2B62-8BCE-3365ADFBA9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DC17BE-1FC0-60EA-AB65-7AD9094D074A}"/>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65B613B8-48E3-5410-18BF-D2DA1E25086A}"/>
              </a:ext>
            </a:extLst>
          </p:cNvPr>
          <p:cNvSpPr>
            <a:spLocks noGrp="1"/>
          </p:cNvSpPr>
          <p:nvPr>
            <p:ph type="body" idx="1"/>
          </p:nvPr>
        </p:nvSpPr>
        <p:spPr/>
        <p:txBody>
          <a:bodyPr>
            <a:normAutofit/>
          </a:bodyPr>
          <a:lstStyle/>
          <a:p>
            <a:r>
              <a:rPr lang="zh-CN" altLang="zh-CN" dirty="0"/>
              <a:t>This appendix summarizes engineering verification.</a:t>
            </a:r>
          </a:p>
          <a:p>
            <a:r>
              <a:rPr lang="zh-CN" altLang="zh-CN" dirty="0"/>
              <a:t>The frozen technical baseline passed the regression checks, including gate-level verifiers and delivery preflight.</a:t>
            </a:r>
          </a:p>
          <a:p>
            <a:r>
              <a:rPr lang="zh-CN" altLang="zh-CN" dirty="0"/>
              <a:t>These tests ensure reproducibility and implementation consistency.</a:t>
            </a:r>
          </a:p>
          <a:p>
            <a:r>
              <a:rPr lang="zh-CN" altLang="zh-CN" dirty="0"/>
              <a:t>They are engineering verification results, not additional scientific evaluation.</a:t>
            </a:r>
          </a:p>
          <a:p>
            <a:endParaRPr lang="zh-CN" altLang="zh-CN" dirty="0"/>
          </a:p>
        </p:txBody>
      </p:sp>
      <p:sp>
        <p:nvSpPr>
          <p:cNvPr id="4" name="灯片编号占位符 3">
            <a:extLst>
              <a:ext uri="{FF2B5EF4-FFF2-40B4-BE49-F238E27FC236}">
                <a16:creationId xmlns:a16="http://schemas.microsoft.com/office/drawing/2014/main" id="{FFB8A3F2-642D-2187-2AF3-4E183476F7BB}"/>
              </a:ext>
            </a:extLst>
          </p:cNvPr>
          <p:cNvSpPr>
            <a:spLocks noGrp="1"/>
          </p:cNvSpPr>
          <p:nvPr>
            <p:ph type="sldNum" sz="quarter" idx="5"/>
          </p:nvPr>
        </p:nvSpPr>
        <p:spPr/>
        <p:txBody>
          <a:bodyPr/>
          <a:lstStyle/>
          <a:p>
            <a:fld id="{D5A593CC-2149-4E6C-BC3C-0044C280ECB2}" type="slidenum">
              <a:rPr lang="en-AU" smtClean="0"/>
              <a:pPr/>
              <a:t>11</a:t>
            </a:fld>
            <a:endParaRPr lang="en-AU"/>
          </a:p>
        </p:txBody>
      </p:sp>
    </p:spTree>
    <p:extLst>
      <p:ext uri="{BB962C8B-B14F-4D97-AF65-F5344CB8AC3E}">
        <p14:creationId xmlns:p14="http://schemas.microsoft.com/office/powerpoint/2010/main" val="820356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18F04-4B40-3A2C-EBE5-25790C635B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81540D5-4988-9345-0F9E-CAD8833DF6DA}"/>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50D35396-95A9-3118-FD0B-365F3260DEC7}"/>
              </a:ext>
            </a:extLst>
          </p:cNvPr>
          <p:cNvSpPr>
            <a:spLocks noGrp="1"/>
          </p:cNvSpPr>
          <p:nvPr>
            <p:ph type="body" idx="1"/>
          </p:nvPr>
        </p:nvSpPr>
        <p:spPr/>
        <p:txBody>
          <a:bodyPr>
            <a:normAutofit/>
          </a:bodyPr>
          <a:lstStyle/>
          <a:p>
            <a:r>
              <a:rPr lang="zh-CN" altLang="zh-CN" dirty="0"/>
              <a:t>This appendix clarifies the status definitions used in the project.</a:t>
            </a:r>
          </a:p>
          <a:p>
            <a:r>
              <a:rPr lang="zh-CN" altLang="zh-CN" dirty="0"/>
              <a:t>Different concepts are reported separately.</a:t>
            </a:r>
          </a:p>
          <a:p>
            <a:r>
              <a:rPr lang="zh-CN" altLang="zh-CN" dirty="0"/>
              <a:t>For example, ambiguous means multiple candidate hypotheses pass the pre-Fusion acceptance contract.</a:t>
            </a:r>
          </a:p>
          <a:p>
            <a:r>
              <a:rPr lang="zh-CN" altLang="zh-CN" dirty="0"/>
              <a:t>Executor failure means a semantic candidate reaches replay but the executor cannot complete it.</a:t>
            </a:r>
          </a:p>
          <a:p>
            <a:r>
              <a:rPr lang="zh-CN" altLang="zh-CN" dirty="0"/>
              <a:t>Geometry failure means replay exists but validation does not pass.</a:t>
            </a:r>
          </a:p>
          <a:p>
            <a:r>
              <a:rPr lang="zh-CN" altLang="zh-CN" dirty="0"/>
              <a:t>Keeping these states separate avoids mixing different failure sources.</a:t>
            </a:r>
          </a:p>
        </p:txBody>
      </p:sp>
      <p:sp>
        <p:nvSpPr>
          <p:cNvPr id="4" name="灯片编号占位符 3">
            <a:extLst>
              <a:ext uri="{FF2B5EF4-FFF2-40B4-BE49-F238E27FC236}">
                <a16:creationId xmlns:a16="http://schemas.microsoft.com/office/drawing/2014/main" id="{6D97FB8D-2127-C5E7-9C61-AFAF445B53A1}"/>
              </a:ext>
            </a:extLst>
          </p:cNvPr>
          <p:cNvSpPr>
            <a:spLocks noGrp="1"/>
          </p:cNvSpPr>
          <p:nvPr>
            <p:ph type="sldNum" sz="quarter" idx="5"/>
          </p:nvPr>
        </p:nvSpPr>
        <p:spPr/>
        <p:txBody>
          <a:bodyPr/>
          <a:lstStyle/>
          <a:p>
            <a:fld id="{D5A593CC-2149-4E6C-BC3C-0044C280ECB2}" type="slidenum">
              <a:rPr lang="en-AU" smtClean="0"/>
              <a:pPr/>
              <a:t>12</a:t>
            </a:fld>
            <a:endParaRPr lang="en-AU"/>
          </a:p>
        </p:txBody>
      </p:sp>
    </p:spTree>
    <p:extLst>
      <p:ext uri="{BB962C8B-B14F-4D97-AF65-F5344CB8AC3E}">
        <p14:creationId xmlns:p14="http://schemas.microsoft.com/office/powerpoint/2010/main" val="2943401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D0650-21DC-E52E-18A3-8E5A44AEBD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909A88-F7EC-00D7-EDFE-7BA432A8FD74}"/>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654D824-CAF4-B6B6-1603-C2235EF6A0CD}"/>
              </a:ext>
            </a:extLst>
          </p:cNvPr>
          <p:cNvSpPr>
            <a:spLocks noGrp="1"/>
          </p:cNvSpPr>
          <p:nvPr>
            <p:ph type="body" idx="1"/>
          </p:nvPr>
        </p:nvSpPr>
        <p:spPr/>
        <p:txBody>
          <a:bodyPr>
            <a:normAutofit/>
          </a:bodyPr>
          <a:lstStyle/>
          <a:p>
            <a:r>
              <a:rPr lang="zh-CN" altLang="zh-CN" dirty="0"/>
              <a:t>Finally, this appendix summarizes the evidence traceability structure.</a:t>
            </a:r>
          </a:p>
          <a:p>
            <a:r>
              <a:rPr lang="zh-CN" altLang="zh-CN" dirty="0"/>
              <a:t>All results are linked back to the frozen baseline, benchmark definition, Gate 4 evaluation records, and sealed runs.</a:t>
            </a:r>
          </a:p>
          <a:p>
            <a:r>
              <a:rPr lang="zh-CN" altLang="zh-CN" dirty="0"/>
              <a:t>The planned delivery snapshot is only a packaging reference and does not redefine the scientific baseline.</a:t>
            </a:r>
          </a:p>
          <a:p>
            <a:r>
              <a:rPr lang="zh-CN" altLang="zh-CN" dirty="0"/>
              <a:t>The purpose is to make every claim traceable and reproducible.</a:t>
            </a:r>
          </a:p>
        </p:txBody>
      </p:sp>
      <p:sp>
        <p:nvSpPr>
          <p:cNvPr id="4" name="灯片编号占位符 3">
            <a:extLst>
              <a:ext uri="{FF2B5EF4-FFF2-40B4-BE49-F238E27FC236}">
                <a16:creationId xmlns:a16="http://schemas.microsoft.com/office/drawing/2014/main" id="{3C7843E8-59A4-2710-ED4C-995912047FB7}"/>
              </a:ext>
            </a:extLst>
          </p:cNvPr>
          <p:cNvSpPr>
            <a:spLocks noGrp="1"/>
          </p:cNvSpPr>
          <p:nvPr>
            <p:ph type="sldNum" sz="quarter" idx="5"/>
          </p:nvPr>
        </p:nvSpPr>
        <p:spPr/>
        <p:txBody>
          <a:bodyPr/>
          <a:lstStyle/>
          <a:p>
            <a:fld id="{D5A593CC-2149-4E6C-BC3C-0044C280ECB2}" type="slidenum">
              <a:rPr lang="en-AU" smtClean="0"/>
              <a:pPr/>
              <a:t>13</a:t>
            </a:fld>
            <a:endParaRPr lang="en-AU"/>
          </a:p>
        </p:txBody>
      </p:sp>
    </p:spTree>
    <p:extLst>
      <p:ext uri="{BB962C8B-B14F-4D97-AF65-F5344CB8AC3E}">
        <p14:creationId xmlns:p14="http://schemas.microsoft.com/office/powerpoint/2010/main" val="4258414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normAutofit/>
          </a:bodyPr>
          <a:lstStyle/>
          <a:p>
            <a:endParaRPr lang="zh-CN" altLang="zh-CN" dirty="0"/>
          </a:p>
        </p:txBody>
      </p:sp>
      <p:sp>
        <p:nvSpPr>
          <p:cNvPr id="4" name="灯片编号占位符 3"/>
          <p:cNvSpPr>
            <a:spLocks noGrp="1"/>
          </p:cNvSpPr>
          <p:nvPr>
            <p:ph type="sldNum" sz="quarter" idx="5"/>
          </p:nvPr>
        </p:nvSpPr>
        <p:spPr/>
        <p:txBody>
          <a:bodyPr/>
          <a:lstStyle/>
          <a:p>
            <a:fld id="{D5A593CC-2149-4E6C-BC3C-0044C280ECB2}" type="slidenum">
              <a:rPr lang="en-AU" smtClean="0"/>
              <a:pPr/>
              <a:t>14</a:t>
            </a:fld>
            <a:endParaRPr lang="en-AU"/>
          </a:p>
        </p:txBody>
      </p:sp>
    </p:spTree>
    <p:extLst>
      <p:ext uri="{BB962C8B-B14F-4D97-AF65-F5344CB8AC3E}">
        <p14:creationId xmlns:p14="http://schemas.microsoft.com/office/powerpoint/2010/main" val="35356656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mailto:copyright-office@unimelb.edu.au" TargetMode="External"/><Relationship Id="rId2" Type="http://schemas.openxmlformats.org/officeDocument/2006/relationships/hyperlink" Target="https://academicintegrity.unimelb.edu.au/" TargetMode="Externa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3.jp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jp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0.jp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jp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cknowledgement of Country">
    <p:bg>
      <p:bgPr>
        <a:solidFill>
          <a:schemeClr val="bg2"/>
        </a:solidFill>
        <a:effectLst/>
      </p:bgPr>
    </p:bg>
    <p:spTree>
      <p:nvGrpSpPr>
        <p:cNvPr id="1" name=""/>
        <p:cNvGrpSpPr/>
        <p:nvPr/>
      </p:nvGrpSpPr>
      <p:grpSpPr>
        <a:xfrm>
          <a:off x="0" y="0"/>
          <a:ext cx="0" cy="0"/>
          <a:chOff x="0" y="0"/>
          <a:chExt cx="0" cy="0"/>
        </a:xfrm>
      </p:grpSpPr>
      <p:pic>
        <p:nvPicPr>
          <p:cNvPr id="5" name="Picture 4" descr="A tree in a park&#10;&#10;Description automatically generated">
            <a:extLst>
              <a:ext uri="{FF2B5EF4-FFF2-40B4-BE49-F238E27FC236}">
                <a16:creationId xmlns:a16="http://schemas.microsoft.com/office/drawing/2014/main" id="{22B7B5EB-409D-C364-0E66-735E92752C91}"/>
              </a:ext>
            </a:extLst>
          </p:cNvPr>
          <p:cNvPicPr>
            <a:picLocks noGrp="1" noRot="1" noChangeAspect="1" noMove="1" noResize="1" noEditPoints="1" noAdjustHandles="1" noChangeArrowheads="1" noChangeShapeType="1" noCrop="1"/>
          </p:cNvPicPr>
          <p:nvPr userDrawn="1"/>
        </p:nvPicPr>
        <p:blipFill rotWithShape="1">
          <a:blip r:embed="rId2">
            <a:alphaModFix amt="17000"/>
            <a:extLst>
              <a:ext uri="{28A0092B-C50C-407E-A947-70E740481C1C}">
                <a14:useLocalDpi xmlns:a14="http://schemas.microsoft.com/office/drawing/2010/main"/>
              </a:ext>
            </a:extLst>
          </a:blip>
          <a:srcRect/>
          <a:stretch/>
        </p:blipFill>
        <p:spPr>
          <a:xfrm>
            <a:off x="0" y="14928"/>
            <a:ext cx="12199058" cy="6852171"/>
          </a:xfrm>
          <a:prstGeom prst="rect">
            <a:avLst/>
          </a:prstGeom>
        </p:spPr>
      </p:pic>
      <p:sp>
        <p:nvSpPr>
          <p:cNvPr id="9" name="TextBox 3">
            <a:extLst>
              <a:ext uri="{FF2B5EF4-FFF2-40B4-BE49-F238E27FC236}">
                <a16:creationId xmlns:a16="http://schemas.microsoft.com/office/drawing/2014/main" id="{CBB971FD-D847-BF4C-933A-802E03ED89A8}"/>
              </a:ext>
            </a:extLst>
          </p:cNvPr>
          <p:cNvSpPr txBox="1">
            <a:spLocks noGrp="1" noRot="1" noMove="1" noResize="1" noEditPoints="1" noAdjustHandles="1" noChangeArrowheads="1" noChangeShapeType="1"/>
          </p:cNvSpPr>
          <p:nvPr userDrawn="1"/>
        </p:nvSpPr>
        <p:spPr>
          <a:xfrm>
            <a:off x="875420" y="1628800"/>
            <a:ext cx="10441160" cy="4478149"/>
          </a:xfrm>
          <a:prstGeom prst="rect">
            <a:avLst/>
          </a:prstGeom>
          <a:solidFill>
            <a:schemeClr val="accent1">
              <a:alpha val="0"/>
            </a:schemeClr>
          </a:solidFill>
        </p:spPr>
        <p:txBody>
          <a:bodyPr wrap="square" rtlCol="0">
            <a:spAutoFit/>
          </a:bodyPr>
          <a:lst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a:lstStyle>
          <a:p>
            <a:pPr algn="l" fontAlgn="base">
              <a:spcBef>
                <a:spcPts val="1200"/>
              </a:spcBef>
            </a:pPr>
            <a:endParaRPr lang="en-AU" sz="1100" b="0" i="0" dirty="0">
              <a:solidFill>
                <a:schemeClr val="bg1"/>
              </a:solidFill>
              <a:effectLst/>
              <a:latin typeface="+mj-lt"/>
            </a:endParaRPr>
          </a:p>
          <a:p>
            <a:pPr algn="l">
              <a:spcBef>
                <a:spcPts val="1200"/>
              </a:spcBef>
            </a:pPr>
            <a:r>
              <a:rPr lang="en-AU" sz="1600" b="0" i="0" dirty="0">
                <a:solidFill>
                  <a:schemeClr val="bg1"/>
                </a:solidFill>
                <a:effectLst/>
                <a:latin typeface="+mj-lt"/>
              </a:rPr>
              <a:t>The University of Melbourne acknowledges the Traditional Owners of the unceded land on which we work, learn and live: the Wurundjeri Woi-wurrung and Bunurong peoples (Burnley, Fishermans Bend, Parkville, Southbank and Werribee campuses), the Yorta Yorta Nation (Dookie and Shepparton campuses), and the Dja Dja Wurrung people (Creswick campus).</a:t>
            </a:r>
          </a:p>
          <a:p>
            <a:pPr algn="l">
              <a:spcBef>
                <a:spcPts val="1200"/>
              </a:spcBef>
            </a:pPr>
            <a:r>
              <a:rPr lang="en-AU" sz="1600" b="0" i="0" dirty="0">
                <a:solidFill>
                  <a:schemeClr val="bg1"/>
                </a:solidFill>
                <a:effectLst/>
                <a:latin typeface="+mj-lt"/>
              </a:rPr>
              <a:t>The University also acknowledges and is grateful to the Traditional Owners, Elders and Knowledge Holders of all Indigenous nations and clans who have been instrumental in our reconciliation journey.</a:t>
            </a:r>
          </a:p>
          <a:p>
            <a:pPr algn="l">
              <a:spcBef>
                <a:spcPts val="1200"/>
              </a:spcBef>
            </a:pPr>
            <a:r>
              <a:rPr lang="en-AU" sz="1600" b="0" i="0" dirty="0">
                <a:solidFill>
                  <a:schemeClr val="bg1"/>
                </a:solidFill>
                <a:effectLst/>
                <a:latin typeface="+mj-lt"/>
              </a:rPr>
              <a:t>We recognise the unique place held by Aboriginal and Torres Strait Islander peoples as the original owners and custodians of the lands and waterways across the Australian continent, with histories of continuous connection dating back more than 60,000 years. We also acknowledge their enduring cultural practices of caring for Country.</a:t>
            </a:r>
          </a:p>
          <a:p>
            <a:pPr algn="l">
              <a:spcBef>
                <a:spcPts val="1200"/>
              </a:spcBef>
            </a:pPr>
            <a:r>
              <a:rPr lang="en-AU" sz="1600" b="0" i="0" dirty="0">
                <a:solidFill>
                  <a:schemeClr val="bg1"/>
                </a:solidFill>
                <a:effectLst/>
                <a:latin typeface="+mj-lt"/>
              </a:rPr>
              <a:t>We pay respect to Elders past, present and future, and acknowledge the importance of Indigenous knowledge in the Academy. As a community of researchers, teachers, professional staff and students we are privileged to work and learn every day with Indigenous colleagues and partners.</a:t>
            </a:r>
          </a:p>
          <a:p>
            <a:pPr algn="l">
              <a:spcBef>
                <a:spcPts val="1200"/>
              </a:spcBef>
            </a:pPr>
            <a:r>
              <a:rPr lang="en-AU" sz="1600" b="0" i="0" dirty="0">
                <a:solidFill>
                  <a:schemeClr val="bg1"/>
                </a:solidFill>
                <a:effectLst/>
                <a:latin typeface="+mj-lt"/>
              </a:rPr>
              <a:t>In making this Acknowledgment of Country we commit to respectful and responsible conduct towards all others according to the Traditional lores of this land, particularly at times of formal ceremony.</a:t>
            </a:r>
            <a:endParaRPr lang="en-AU" sz="1600" dirty="0">
              <a:solidFill>
                <a:schemeClr val="bg1"/>
              </a:solidFill>
              <a:latin typeface="+mj-lt"/>
            </a:endParaRPr>
          </a:p>
        </p:txBody>
      </p:sp>
      <p:pic>
        <p:nvPicPr>
          <p:cNvPr id="6" name="Picture Placeholder 10" descr="Logo&#10;&#10;Description automatically generated">
            <a:extLst>
              <a:ext uri="{FF2B5EF4-FFF2-40B4-BE49-F238E27FC236}">
                <a16:creationId xmlns:a16="http://schemas.microsoft.com/office/drawing/2014/main" id="{72FB4B94-D733-663C-1E58-FF1318E71F5A}"/>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5412" y="342000"/>
            <a:ext cx="1222350" cy="1223793"/>
          </a:xfrm>
          <a:prstGeom prst="rect">
            <a:avLst/>
          </a:prstGeom>
        </p:spPr>
      </p:pic>
    </p:spTree>
    <p:extLst>
      <p:ext uri="{BB962C8B-B14F-4D97-AF65-F5344CB8AC3E}">
        <p14:creationId xmlns:p14="http://schemas.microsoft.com/office/powerpoint/2010/main" val="2239070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pyright notice">
    <p:bg>
      <p:bgPr>
        <a:solidFill>
          <a:schemeClr val="bg2"/>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5BE21A-3472-BF8A-EB42-E260FAD81CC6}"/>
              </a:ext>
            </a:extLst>
          </p:cNvPr>
          <p:cNvSpPr txBox="1"/>
          <p:nvPr userDrawn="1"/>
        </p:nvSpPr>
        <p:spPr>
          <a:xfrm>
            <a:off x="1835696" y="1899350"/>
            <a:ext cx="8520608" cy="3305520"/>
          </a:xfrm>
          <a:prstGeom prst="rect">
            <a:avLst/>
          </a:prstGeom>
          <a:noFill/>
          <a:ln w="15875">
            <a:solidFill>
              <a:schemeClr val="bg1"/>
            </a:solidFill>
          </a:ln>
        </p:spPr>
        <p:txBody>
          <a:bodyPr wrap="square">
            <a:spAutoFit/>
          </a:bodyPr>
          <a:lstStyle/>
          <a:p>
            <a:pPr algn="ctr"/>
            <a:endParaRPr lang="en-GB" sz="1600" b="1"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gn="ctr"/>
            <a:r>
              <a:rPr lang="en-GB" sz="1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WARNING</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nSpc>
                <a:spcPct val="115000"/>
              </a:lnSpc>
              <a:spcBef>
                <a:spcPts val="600"/>
              </a:spcBef>
              <a:spcAft>
                <a:spcPts val="600"/>
              </a:spcAft>
            </a:pPr>
            <a:r>
              <a:rPr lang="en-GB" sz="1600" dirty="0">
                <a:solidFill>
                  <a:schemeClr val="bg1"/>
                </a:solidFill>
                <a:effectLst/>
                <a:latin typeface="Arial" panose="020B0604020202020204" pitchFamily="34" charset="0"/>
                <a:ea typeface="Calibri" panose="020F0502020204030204" pitchFamily="34" charset="0"/>
                <a:cs typeface="Arial" panose="020B0604020202020204" pitchFamily="34" charset="0"/>
              </a:rPr>
              <a:t>This material has been reproduced and communicated to you by or on behalf of the University of Melbourne in accordance with section 113P of the </a:t>
            </a:r>
            <a:r>
              <a:rPr lang="en-GB" sz="1600" i="1" dirty="0">
                <a:solidFill>
                  <a:schemeClr val="bg1"/>
                </a:solidFill>
                <a:effectLst/>
                <a:latin typeface="Arial" panose="020B0604020202020204" pitchFamily="34" charset="0"/>
                <a:ea typeface="Calibri" panose="020F0502020204030204" pitchFamily="34" charset="0"/>
                <a:cs typeface="Arial" panose="020B0604020202020204" pitchFamily="34" charset="0"/>
              </a:rPr>
              <a:t>Copyright Act 1968</a:t>
            </a:r>
            <a:r>
              <a:rPr lang="en-GB" sz="1600" dirty="0">
                <a:solidFill>
                  <a:schemeClr val="bg1"/>
                </a:solidFill>
                <a:effectLst/>
                <a:latin typeface="Arial" panose="020B0604020202020204" pitchFamily="34" charset="0"/>
                <a:ea typeface="Calibri" panose="020F0502020204030204" pitchFamily="34" charset="0"/>
                <a:cs typeface="Arial" panose="020B0604020202020204" pitchFamily="34" charset="0"/>
              </a:rPr>
              <a:t> (</a:t>
            </a:r>
            <a:r>
              <a:rPr lang="en-GB" sz="1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Act</a:t>
            </a:r>
            <a:r>
              <a:rPr lang="en-GB" sz="1600" dirty="0">
                <a:solidFill>
                  <a:schemeClr val="bg1"/>
                </a:solidFill>
                <a:effectLst/>
                <a:latin typeface="Arial" panose="020B0604020202020204" pitchFamily="34" charset="0"/>
                <a:ea typeface="Calibri" panose="020F0502020204030204" pitchFamily="34" charset="0"/>
                <a:cs typeface="Arial" panose="020B0604020202020204" pitchFamily="34" charset="0"/>
              </a:rPr>
              <a:t>).</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nSpc>
                <a:spcPct val="115000"/>
              </a:lnSpc>
              <a:spcBef>
                <a:spcPts val="600"/>
              </a:spcBef>
              <a:spcAft>
                <a:spcPts val="600"/>
              </a:spcAft>
            </a:pPr>
            <a:r>
              <a:rPr lang="en-GB" sz="1600" dirty="0">
                <a:solidFill>
                  <a:schemeClr val="bg1"/>
                </a:solidFill>
                <a:effectLst/>
                <a:latin typeface="Arial" panose="020B0604020202020204" pitchFamily="34" charset="0"/>
                <a:ea typeface="Calibri" panose="020F0502020204030204" pitchFamily="34" charset="0"/>
                <a:cs typeface="Arial" panose="020B0604020202020204" pitchFamily="34" charset="0"/>
              </a:rPr>
              <a:t>The material in this communication may be subject to copyright under the Act. </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nSpc>
                <a:spcPct val="115000"/>
              </a:lnSpc>
              <a:spcBef>
                <a:spcPts val="600"/>
              </a:spcBef>
              <a:spcAft>
                <a:spcPts val="600"/>
              </a:spcAft>
            </a:pPr>
            <a:r>
              <a:rPr lang="en-GB" sz="1600" dirty="0">
                <a:solidFill>
                  <a:schemeClr val="bg1"/>
                </a:solidFill>
                <a:effectLst/>
                <a:latin typeface="Arial" panose="020B0604020202020204" pitchFamily="34" charset="0"/>
                <a:ea typeface="Calibri" panose="020F0502020204030204" pitchFamily="34" charset="0"/>
                <a:cs typeface="Arial" panose="020B0604020202020204" pitchFamily="34" charset="0"/>
              </a:rPr>
              <a:t>Any further reproduction or communication of this material by you may be the subject of copyright protection under the Act.</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gn="ctr">
              <a:lnSpc>
                <a:spcPct val="115000"/>
              </a:lnSpc>
            </a:pPr>
            <a:r>
              <a:rPr lang="en-GB" sz="1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 </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gn="ctr">
              <a:lnSpc>
                <a:spcPct val="115000"/>
              </a:lnSpc>
            </a:pPr>
            <a:r>
              <a:rPr lang="en-GB" sz="1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Do not remove this notice</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r>
              <a:rPr lang="en-AU" sz="1800" dirty="0">
                <a:effectLst/>
                <a:latin typeface="Calibri" panose="020F0502020204030204" pitchFamily="34" charset="0"/>
                <a:ea typeface="Calibri" panose="020F0502020204030204" pitchFamily="34" charset="0"/>
                <a:cs typeface="Times New Roman" panose="02020603050405020304" pitchFamily="18" charset="0"/>
              </a:rPr>
              <a:t> </a:t>
            </a:r>
            <a:endParaRPr lang="en-AU" dirty="0"/>
          </a:p>
        </p:txBody>
      </p:sp>
    </p:spTree>
    <p:extLst>
      <p:ext uri="{BB962C8B-B14F-4D97-AF65-F5344CB8AC3E}">
        <p14:creationId xmlns:p14="http://schemas.microsoft.com/office/powerpoint/2010/main" val="715983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style1">
    <p:bg>
      <p:bgPr>
        <a:solidFill>
          <a:schemeClr val="bg2"/>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lvl1pPr>
              <a:defRPr>
                <a:solidFill>
                  <a:schemeClr val="bg1"/>
                </a:solidFill>
              </a:defRPr>
            </a:lvl1pPr>
          </a:lstStyle>
          <a:p>
            <a:r>
              <a:rPr lang="en-AU" dirty="0"/>
              <a:t>[Insert Identifier] | [Insert Report Title]</a:t>
            </a:r>
          </a:p>
        </p:txBody>
      </p:sp>
      <p:sp>
        <p:nvSpPr>
          <p:cNvPr id="11" name="Title 2">
            <a:extLst>
              <a:ext uri="{FF2B5EF4-FFF2-40B4-BE49-F238E27FC236}">
                <a16:creationId xmlns:a16="http://schemas.microsoft.com/office/drawing/2014/main" id="{221BB744-0774-4C42-7136-CFFEA126ED39}"/>
              </a:ext>
            </a:extLst>
          </p:cNvPr>
          <p:cNvSpPr>
            <a:spLocks noGrp="1"/>
          </p:cNvSpPr>
          <p:nvPr>
            <p:ph type="title"/>
          </p:nvPr>
        </p:nvSpPr>
        <p:spPr>
          <a:xfrm>
            <a:off x="345600" y="1916832"/>
            <a:ext cx="9001001" cy="2726013"/>
          </a:xfrm>
        </p:spPr>
        <p:txBody>
          <a:bodyPr anchor="ctr" anchorCtr="0"/>
          <a:lstStyle>
            <a:lvl1pPr algn="l">
              <a:lnSpc>
                <a:spcPct val="100000"/>
              </a:lnSpc>
              <a:defRPr sz="4400">
                <a:solidFill>
                  <a:schemeClr val="bg1"/>
                </a:solidFill>
              </a:defRPr>
            </a:lvl1pPr>
          </a:lstStyle>
          <a:p>
            <a:r>
              <a:rPr lang="en-US"/>
              <a:t>Click to edit Master title style</a:t>
            </a:r>
            <a:endParaRPr lang="en-AU" dirty="0"/>
          </a:p>
        </p:txBody>
      </p:sp>
      <p:pic>
        <p:nvPicPr>
          <p:cNvPr id="12" name="Picture Placeholder 10" descr="Logo&#10;&#10;Description automatically generated">
            <a:extLst>
              <a:ext uri="{FF2B5EF4-FFF2-40B4-BE49-F238E27FC236}">
                <a16:creationId xmlns:a16="http://schemas.microsoft.com/office/drawing/2014/main" id="{B9E60202-450E-CF2C-601B-7D1A7C9B3DF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5412" y="342000"/>
            <a:ext cx="1222350" cy="1223793"/>
          </a:xfrm>
          <a:prstGeom prst="rect">
            <a:avLst/>
          </a:prstGeom>
        </p:spPr>
      </p:pic>
    </p:spTree>
    <p:extLst>
      <p:ext uri="{BB962C8B-B14F-4D97-AF65-F5344CB8AC3E}">
        <p14:creationId xmlns:p14="http://schemas.microsoft.com/office/powerpoint/2010/main" val="1914734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_with image_style1">
    <p:bg>
      <p:bgPr>
        <a:solidFill>
          <a:schemeClr val="bg2"/>
        </a:solidFill>
        <a:effectLst/>
      </p:bgPr>
    </p:bg>
    <p:spTree>
      <p:nvGrpSpPr>
        <p:cNvPr id="1" name=""/>
        <p:cNvGrpSpPr/>
        <p:nvPr/>
      </p:nvGrpSpPr>
      <p:grpSpPr>
        <a:xfrm>
          <a:off x="0" y="0"/>
          <a:ext cx="0" cy="0"/>
          <a:chOff x="0" y="0"/>
          <a:chExt cx="0" cy="0"/>
        </a:xfrm>
      </p:grpSpPr>
      <p:sp>
        <p:nvSpPr>
          <p:cNvPr id="10" name="Text Placeholder 10">
            <a:extLst>
              <a:ext uri="{FF2B5EF4-FFF2-40B4-BE49-F238E27FC236}">
                <a16:creationId xmlns:a16="http://schemas.microsoft.com/office/drawing/2014/main" id="{E3D3FA08-3353-A72F-AD1D-5DBF1C9647FE}"/>
              </a:ext>
            </a:extLst>
          </p:cNvPr>
          <p:cNvSpPr>
            <a:spLocks noGrp="1"/>
          </p:cNvSpPr>
          <p:nvPr>
            <p:ph type="body" sz="quarter" idx="18"/>
          </p:nvPr>
        </p:nvSpPr>
        <p:spPr>
          <a:xfrm>
            <a:off x="8966079" y="6437192"/>
            <a:ext cx="2880320" cy="216000"/>
          </a:xfrm>
        </p:spPr>
        <p:txBody>
          <a:bodyPr anchor="b" anchorCtr="0"/>
          <a:lstStyle>
            <a:lvl1pPr marL="0" algn="r">
              <a:lnSpc>
                <a:spcPct val="100000"/>
              </a:lnSpc>
              <a:spcAft>
                <a:spcPts val="0"/>
              </a:spcAft>
              <a:buFontTx/>
              <a:buNone/>
              <a:defRPr sz="1300" b="0">
                <a:solidFill>
                  <a:schemeClr val="bg1"/>
                </a:solidFill>
              </a:defRPr>
            </a:lvl1pPr>
            <a:lvl2pPr marL="0" algn="r">
              <a:lnSpc>
                <a:spcPct val="100000"/>
              </a:lnSpc>
              <a:spcAft>
                <a:spcPts val="0"/>
              </a:spcAft>
              <a:buFontTx/>
              <a:buNone/>
              <a:defRPr sz="1300">
                <a:solidFill>
                  <a:schemeClr val="bg1"/>
                </a:solidFill>
              </a:defRPr>
            </a:lvl2pPr>
            <a:lvl3pPr marL="0" indent="0" algn="r">
              <a:lnSpc>
                <a:spcPct val="100000"/>
              </a:lnSpc>
              <a:spcAft>
                <a:spcPts val="0"/>
              </a:spcAft>
              <a:buFontTx/>
              <a:buNone/>
              <a:defRPr sz="1400">
                <a:solidFill>
                  <a:schemeClr val="bg1"/>
                </a:solidFill>
              </a:defRPr>
            </a:lvl3pPr>
            <a:lvl4pPr marL="0" indent="0" algn="r">
              <a:lnSpc>
                <a:spcPct val="100000"/>
              </a:lnSpc>
              <a:spcAft>
                <a:spcPts val="0"/>
              </a:spcAft>
              <a:buFontTx/>
              <a:buNone/>
              <a:defRPr sz="1400">
                <a:solidFill>
                  <a:schemeClr val="bg1"/>
                </a:solidFill>
              </a:defRPr>
            </a:lvl4pPr>
            <a:lvl5pPr marL="0" indent="0" algn="r">
              <a:lnSpc>
                <a:spcPct val="100000"/>
              </a:lnSpc>
              <a:spcAft>
                <a:spcPts val="0"/>
              </a:spcAft>
              <a:buFontTx/>
              <a:buNone/>
              <a:defRPr sz="1400">
                <a:solidFill>
                  <a:schemeClr val="bg1"/>
                </a:solidFill>
              </a:defRPr>
            </a:lvl5pPr>
            <a:lvl6pPr marL="0" indent="0" algn="r">
              <a:lnSpc>
                <a:spcPct val="100000"/>
              </a:lnSpc>
              <a:spcAft>
                <a:spcPts val="0"/>
              </a:spcAft>
              <a:buFontTx/>
              <a:buNone/>
              <a:defRPr sz="1400">
                <a:solidFill>
                  <a:schemeClr val="bg1"/>
                </a:solidFill>
              </a:defRPr>
            </a:lvl6pPr>
            <a:lvl7pPr marL="0" indent="0" algn="r">
              <a:lnSpc>
                <a:spcPct val="100000"/>
              </a:lnSpc>
              <a:spcAft>
                <a:spcPts val="0"/>
              </a:spcAft>
              <a:buFontTx/>
              <a:buNone/>
              <a:defRPr sz="1400">
                <a:solidFill>
                  <a:schemeClr val="bg1"/>
                </a:solidFill>
              </a:defRPr>
            </a:lvl7pPr>
            <a:lvl8pPr marL="0" indent="0" algn="r">
              <a:lnSpc>
                <a:spcPct val="100000"/>
              </a:lnSpc>
              <a:spcAft>
                <a:spcPts val="0"/>
              </a:spcAft>
              <a:buFontTx/>
              <a:buNone/>
              <a:defRPr sz="1400">
                <a:solidFill>
                  <a:schemeClr val="bg1"/>
                </a:solidFill>
              </a:defRPr>
            </a:lvl8pPr>
            <a:lvl9pPr marL="0" indent="0" algn="r">
              <a:lnSpc>
                <a:spcPct val="100000"/>
              </a:lnSpc>
              <a:spcAft>
                <a:spcPts val="0"/>
              </a:spcAft>
              <a:buFontTx/>
              <a:buNone/>
              <a:defRPr sz="1400">
                <a:solidFill>
                  <a:schemeClr val="bg1"/>
                </a:solidFill>
              </a:defRPr>
            </a:lvl9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lvl1pPr>
              <a:defRPr>
                <a:solidFill>
                  <a:schemeClr val="bg1"/>
                </a:solidFill>
              </a:defRPr>
            </a:lvl1pPr>
          </a:lstStyle>
          <a:p>
            <a:r>
              <a:rPr lang="en-AU"/>
              <a:t>[Insert Identifier] | [Insert Report Title]</a:t>
            </a:r>
          </a:p>
        </p:txBody>
      </p:sp>
      <p:pic>
        <p:nvPicPr>
          <p:cNvPr id="6" name="Picture 5" descr="A building with a clock tower&#10;&#10;Description automatically generated">
            <a:extLst>
              <a:ext uri="{FF2B5EF4-FFF2-40B4-BE49-F238E27FC236}">
                <a16:creationId xmlns:a16="http://schemas.microsoft.com/office/drawing/2014/main" id="{539DE1A1-49DF-E58A-6C88-61C3401E0A41}"/>
              </a:ext>
            </a:extLst>
          </p:cNvPr>
          <p:cNvPicPr>
            <a:picLocks noChangeAspect="1"/>
          </p:cNvPicPr>
          <p:nvPr userDrawn="1"/>
        </p:nvPicPr>
        <p:blipFill rotWithShape="1">
          <a:blip r:embed="rId2" cstate="email">
            <a:alphaModFix amt="15000"/>
            <a:extLst>
              <a:ext uri="{28A0092B-C50C-407E-A947-70E740481C1C}">
                <a14:useLocalDpi xmlns:a14="http://schemas.microsoft.com/office/drawing/2010/main"/>
              </a:ext>
            </a:extLst>
          </a:blip>
          <a:srcRect/>
          <a:stretch/>
        </p:blipFill>
        <p:spPr>
          <a:xfrm>
            <a:off x="322875" y="342000"/>
            <a:ext cx="11534887" cy="5791668"/>
          </a:xfrm>
          <a:prstGeom prst="rect">
            <a:avLst/>
          </a:prstGeom>
        </p:spPr>
      </p:pic>
      <p:sp>
        <p:nvSpPr>
          <p:cNvPr id="11" name="Title 2">
            <a:extLst>
              <a:ext uri="{FF2B5EF4-FFF2-40B4-BE49-F238E27FC236}">
                <a16:creationId xmlns:a16="http://schemas.microsoft.com/office/drawing/2014/main" id="{221BB744-0774-4C42-7136-CFFEA126ED39}"/>
              </a:ext>
            </a:extLst>
          </p:cNvPr>
          <p:cNvSpPr>
            <a:spLocks noGrp="1"/>
          </p:cNvSpPr>
          <p:nvPr>
            <p:ph type="title"/>
          </p:nvPr>
        </p:nvSpPr>
        <p:spPr>
          <a:xfrm>
            <a:off x="345600" y="1916832"/>
            <a:ext cx="9001001" cy="2726013"/>
          </a:xfrm>
        </p:spPr>
        <p:txBody>
          <a:bodyPr anchor="ctr" anchorCtr="0"/>
          <a:lstStyle>
            <a:lvl1pPr algn="l">
              <a:lnSpc>
                <a:spcPct val="100000"/>
              </a:lnSpc>
              <a:defRPr sz="4400">
                <a:solidFill>
                  <a:schemeClr val="bg1"/>
                </a:solidFill>
              </a:defRPr>
            </a:lvl1pPr>
          </a:lstStyle>
          <a:p>
            <a:r>
              <a:rPr lang="en-US"/>
              <a:t>Click to edit Master title style</a:t>
            </a:r>
            <a:endParaRPr lang="en-AU" dirty="0"/>
          </a:p>
        </p:txBody>
      </p:sp>
      <p:pic>
        <p:nvPicPr>
          <p:cNvPr id="5" name="Picture Placeholder 10" descr="Logo&#10;&#10;Description automatically generated">
            <a:extLst>
              <a:ext uri="{FF2B5EF4-FFF2-40B4-BE49-F238E27FC236}">
                <a16:creationId xmlns:a16="http://schemas.microsoft.com/office/drawing/2014/main" id="{30E4AA47-6A18-5856-8B55-31A2F24D6B0F}"/>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5412" y="342000"/>
            <a:ext cx="1222350" cy="1223793"/>
          </a:xfrm>
          <a:prstGeom prst="rect">
            <a:avLst/>
          </a:prstGeom>
        </p:spPr>
      </p:pic>
    </p:spTree>
    <p:extLst>
      <p:ext uri="{BB962C8B-B14F-4D97-AF65-F5344CB8AC3E}">
        <p14:creationId xmlns:p14="http://schemas.microsoft.com/office/powerpoint/2010/main" val="557912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slide_style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2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4" name="Picture Placeholder 10" descr="Logo&#10;&#10;Description automatically generated">
            <a:extLst>
              <a:ext uri="{FF2B5EF4-FFF2-40B4-BE49-F238E27FC236}">
                <a16:creationId xmlns:a16="http://schemas.microsoft.com/office/drawing/2014/main" id="{F44244A3-AF35-00C5-3FA8-D6B57DDB2ED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2727138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1">
    <p:spTree>
      <p:nvGrpSpPr>
        <p:cNvPr id="1" name=""/>
        <p:cNvGrpSpPr/>
        <p:nvPr/>
      </p:nvGrpSpPr>
      <p:grpSpPr>
        <a:xfrm>
          <a:off x="0" y="0"/>
          <a:ext cx="0" cy="0"/>
          <a:chOff x="0" y="0"/>
          <a:chExt cx="0" cy="0"/>
        </a:xfrm>
      </p:grpSpPr>
      <p:pic>
        <p:nvPicPr>
          <p:cNvPr id="4" name="Picture 3" descr="A train on the street&#10;&#10;Description automatically generated">
            <a:extLst>
              <a:ext uri="{FF2B5EF4-FFF2-40B4-BE49-F238E27FC236}">
                <a16:creationId xmlns:a16="http://schemas.microsoft.com/office/drawing/2014/main" id="{C21B4368-12D9-57AE-3A1D-DAE6674AE8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8000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721524032"/>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1">
    <p:spTree>
      <p:nvGrpSpPr>
        <p:cNvPr id="1" name=""/>
        <p:cNvGrpSpPr/>
        <p:nvPr/>
      </p:nvGrpSpPr>
      <p:grpSpPr>
        <a:xfrm>
          <a:off x="0" y="0"/>
          <a:ext cx="0" cy="0"/>
          <a:chOff x="0" y="0"/>
          <a:chExt cx="0" cy="0"/>
        </a:xfrm>
      </p:grpSpPr>
      <p:pic>
        <p:nvPicPr>
          <p:cNvPr id="3" name="Picture 2" descr="A close-up of a building&#10;&#10;Description automatically generated">
            <a:extLst>
              <a:ext uri="{FF2B5EF4-FFF2-40B4-BE49-F238E27FC236}">
                <a16:creationId xmlns:a16="http://schemas.microsoft.com/office/drawing/2014/main" id="{B81EDBD4-C9CF-59CC-461E-DB98C187D3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6907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5" name="Rectangle 4">
            <a:extLst>
              <a:ext uri="{FF2B5EF4-FFF2-40B4-BE49-F238E27FC236}">
                <a16:creationId xmlns:a16="http://schemas.microsoft.com/office/drawing/2014/main" id="{4EF8F4E9-FAE8-C7F7-EED9-30CA77676534}"/>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pic>
        <p:nvPicPr>
          <p:cNvPr id="7" name="Picture Placeholder 10" descr="Logo&#10;&#10;Description automatically generated">
            <a:extLst>
              <a:ext uri="{FF2B5EF4-FFF2-40B4-BE49-F238E27FC236}">
                <a16:creationId xmlns:a16="http://schemas.microsoft.com/office/drawing/2014/main" id="{21F14F64-41A3-A64C-2463-CAC1DD1F163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9" name="Text Placeholder 11">
            <a:extLst>
              <a:ext uri="{FF2B5EF4-FFF2-40B4-BE49-F238E27FC236}">
                <a16:creationId xmlns:a16="http://schemas.microsoft.com/office/drawing/2014/main" id="{CB4A80DB-38E0-359B-9518-DCF2692A96B0}"/>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Tree>
    <p:extLst>
      <p:ext uri="{BB962C8B-B14F-4D97-AF65-F5344CB8AC3E}">
        <p14:creationId xmlns:p14="http://schemas.microsoft.com/office/powerpoint/2010/main" val="2880520558"/>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1">
    <p:spTree>
      <p:nvGrpSpPr>
        <p:cNvPr id="1" name=""/>
        <p:cNvGrpSpPr/>
        <p:nvPr/>
      </p:nvGrpSpPr>
      <p:grpSpPr>
        <a:xfrm>
          <a:off x="0" y="0"/>
          <a:ext cx="0" cy="0"/>
          <a:chOff x="0" y="0"/>
          <a:chExt cx="0" cy="0"/>
        </a:xfrm>
      </p:grpSpPr>
      <p:pic>
        <p:nvPicPr>
          <p:cNvPr id="3" name="Picture 2" descr="A group of people walking outside of a building&#10;&#10;Description automatically generated">
            <a:extLst>
              <a:ext uri="{FF2B5EF4-FFF2-40B4-BE49-F238E27FC236}">
                <a16:creationId xmlns:a16="http://schemas.microsoft.com/office/drawing/2014/main" id="{FED4D6B5-F526-F625-9177-15B300C8FC0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63922"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5" name="Rectangle 4">
            <a:extLst>
              <a:ext uri="{FF2B5EF4-FFF2-40B4-BE49-F238E27FC236}">
                <a16:creationId xmlns:a16="http://schemas.microsoft.com/office/drawing/2014/main" id="{315C606B-DBD6-6B98-FCEE-3981CBD7676E}"/>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pic>
        <p:nvPicPr>
          <p:cNvPr id="7" name="Picture Placeholder 10" descr="Logo&#10;&#10;Description automatically generated">
            <a:extLst>
              <a:ext uri="{FF2B5EF4-FFF2-40B4-BE49-F238E27FC236}">
                <a16:creationId xmlns:a16="http://schemas.microsoft.com/office/drawing/2014/main" id="{934572BE-6DBB-223D-542C-91D71528A179}"/>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9" name="Text Placeholder 11">
            <a:extLst>
              <a:ext uri="{FF2B5EF4-FFF2-40B4-BE49-F238E27FC236}">
                <a16:creationId xmlns:a16="http://schemas.microsoft.com/office/drawing/2014/main" id="{D22CA810-7F8C-3D8D-59E6-41512FFA280C}"/>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Tree>
    <p:extLst>
      <p:ext uri="{BB962C8B-B14F-4D97-AF65-F5344CB8AC3E}">
        <p14:creationId xmlns:p14="http://schemas.microsoft.com/office/powerpoint/2010/main" val="2063822104"/>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_with image4_style1">
    <p:spTree>
      <p:nvGrpSpPr>
        <p:cNvPr id="1" name=""/>
        <p:cNvGrpSpPr/>
        <p:nvPr/>
      </p:nvGrpSpPr>
      <p:grpSpPr>
        <a:xfrm>
          <a:off x="0" y="0"/>
          <a:ext cx="0" cy="0"/>
          <a:chOff x="0" y="0"/>
          <a:chExt cx="0" cy="0"/>
        </a:xfrm>
      </p:grpSpPr>
      <p:pic>
        <p:nvPicPr>
          <p:cNvPr id="3" name="Picture 2" descr="A building with many windows&#10;&#10;Description automatically generated">
            <a:extLst>
              <a:ext uri="{FF2B5EF4-FFF2-40B4-BE49-F238E27FC236}">
                <a16:creationId xmlns:a16="http://schemas.microsoft.com/office/drawing/2014/main" id="{4ACB552C-63F8-E9C0-06FA-7DB1F7430E3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1999"/>
            <a:ext cx="917508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20000"/>
          </a:xfrm>
        </p:spPr>
        <p:txBody>
          <a:bodyPr anchor="ctr" anchorCtr="0"/>
          <a:lstStyle>
            <a:lvl1pPr algn="ctr">
              <a:defRPr>
                <a:solidFill>
                  <a:srgbClr val="C00000"/>
                </a:solidFill>
              </a:defRPr>
            </a:lvl1pPr>
          </a:lstStyle>
          <a:p>
            <a:r>
              <a:rPr lang="en-AU"/>
              <a:t>Click here to insert Image</a:t>
            </a:r>
          </a:p>
        </p:txBody>
      </p:sp>
      <p:sp>
        <p:nvSpPr>
          <p:cNvPr id="5" name="Rectangle 4">
            <a:extLst>
              <a:ext uri="{FF2B5EF4-FFF2-40B4-BE49-F238E27FC236}">
                <a16:creationId xmlns:a16="http://schemas.microsoft.com/office/drawing/2014/main" id="{B961782D-5772-54A1-DB84-FE91617DDF62}"/>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7" name="Picture Placeholder 10" descr="Logo&#10;&#10;Description automatically generated">
            <a:extLst>
              <a:ext uri="{FF2B5EF4-FFF2-40B4-BE49-F238E27FC236}">
                <a16:creationId xmlns:a16="http://schemas.microsoft.com/office/drawing/2014/main" id="{337175A6-6452-322F-7BD0-EAA975A86561}"/>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9" name="Text Placeholder 11">
            <a:extLst>
              <a:ext uri="{FF2B5EF4-FFF2-40B4-BE49-F238E27FC236}">
                <a16:creationId xmlns:a16="http://schemas.microsoft.com/office/drawing/2014/main" id="{19FE526D-CA42-9B67-5F7E-8E810C8A8C49}"/>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363213618"/>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_with image5_style1">
    <p:spTree>
      <p:nvGrpSpPr>
        <p:cNvPr id="1" name=""/>
        <p:cNvGrpSpPr/>
        <p:nvPr/>
      </p:nvGrpSpPr>
      <p:grpSpPr>
        <a:xfrm>
          <a:off x="0" y="0"/>
          <a:ext cx="0" cy="0"/>
          <a:chOff x="0" y="0"/>
          <a:chExt cx="0" cy="0"/>
        </a:xfrm>
      </p:grpSpPr>
      <p:pic>
        <p:nvPicPr>
          <p:cNvPr id="3" name="Picture 2" descr="A large auditorium with blue lights&#10;&#10;Description automatically generated">
            <a:extLst>
              <a:ext uri="{FF2B5EF4-FFF2-40B4-BE49-F238E27FC236}">
                <a16:creationId xmlns:a16="http://schemas.microsoft.com/office/drawing/2014/main" id="{E4A9FC45-DD09-38AB-3B34-9EF99267BF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8516916"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4" name="Rectangle 3">
            <a:extLst>
              <a:ext uri="{FF2B5EF4-FFF2-40B4-BE49-F238E27FC236}">
                <a16:creationId xmlns:a16="http://schemas.microsoft.com/office/drawing/2014/main" id="{D3569B04-81DF-2285-6290-6A1B9AE81DFD}"/>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pic>
        <p:nvPicPr>
          <p:cNvPr id="10" name="Picture Placeholder 10" descr="Logo&#10;&#10;Description automatically generated">
            <a:extLst>
              <a:ext uri="{FF2B5EF4-FFF2-40B4-BE49-F238E27FC236}">
                <a16:creationId xmlns:a16="http://schemas.microsoft.com/office/drawing/2014/main" id="{560B8F70-2D74-855E-E3DD-E1442F6A7DAB}"/>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14" name="Text Placeholder 11">
            <a:extLst>
              <a:ext uri="{FF2B5EF4-FFF2-40B4-BE49-F238E27FC236}">
                <a16:creationId xmlns:a16="http://schemas.microsoft.com/office/drawing/2014/main" id="{2C42A733-BC01-7351-0C78-CD744DE94C58}"/>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Tree>
    <p:extLst>
      <p:ext uri="{BB962C8B-B14F-4D97-AF65-F5344CB8AC3E}">
        <p14:creationId xmlns:p14="http://schemas.microsoft.com/office/powerpoint/2010/main" val="321238552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_Dark Mode">
    <p:bg>
      <p:bgPr>
        <a:solidFill>
          <a:schemeClr val="bg2"/>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lvl1pPr>
              <a:defRPr>
                <a:solidFill>
                  <a:schemeClr val="bg1"/>
                </a:solidFill>
              </a:defRPr>
            </a:lvl1p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11500798" cy="4273200"/>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p:txBody>
          <a:bodyPr/>
          <a:lstStyle>
            <a:lvl1pPr>
              <a:defRPr>
                <a:solidFill>
                  <a:schemeClr val="bg1"/>
                </a:solidFill>
              </a:defRPr>
            </a:lvl1pPr>
          </a:lstStyle>
          <a:p>
            <a:r>
              <a:rPr lang="en-AU"/>
              <a:t>Page [</a:t>
            </a:r>
            <a:fld id="{29D5CE74-914C-4689-99FC-1AEF49CE2B47}" type="slidenum">
              <a:rPr smtClean="0"/>
              <a:pPr/>
              <a:t>‹#›</a:t>
            </a:fld>
            <a:r>
              <a:t>]</a:t>
            </a:r>
            <a:endParaRPr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AU"/>
          </a:p>
        </p:txBody>
      </p:sp>
    </p:spTree>
    <p:extLst>
      <p:ext uri="{BB962C8B-B14F-4D97-AF65-F5344CB8AC3E}">
        <p14:creationId xmlns:p14="http://schemas.microsoft.com/office/powerpoint/2010/main" val="13924573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ideo and Presenter">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a:xfrm>
            <a:off x="345600" y="6437192"/>
            <a:ext cx="4114800" cy="216000"/>
          </a:xfrm>
        </p:spPr>
        <p:txBody>
          <a:bodyPr/>
          <a:lstStyle>
            <a:lvl1pPr>
              <a:defRPr>
                <a:solidFill>
                  <a:schemeClr val="bg2"/>
                </a:solidFill>
              </a:defRPr>
            </a:lvl1pPr>
          </a:lstStyle>
          <a:p>
            <a:r>
              <a:rPr lang="en-AU" dirty="0"/>
              <a:t>[Insert Identifier] | [Insert Report Title]</a:t>
            </a:r>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673806"/>
            <a:ext cx="7405200" cy="4467600"/>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en-AU" dirty="0"/>
          </a:p>
        </p:txBody>
      </p:sp>
      <p:sp>
        <p:nvSpPr>
          <p:cNvPr id="4" name="Picture Placeholder 7">
            <a:extLst>
              <a:ext uri="{FF2B5EF4-FFF2-40B4-BE49-F238E27FC236}">
                <a16:creationId xmlns:a16="http://schemas.microsoft.com/office/drawing/2014/main" id="{7C6DB685-726F-A1FB-C9B0-00C92EC7F117}"/>
              </a:ext>
            </a:extLst>
          </p:cNvPr>
          <p:cNvSpPr>
            <a:spLocks noGrp="1"/>
          </p:cNvSpPr>
          <p:nvPr>
            <p:ph type="pic" sz="quarter" idx="16" hasCustomPrompt="1"/>
          </p:nvPr>
        </p:nvSpPr>
        <p:spPr>
          <a:xfrm>
            <a:off x="8040217" y="1673806"/>
            <a:ext cx="3806182" cy="4467794"/>
          </a:xfrm>
          <a:blipFill>
            <a:blip r:embed="rId2" cstate="print">
              <a:extLst>
                <a:ext uri="{28A0092B-C50C-407E-A947-70E740481C1C}">
                  <a14:useLocalDpi xmlns:a14="http://schemas.microsoft.com/office/drawing/2010/main" val="0"/>
                </a:ext>
              </a:extLst>
            </a:blip>
            <a:stretch>
              <a:fillRect l="-12818" t="-6998" r="-14598" b="-250"/>
            </a:stretch>
          </a:blipFill>
        </p:spPr>
        <p:txBody>
          <a:bodyPr anchor="ctr" anchorCtr="0"/>
          <a:lstStyle>
            <a:lvl1pPr algn="ctr">
              <a:defRPr/>
            </a:lvl1pPr>
          </a:lstStyle>
          <a:p>
            <a:r>
              <a:rPr lang="en-AU" dirty="0"/>
              <a:t>Click icon to add Image of presenter</a:t>
            </a:r>
          </a:p>
        </p:txBody>
      </p:sp>
      <p:sp>
        <p:nvSpPr>
          <p:cNvPr id="5" name="TextBox 4">
            <a:extLst>
              <a:ext uri="{FF2B5EF4-FFF2-40B4-BE49-F238E27FC236}">
                <a16:creationId xmlns:a16="http://schemas.microsoft.com/office/drawing/2014/main" id="{8D5EAD7E-7B06-ABC7-F34C-50EDEAFC6D52}"/>
              </a:ext>
            </a:extLst>
          </p:cNvPr>
          <p:cNvSpPr txBox="1"/>
          <p:nvPr userDrawn="1"/>
        </p:nvSpPr>
        <p:spPr>
          <a:xfrm>
            <a:off x="4700845" y="6499304"/>
            <a:ext cx="7145554" cy="153888"/>
          </a:xfrm>
          <a:prstGeom prst="rect">
            <a:avLst/>
          </a:prstGeom>
          <a:noFill/>
        </p:spPr>
        <p:txBody>
          <a:bodyPr wrap="square" lIns="0" tIns="0" rIns="0" bIns="0" rtlCol="0">
            <a:spAutoFit/>
          </a:bodyPr>
          <a:lstStyle/>
          <a:p>
            <a:pPr algn="r">
              <a:lnSpc>
                <a:spcPts val="1200"/>
              </a:lnSpc>
            </a:pPr>
            <a:r>
              <a:rPr lang="en-AU" sz="1000" dirty="0"/>
              <a:t>(c) The University of Melbourne &lt;insert year&gt; This content is protected and may not be shared, uploaded, or distributed.</a:t>
            </a:r>
          </a:p>
        </p:txBody>
      </p:sp>
    </p:spTree>
    <p:extLst>
      <p:ext uri="{BB962C8B-B14F-4D97-AF65-F5344CB8AC3E}">
        <p14:creationId xmlns:p14="http://schemas.microsoft.com/office/powerpoint/2010/main" val="3915543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lvl1pPr>
              <a:defRPr>
                <a:solidFill>
                  <a:schemeClr val="bg2"/>
                </a:solidFill>
              </a:defRPr>
            </a:lvl1p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11500798" cy="4273200"/>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p:txBody>
          <a:bodyPr/>
          <a:lstStyle>
            <a:lvl1pPr>
              <a:defRPr>
                <a:solidFill>
                  <a:schemeClr val="bg2"/>
                </a:solidFill>
              </a:defRPr>
            </a:lvl1pPr>
          </a:lstStyle>
          <a:p>
            <a:r>
              <a:rPr lang="en-AU"/>
              <a:t>Page [</a:t>
            </a:r>
            <a:fld id="{29D5CE74-914C-4689-99FC-1AEF49CE2B47}" type="slidenum">
              <a:rPr smtClean="0"/>
              <a:pPr/>
              <a:t>‹#›</a:t>
            </a:fld>
            <a:r>
              <a:t>]</a:t>
            </a:r>
            <a:endParaRPr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en-AU" dirty="0"/>
          </a:p>
        </p:txBody>
      </p:sp>
    </p:spTree>
    <p:extLst>
      <p:ext uri="{BB962C8B-B14F-4D97-AF65-F5344CB8AC3E}">
        <p14:creationId xmlns:p14="http://schemas.microsoft.com/office/powerpoint/2010/main" val="3267535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_Small Fo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11500798"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p:txBody>
          <a:bodyPr/>
          <a:lstStyle/>
          <a:p>
            <a:r>
              <a:rPr lang="en-AU"/>
              <a:t>Page [</a:t>
            </a:r>
            <a:fld id="{29D5CE74-914C-4689-99FC-1AEF49CE2B47}" type="slidenum">
              <a:rPr smtClean="0"/>
              <a:pPr/>
              <a:t>‹#›</a:t>
            </a:fld>
            <a:r>
              <a:t>]</a:t>
            </a:r>
            <a:endParaRPr lang="en-AU"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7042660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wo Content_Small Fo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56268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a:xfrm>
            <a:off x="10267260" y="6437192"/>
            <a:ext cx="1579139" cy="216000"/>
          </a:xfrm>
        </p:spPr>
        <p:txBody>
          <a:bodyPr/>
          <a:lstStyle/>
          <a:p>
            <a:r>
              <a:rPr lang="en-AU"/>
              <a:t>Page [</a:t>
            </a:r>
            <a:fld id="{29D5CE74-914C-4689-99FC-1AEF49CE2B47}" type="slidenum">
              <a:rPr smtClean="0"/>
              <a:pPr/>
              <a:t>‹#›</a:t>
            </a:fld>
            <a:r>
              <a:t>]</a:t>
            </a:r>
            <a:endParaRPr lang="en-AU"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p>
            <a:r>
              <a:rPr lang="en-US"/>
              <a:t>Click to edit Master title style</a:t>
            </a:r>
            <a:endParaRPr lang="en-AU"/>
          </a:p>
        </p:txBody>
      </p:sp>
      <p:sp>
        <p:nvSpPr>
          <p:cNvPr id="4" name="Content Placeholder 6">
            <a:extLst>
              <a:ext uri="{FF2B5EF4-FFF2-40B4-BE49-F238E27FC236}">
                <a16:creationId xmlns:a16="http://schemas.microsoft.com/office/drawing/2014/main" id="{BED691C7-E3FD-C9C6-88B5-D844BB5B3D47}"/>
              </a:ext>
            </a:extLst>
          </p:cNvPr>
          <p:cNvSpPr>
            <a:spLocks noGrp="1"/>
          </p:cNvSpPr>
          <p:nvPr>
            <p:ph sz="quarter" idx="16"/>
          </p:nvPr>
        </p:nvSpPr>
        <p:spPr>
          <a:xfrm>
            <a:off x="6219599" y="1870255"/>
            <a:ext cx="56268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7515130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and Image_Small Fo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56268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a:xfrm>
            <a:off x="10267260" y="6437192"/>
            <a:ext cx="1579139" cy="216000"/>
          </a:xfrm>
        </p:spPr>
        <p:txBody>
          <a:bodyPr/>
          <a:lstStyle/>
          <a:p>
            <a:r>
              <a:rPr lang="en-AU"/>
              <a:t>Page [</a:t>
            </a:r>
            <a:fld id="{29D5CE74-914C-4689-99FC-1AEF49CE2B47}" type="slidenum">
              <a:rPr smtClean="0"/>
              <a:pPr/>
              <a:t>‹#›</a:t>
            </a:fld>
            <a:r>
              <a:t>]</a:t>
            </a:r>
            <a:endParaRPr lang="en-AU"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p>
            <a:r>
              <a:rPr lang="en-US"/>
              <a:t>Click to edit Master title style</a:t>
            </a:r>
            <a:endParaRPr lang="en-AU"/>
          </a:p>
        </p:txBody>
      </p:sp>
      <p:sp>
        <p:nvSpPr>
          <p:cNvPr id="6" name="Picture Placeholder 5">
            <a:extLst>
              <a:ext uri="{FF2B5EF4-FFF2-40B4-BE49-F238E27FC236}">
                <a16:creationId xmlns:a16="http://schemas.microsoft.com/office/drawing/2014/main" id="{FC2A53D8-7CC9-C8A8-3494-5EBD660356B9}"/>
              </a:ext>
            </a:extLst>
          </p:cNvPr>
          <p:cNvSpPr>
            <a:spLocks noGrp="1"/>
          </p:cNvSpPr>
          <p:nvPr>
            <p:ph type="pic" sz="quarter" idx="16" hasCustomPrompt="1"/>
          </p:nvPr>
        </p:nvSpPr>
        <p:spPr>
          <a:xfrm>
            <a:off x="6219599" y="1870075"/>
            <a:ext cx="5626800" cy="4273200"/>
          </a:xfrm>
        </p:spPr>
        <p:txBody>
          <a:bodyPr anchor="ctr" anchorCtr="0"/>
          <a:lstStyle>
            <a:lvl1pPr algn="ctr">
              <a:lnSpc>
                <a:spcPts val="1400"/>
              </a:lnSpc>
              <a:defRPr sz="1200"/>
            </a:lvl1pPr>
          </a:lstStyle>
          <a:p>
            <a:r>
              <a:rPr lang="en-AU" dirty="0"/>
              <a:t>Click icon to insert image</a:t>
            </a:r>
          </a:p>
        </p:txBody>
      </p:sp>
    </p:spTree>
    <p:extLst>
      <p:ext uri="{BB962C8B-B14F-4D97-AF65-F5344CB8AC3E}">
        <p14:creationId xmlns:p14="http://schemas.microsoft.com/office/powerpoint/2010/main" val="31182805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wo Chart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0" y="1870255"/>
            <a:ext cx="5626800" cy="3875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Content Placeholder 6">
            <a:extLst>
              <a:ext uri="{FF2B5EF4-FFF2-40B4-BE49-F238E27FC236}">
                <a16:creationId xmlns:a16="http://schemas.microsoft.com/office/drawing/2014/main" id="{0E523094-F604-E83D-B6FC-E524D91039CC}"/>
              </a:ext>
            </a:extLst>
          </p:cNvPr>
          <p:cNvSpPr>
            <a:spLocks noGrp="1"/>
          </p:cNvSpPr>
          <p:nvPr>
            <p:ph sz="quarter" idx="15"/>
          </p:nvPr>
        </p:nvSpPr>
        <p:spPr>
          <a:xfrm>
            <a:off x="6224055" y="1870255"/>
            <a:ext cx="5622344" cy="3886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898C495-622F-59C5-A0D8-F102ED97EC28}"/>
              </a:ext>
            </a:extLst>
          </p:cNvPr>
          <p:cNvSpPr>
            <a:spLocks noGrp="1"/>
          </p:cNvSpPr>
          <p:nvPr>
            <p:ph type="sldNum" sz="quarter" idx="16"/>
          </p:nvPr>
        </p:nvSpPr>
        <p:spPr/>
        <p:txBody>
          <a:bodyPr/>
          <a:lstStyle/>
          <a:p>
            <a:r>
              <a:rPr lang="en-AU"/>
              <a:t>Page [</a:t>
            </a:r>
            <a:fld id="{29D5CE74-914C-4689-99FC-1AEF49CE2B47}" type="slidenum">
              <a:rPr smtClean="0"/>
              <a:pPr/>
              <a:t>‹#›</a:t>
            </a:fld>
            <a:r>
              <a:t>]</a:t>
            </a:r>
            <a:endParaRPr lang="en-AU" dirty="0"/>
          </a:p>
        </p:txBody>
      </p:sp>
      <p:sp>
        <p:nvSpPr>
          <p:cNvPr id="6" name="Chart Placeholder 5">
            <a:extLst>
              <a:ext uri="{FF2B5EF4-FFF2-40B4-BE49-F238E27FC236}">
                <a16:creationId xmlns:a16="http://schemas.microsoft.com/office/drawing/2014/main" id="{83A92489-4F48-E651-8308-E8A1BEAEF4BD}"/>
              </a:ext>
            </a:extLst>
          </p:cNvPr>
          <p:cNvSpPr>
            <a:spLocks noGrp="1"/>
          </p:cNvSpPr>
          <p:nvPr>
            <p:ph type="chart" sz="quarter" idx="17" hasCustomPrompt="1"/>
          </p:nvPr>
        </p:nvSpPr>
        <p:spPr>
          <a:xfrm>
            <a:off x="345600" y="2573905"/>
            <a:ext cx="5626575" cy="2880320"/>
          </a:xfrm>
        </p:spPr>
        <p:txBody>
          <a:bodyPr anchor="ctr" anchorCtr="0"/>
          <a:lstStyle>
            <a:lvl1pPr algn="ctr">
              <a:defRPr/>
            </a:lvl1pPr>
          </a:lstStyle>
          <a:p>
            <a:r>
              <a:rPr lang="en-AU" dirty="0"/>
              <a:t>Click icon to insert Chart</a:t>
            </a:r>
          </a:p>
        </p:txBody>
      </p:sp>
      <p:sp>
        <p:nvSpPr>
          <p:cNvPr id="9" name="Chart Placeholder 5">
            <a:extLst>
              <a:ext uri="{FF2B5EF4-FFF2-40B4-BE49-F238E27FC236}">
                <a16:creationId xmlns:a16="http://schemas.microsoft.com/office/drawing/2014/main" id="{9D4C9335-8F56-5714-572A-14E7E23CC1AB}"/>
              </a:ext>
            </a:extLst>
          </p:cNvPr>
          <p:cNvSpPr>
            <a:spLocks noGrp="1"/>
          </p:cNvSpPr>
          <p:nvPr>
            <p:ph type="chart" sz="quarter" idx="18" hasCustomPrompt="1"/>
          </p:nvPr>
        </p:nvSpPr>
        <p:spPr>
          <a:xfrm>
            <a:off x="6223381" y="2573905"/>
            <a:ext cx="5623018" cy="2880320"/>
          </a:xfrm>
        </p:spPr>
        <p:txBody>
          <a:bodyPr anchor="ctr" anchorCtr="0"/>
          <a:lstStyle>
            <a:lvl1pPr algn="ctr">
              <a:defRPr/>
            </a:lvl1pPr>
          </a:lstStyle>
          <a:p>
            <a:r>
              <a:rPr lang="en-AU" dirty="0"/>
              <a:t>Click icon to insert Chart</a:t>
            </a:r>
          </a:p>
        </p:txBody>
      </p:sp>
      <p:sp>
        <p:nvSpPr>
          <p:cNvPr id="4" name="Title 3">
            <a:extLst>
              <a:ext uri="{FF2B5EF4-FFF2-40B4-BE49-F238E27FC236}">
                <a16:creationId xmlns:a16="http://schemas.microsoft.com/office/drawing/2014/main" id="{0C4277FC-2AB5-CB23-BC94-BEF3C9536350}"/>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40610180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0" y="1870255"/>
            <a:ext cx="5626800" cy="427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Content Placeholder 6">
            <a:extLst>
              <a:ext uri="{FF2B5EF4-FFF2-40B4-BE49-F238E27FC236}">
                <a16:creationId xmlns:a16="http://schemas.microsoft.com/office/drawing/2014/main" id="{0E523094-F604-E83D-B6FC-E524D91039CC}"/>
              </a:ext>
            </a:extLst>
          </p:cNvPr>
          <p:cNvSpPr>
            <a:spLocks noGrp="1"/>
          </p:cNvSpPr>
          <p:nvPr>
            <p:ph sz="quarter" idx="15"/>
          </p:nvPr>
        </p:nvSpPr>
        <p:spPr>
          <a:xfrm>
            <a:off x="6224055" y="1870255"/>
            <a:ext cx="5622343" cy="427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898C495-622F-59C5-A0D8-F102ED97EC28}"/>
              </a:ext>
            </a:extLst>
          </p:cNvPr>
          <p:cNvSpPr>
            <a:spLocks noGrp="1"/>
          </p:cNvSpPr>
          <p:nvPr>
            <p:ph type="sldNum" sz="quarter" idx="16"/>
          </p:nvPr>
        </p:nvSpPr>
        <p:spPr/>
        <p:txBody>
          <a:bodyPr/>
          <a:lstStyle/>
          <a:p>
            <a:r>
              <a:rPr lang="en-AU"/>
              <a:t>Page [</a:t>
            </a:r>
            <a:fld id="{29D5CE74-914C-4689-99FC-1AEF49CE2B47}" type="slidenum">
              <a:rPr smtClean="0"/>
              <a:pPr/>
              <a:t>‹#›</a:t>
            </a:fld>
            <a:r>
              <a:t>]</a:t>
            </a:r>
            <a:endParaRPr lang="en-AU" dirty="0"/>
          </a:p>
        </p:txBody>
      </p:sp>
      <p:sp>
        <p:nvSpPr>
          <p:cNvPr id="4" name="Title 3">
            <a:extLst>
              <a:ext uri="{FF2B5EF4-FFF2-40B4-BE49-F238E27FC236}">
                <a16:creationId xmlns:a16="http://schemas.microsoft.com/office/drawing/2014/main" id="{4863FD07-110D-DEB8-85AE-92CD33C072C4}"/>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14218476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hree Content_Small Fo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36000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a:xfrm>
            <a:off x="10267260" y="6437192"/>
            <a:ext cx="1579139" cy="216000"/>
          </a:xfrm>
        </p:spPr>
        <p:txBody>
          <a:bodyPr/>
          <a:lstStyle/>
          <a:p>
            <a:r>
              <a:rPr lang="en-AU" dirty="0"/>
              <a:t>Page [</a:t>
            </a:r>
            <a:fld id="{29D5CE74-914C-4689-99FC-1AEF49CE2B47}" type="slidenum">
              <a:rPr smtClean="0"/>
              <a:pPr/>
              <a:t>‹#›</a:t>
            </a:fld>
            <a:r>
              <a:rPr dirty="0"/>
              <a:t>]</a:t>
            </a:r>
            <a:endParaRPr lang="en-AU"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p>
            <a:r>
              <a:rPr lang="en-US"/>
              <a:t>Click to edit Master title style</a:t>
            </a:r>
            <a:endParaRPr lang="en-AU" dirty="0"/>
          </a:p>
        </p:txBody>
      </p:sp>
      <p:sp>
        <p:nvSpPr>
          <p:cNvPr id="4" name="Content Placeholder 6">
            <a:extLst>
              <a:ext uri="{FF2B5EF4-FFF2-40B4-BE49-F238E27FC236}">
                <a16:creationId xmlns:a16="http://schemas.microsoft.com/office/drawing/2014/main" id="{BED691C7-E3FD-C9C6-88B5-D844BB5B3D47}"/>
              </a:ext>
            </a:extLst>
          </p:cNvPr>
          <p:cNvSpPr>
            <a:spLocks noGrp="1"/>
          </p:cNvSpPr>
          <p:nvPr>
            <p:ph sz="quarter" idx="16"/>
          </p:nvPr>
        </p:nvSpPr>
        <p:spPr>
          <a:xfrm>
            <a:off x="4296000" y="1870255"/>
            <a:ext cx="36000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Content Placeholder 6">
            <a:extLst>
              <a:ext uri="{FF2B5EF4-FFF2-40B4-BE49-F238E27FC236}">
                <a16:creationId xmlns:a16="http://schemas.microsoft.com/office/drawing/2014/main" id="{A14B56AF-59AC-1DD7-A515-93236D9D5034}"/>
              </a:ext>
            </a:extLst>
          </p:cNvPr>
          <p:cNvSpPr>
            <a:spLocks noGrp="1"/>
          </p:cNvSpPr>
          <p:nvPr>
            <p:ph sz="quarter" idx="17"/>
          </p:nvPr>
        </p:nvSpPr>
        <p:spPr>
          <a:xfrm>
            <a:off x="8246399" y="1870255"/>
            <a:ext cx="36000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5030644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0" y="1870255"/>
            <a:ext cx="3600000" cy="427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Content Placeholder 6">
            <a:extLst>
              <a:ext uri="{FF2B5EF4-FFF2-40B4-BE49-F238E27FC236}">
                <a16:creationId xmlns:a16="http://schemas.microsoft.com/office/drawing/2014/main" id="{0E523094-F604-E83D-B6FC-E524D91039CC}"/>
              </a:ext>
            </a:extLst>
          </p:cNvPr>
          <p:cNvSpPr>
            <a:spLocks noGrp="1"/>
          </p:cNvSpPr>
          <p:nvPr>
            <p:ph sz="quarter" idx="15"/>
          </p:nvPr>
        </p:nvSpPr>
        <p:spPr>
          <a:xfrm>
            <a:off x="4295999" y="1870255"/>
            <a:ext cx="3600000" cy="427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4" name="Content Placeholder 6">
            <a:extLst>
              <a:ext uri="{FF2B5EF4-FFF2-40B4-BE49-F238E27FC236}">
                <a16:creationId xmlns:a16="http://schemas.microsoft.com/office/drawing/2014/main" id="{12B8F049-B051-C3CF-84AF-76D0419ECC4D}"/>
              </a:ext>
            </a:extLst>
          </p:cNvPr>
          <p:cNvSpPr>
            <a:spLocks noGrp="1"/>
          </p:cNvSpPr>
          <p:nvPr>
            <p:ph sz="quarter" idx="16"/>
          </p:nvPr>
        </p:nvSpPr>
        <p:spPr>
          <a:xfrm>
            <a:off x="8246399" y="1870255"/>
            <a:ext cx="3600000" cy="427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Slide Number Placeholder 5">
            <a:extLst>
              <a:ext uri="{FF2B5EF4-FFF2-40B4-BE49-F238E27FC236}">
                <a16:creationId xmlns:a16="http://schemas.microsoft.com/office/drawing/2014/main" id="{CA6341BC-444F-9260-2F29-DB09F5C10802}"/>
              </a:ext>
            </a:extLst>
          </p:cNvPr>
          <p:cNvSpPr>
            <a:spLocks noGrp="1"/>
          </p:cNvSpPr>
          <p:nvPr>
            <p:ph type="sldNum" sz="quarter" idx="17"/>
          </p:nvPr>
        </p:nvSpPr>
        <p:spPr>
          <a:xfrm>
            <a:off x="10267260" y="6437192"/>
            <a:ext cx="1579139" cy="216000"/>
          </a:xfrm>
        </p:spPr>
        <p:txBody>
          <a:bodyPr/>
          <a:lstStyle/>
          <a:p>
            <a:r>
              <a:rPr lang="en-AU"/>
              <a:t>Page [</a:t>
            </a:r>
            <a:fld id="{29D5CE74-914C-4689-99FC-1AEF49CE2B47}" type="slidenum">
              <a:rPr smtClean="0"/>
              <a:pPr/>
              <a:t>‹#›</a:t>
            </a:fld>
            <a:r>
              <a:t>]</a:t>
            </a:r>
            <a:endParaRPr lang="en-AU" dirty="0"/>
          </a:p>
        </p:txBody>
      </p:sp>
      <p:sp>
        <p:nvSpPr>
          <p:cNvPr id="8" name="Title 7">
            <a:extLst>
              <a:ext uri="{FF2B5EF4-FFF2-40B4-BE49-F238E27FC236}">
                <a16:creationId xmlns:a16="http://schemas.microsoft.com/office/drawing/2014/main" id="{B997EF1D-2BE4-A99C-D98C-B233628816F3}"/>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2628763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hank you_1">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a:xfrm>
            <a:off x="1577134" y="1133745"/>
            <a:ext cx="9001001" cy="869091"/>
          </a:xfrm>
        </p:spPr>
        <p:txBody>
          <a:bodyPr/>
          <a:lstStyle>
            <a:lvl1pPr algn="ctr">
              <a:lnSpc>
                <a:spcPts val="5200"/>
              </a:lnSpc>
              <a:defRPr sz="4800">
                <a:solidFill>
                  <a:schemeClr val="bg1"/>
                </a:solidFill>
              </a:defRPr>
            </a:lvl1pPr>
          </a:lstStyle>
          <a:p>
            <a:r>
              <a:rPr lang="en-US"/>
              <a:t>Click to edit Master title style</a:t>
            </a:r>
            <a:endParaRPr lang="en-AU" dirty="0"/>
          </a:p>
        </p:txBody>
      </p:sp>
      <p:sp>
        <p:nvSpPr>
          <p:cNvPr id="6" name="Text Placeholder 10">
            <a:extLst>
              <a:ext uri="{FF2B5EF4-FFF2-40B4-BE49-F238E27FC236}">
                <a16:creationId xmlns:a16="http://schemas.microsoft.com/office/drawing/2014/main" id="{8301EF29-6923-272A-530E-72477C52E01B}"/>
              </a:ext>
            </a:extLst>
          </p:cNvPr>
          <p:cNvSpPr>
            <a:spLocks noGrp="1"/>
          </p:cNvSpPr>
          <p:nvPr>
            <p:ph type="body" sz="quarter" idx="17" hasCustomPrompt="1"/>
          </p:nvPr>
        </p:nvSpPr>
        <p:spPr>
          <a:xfrm>
            <a:off x="345600" y="6023122"/>
            <a:ext cx="5490611" cy="630070"/>
          </a:xfrm>
        </p:spPr>
        <p:txBody>
          <a:bodyPr anchor="b" anchorCtr="0"/>
          <a:lstStyle>
            <a:lvl1pPr marL="0" algn="l">
              <a:lnSpc>
                <a:spcPct val="100000"/>
              </a:lnSpc>
              <a:spcAft>
                <a:spcPts val="0"/>
              </a:spcAft>
              <a:buFontTx/>
              <a:buNone/>
              <a:defRPr sz="1400" b="0">
                <a:solidFill>
                  <a:schemeClr val="bg1"/>
                </a:solidFill>
              </a:defRPr>
            </a:lvl1pPr>
            <a:lvl2pPr marL="0" algn="l">
              <a:lnSpc>
                <a:spcPct val="100000"/>
              </a:lnSpc>
              <a:spcAft>
                <a:spcPts val="0"/>
              </a:spcAft>
              <a:buFontTx/>
              <a:buNone/>
              <a:defRPr sz="1400" b="0">
                <a:solidFill>
                  <a:schemeClr val="bg1"/>
                </a:solidFill>
              </a:defRPr>
            </a:lvl2pPr>
            <a:lvl3pPr marL="0" indent="0" algn="l">
              <a:lnSpc>
                <a:spcPct val="100000"/>
              </a:lnSpc>
              <a:spcAft>
                <a:spcPts val="0"/>
              </a:spcAft>
              <a:buFontTx/>
              <a:buNone/>
              <a:defRPr sz="1400" b="0">
                <a:solidFill>
                  <a:schemeClr val="bg1"/>
                </a:solidFill>
              </a:defRPr>
            </a:lvl3pPr>
            <a:lvl4pPr marL="0" indent="0" algn="l">
              <a:lnSpc>
                <a:spcPct val="100000"/>
              </a:lnSpc>
              <a:spcAft>
                <a:spcPts val="0"/>
              </a:spcAft>
              <a:buFontTx/>
              <a:buNone/>
              <a:defRPr sz="1400" b="0">
                <a:solidFill>
                  <a:schemeClr val="bg1"/>
                </a:solidFill>
              </a:defRPr>
            </a:lvl4pPr>
            <a:lvl5pPr marL="0" indent="0" algn="l">
              <a:lnSpc>
                <a:spcPct val="100000"/>
              </a:lnSpc>
              <a:spcAft>
                <a:spcPts val="0"/>
              </a:spcAft>
              <a:buFontTx/>
              <a:buNone/>
              <a:defRPr sz="1400" b="0">
                <a:solidFill>
                  <a:schemeClr val="bg1"/>
                </a:solidFill>
              </a:defRPr>
            </a:lvl5pPr>
            <a:lvl6pPr marL="0" indent="0" algn="l">
              <a:lnSpc>
                <a:spcPct val="100000"/>
              </a:lnSpc>
              <a:spcAft>
                <a:spcPts val="0"/>
              </a:spcAft>
              <a:buFontTx/>
              <a:buNone/>
              <a:defRPr sz="1400" b="0">
                <a:solidFill>
                  <a:schemeClr val="bg1"/>
                </a:solidFill>
              </a:defRPr>
            </a:lvl6pPr>
            <a:lvl7pPr marL="0" indent="0" algn="l">
              <a:lnSpc>
                <a:spcPct val="100000"/>
              </a:lnSpc>
              <a:spcAft>
                <a:spcPts val="0"/>
              </a:spcAft>
              <a:buFontTx/>
              <a:buNone/>
              <a:defRPr sz="1400" b="0">
                <a:solidFill>
                  <a:schemeClr val="bg1"/>
                </a:solidFill>
              </a:defRPr>
            </a:lvl7pPr>
            <a:lvl8pPr marL="0" indent="0" algn="l">
              <a:lnSpc>
                <a:spcPct val="100000"/>
              </a:lnSpc>
              <a:spcAft>
                <a:spcPts val="0"/>
              </a:spcAft>
              <a:buFontTx/>
              <a:buNone/>
              <a:defRPr sz="1400" b="0">
                <a:solidFill>
                  <a:schemeClr val="bg1"/>
                </a:solidFill>
              </a:defRPr>
            </a:lvl8pPr>
            <a:lvl9pPr marL="0" indent="0" algn="l">
              <a:lnSpc>
                <a:spcPct val="100000"/>
              </a:lnSpc>
              <a:spcAft>
                <a:spcPts val="0"/>
              </a:spcAft>
              <a:buFontTx/>
              <a:buNone/>
              <a:defRPr sz="1400" b="0">
                <a:solidFill>
                  <a:schemeClr val="bg1"/>
                </a:solidFill>
              </a:defRPr>
            </a:lvl9pPr>
          </a:lstStyle>
          <a:p>
            <a:pPr lvl="0"/>
            <a:r>
              <a:rPr lang="en-US" dirty="0"/>
              <a:t>[Collaborator/partner relationship disclaimer]</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sp>
        <p:nvSpPr>
          <p:cNvPr id="9" name="Text Placeholder 10">
            <a:extLst>
              <a:ext uri="{FF2B5EF4-FFF2-40B4-BE49-F238E27FC236}">
                <a16:creationId xmlns:a16="http://schemas.microsoft.com/office/drawing/2014/main" id="{E98D57ED-F6FA-0853-C0FA-554B2313321E}"/>
              </a:ext>
            </a:extLst>
          </p:cNvPr>
          <p:cNvSpPr>
            <a:spLocks noGrp="1"/>
          </p:cNvSpPr>
          <p:nvPr>
            <p:ph type="body" sz="quarter" idx="18" hasCustomPrompt="1"/>
          </p:nvPr>
        </p:nvSpPr>
        <p:spPr>
          <a:xfrm>
            <a:off x="6231015" y="6437192"/>
            <a:ext cx="5615384" cy="216000"/>
          </a:xfrm>
        </p:spPr>
        <p:txBody>
          <a:bodyPr anchor="b" anchorCtr="0"/>
          <a:lstStyle>
            <a:lvl1pPr marL="0" algn="r">
              <a:lnSpc>
                <a:spcPct val="100000"/>
              </a:lnSpc>
              <a:spcAft>
                <a:spcPts val="0"/>
              </a:spcAft>
              <a:buFontTx/>
              <a:buNone/>
              <a:defRPr sz="1300" b="0">
                <a:solidFill>
                  <a:schemeClr val="bg1"/>
                </a:solidFill>
              </a:defRPr>
            </a:lvl1pPr>
            <a:lvl2pPr marL="0" algn="r">
              <a:lnSpc>
                <a:spcPct val="100000"/>
              </a:lnSpc>
              <a:spcAft>
                <a:spcPts val="0"/>
              </a:spcAft>
              <a:buFontTx/>
              <a:buNone/>
              <a:defRPr sz="1300">
                <a:solidFill>
                  <a:schemeClr val="bg1"/>
                </a:solidFill>
              </a:defRPr>
            </a:lvl2pPr>
            <a:lvl3pPr marL="0" indent="0" algn="r">
              <a:lnSpc>
                <a:spcPct val="100000"/>
              </a:lnSpc>
              <a:spcAft>
                <a:spcPts val="0"/>
              </a:spcAft>
              <a:buFontTx/>
              <a:buNone/>
              <a:defRPr sz="1300">
                <a:solidFill>
                  <a:schemeClr val="bg1"/>
                </a:solidFill>
              </a:defRPr>
            </a:lvl3pPr>
            <a:lvl4pPr marL="0" indent="0" algn="r">
              <a:lnSpc>
                <a:spcPct val="100000"/>
              </a:lnSpc>
              <a:spcAft>
                <a:spcPts val="0"/>
              </a:spcAft>
              <a:buFontTx/>
              <a:buNone/>
              <a:defRPr sz="1300">
                <a:solidFill>
                  <a:schemeClr val="bg1"/>
                </a:solidFill>
              </a:defRPr>
            </a:lvl4pPr>
            <a:lvl5pPr marL="0" indent="0" algn="r">
              <a:lnSpc>
                <a:spcPct val="100000"/>
              </a:lnSpc>
              <a:spcAft>
                <a:spcPts val="0"/>
              </a:spcAft>
              <a:buFontTx/>
              <a:buNone/>
              <a:defRPr sz="1300">
                <a:solidFill>
                  <a:schemeClr val="bg1"/>
                </a:solidFill>
              </a:defRPr>
            </a:lvl5pPr>
            <a:lvl6pPr marL="0" indent="0" algn="r">
              <a:lnSpc>
                <a:spcPct val="100000"/>
              </a:lnSpc>
              <a:spcAft>
                <a:spcPts val="0"/>
              </a:spcAft>
              <a:buFontTx/>
              <a:buNone/>
              <a:defRPr sz="1300">
                <a:solidFill>
                  <a:schemeClr val="bg1"/>
                </a:solidFill>
              </a:defRPr>
            </a:lvl6pPr>
            <a:lvl7pPr marL="0" indent="0" algn="r">
              <a:lnSpc>
                <a:spcPct val="100000"/>
              </a:lnSpc>
              <a:spcAft>
                <a:spcPts val="0"/>
              </a:spcAft>
              <a:buFontTx/>
              <a:buNone/>
              <a:defRPr sz="1300">
                <a:solidFill>
                  <a:schemeClr val="bg1"/>
                </a:solidFill>
              </a:defRPr>
            </a:lvl7pPr>
            <a:lvl8pPr marL="0" indent="0" algn="r">
              <a:lnSpc>
                <a:spcPct val="100000"/>
              </a:lnSpc>
              <a:spcAft>
                <a:spcPts val="0"/>
              </a:spcAft>
              <a:buFontTx/>
              <a:buNone/>
              <a:defRPr sz="1300">
                <a:solidFill>
                  <a:schemeClr val="bg1"/>
                </a:solidFill>
              </a:defRPr>
            </a:lvl8pPr>
            <a:lvl9pPr marL="0" indent="0" algn="r">
              <a:lnSpc>
                <a:spcPct val="100000"/>
              </a:lnSpc>
              <a:spcAft>
                <a:spcPts val="0"/>
              </a:spcAft>
              <a:buFontTx/>
              <a:buNone/>
              <a:defRPr sz="1300">
                <a:solidFill>
                  <a:schemeClr val="bg1"/>
                </a:solidFill>
              </a:defRPr>
            </a:lvl9pPr>
          </a:lstStyle>
          <a:p>
            <a:pPr lvl="0"/>
            <a:r>
              <a:rPr lang="en-US" dirty="0"/>
              <a:t>CRICOS: 00116K</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pic>
        <p:nvPicPr>
          <p:cNvPr id="2" name="Picture Placeholder 6" descr="Logo&#10;&#10;Description automatically generated">
            <a:extLst>
              <a:ext uri="{FF2B5EF4-FFF2-40B4-BE49-F238E27FC236}">
                <a16:creationId xmlns:a16="http://schemas.microsoft.com/office/drawing/2014/main" id="{54D6F5F3-83EC-7C59-7764-F0BA609CE28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4870378" y="2315284"/>
            <a:ext cx="2385265" cy="2373856"/>
          </a:xfrm>
          <a:prstGeom prst="rect">
            <a:avLst/>
          </a:prstGeom>
        </p:spPr>
      </p:pic>
    </p:spTree>
    <p:extLst>
      <p:ext uri="{BB962C8B-B14F-4D97-AF65-F5344CB8AC3E}">
        <p14:creationId xmlns:p14="http://schemas.microsoft.com/office/powerpoint/2010/main" val="25691384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_2">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a:xfrm>
            <a:off x="345599" y="489679"/>
            <a:ext cx="11500799" cy="869091"/>
          </a:xfrm>
        </p:spPr>
        <p:txBody>
          <a:bodyPr/>
          <a:lstStyle>
            <a:lvl1pPr algn="ctr">
              <a:lnSpc>
                <a:spcPts val="5200"/>
              </a:lnSpc>
              <a:defRPr sz="4800">
                <a:solidFill>
                  <a:schemeClr val="bg1"/>
                </a:solidFill>
              </a:defRPr>
            </a:lvl1pPr>
          </a:lstStyle>
          <a:p>
            <a:r>
              <a:rPr lang="en-US"/>
              <a:t>Click to edit Master title style</a:t>
            </a:r>
            <a:endParaRPr lang="en-AU" dirty="0"/>
          </a:p>
        </p:txBody>
      </p:sp>
      <p:sp>
        <p:nvSpPr>
          <p:cNvPr id="6" name="Text Placeholder 10">
            <a:extLst>
              <a:ext uri="{FF2B5EF4-FFF2-40B4-BE49-F238E27FC236}">
                <a16:creationId xmlns:a16="http://schemas.microsoft.com/office/drawing/2014/main" id="{8301EF29-6923-272A-530E-72477C52E01B}"/>
              </a:ext>
            </a:extLst>
          </p:cNvPr>
          <p:cNvSpPr>
            <a:spLocks noGrp="1"/>
          </p:cNvSpPr>
          <p:nvPr>
            <p:ph type="body" sz="quarter" idx="17" hasCustomPrompt="1"/>
          </p:nvPr>
        </p:nvSpPr>
        <p:spPr>
          <a:xfrm>
            <a:off x="345600" y="5850353"/>
            <a:ext cx="5265585" cy="365012"/>
          </a:xfrm>
        </p:spPr>
        <p:txBody>
          <a:bodyPr anchor="t" anchorCtr="0"/>
          <a:lstStyle>
            <a:lvl1pPr marL="0" algn="l">
              <a:lnSpc>
                <a:spcPct val="100000"/>
              </a:lnSpc>
              <a:spcAft>
                <a:spcPts val="0"/>
              </a:spcAft>
              <a:buFontTx/>
              <a:buNone/>
              <a:defRPr sz="2000" b="0">
                <a:solidFill>
                  <a:schemeClr val="bg1"/>
                </a:solidFill>
              </a:defRPr>
            </a:lvl1pPr>
            <a:lvl2pPr marL="0" algn="l">
              <a:lnSpc>
                <a:spcPct val="100000"/>
              </a:lnSpc>
              <a:spcAft>
                <a:spcPts val="0"/>
              </a:spcAft>
              <a:buFontTx/>
              <a:buNone/>
              <a:defRPr sz="2000" b="0">
                <a:solidFill>
                  <a:schemeClr val="bg1"/>
                </a:solidFill>
              </a:defRPr>
            </a:lvl2pPr>
            <a:lvl3pPr marL="0" indent="0" algn="l">
              <a:lnSpc>
                <a:spcPct val="100000"/>
              </a:lnSpc>
              <a:spcAft>
                <a:spcPts val="0"/>
              </a:spcAft>
              <a:buFontTx/>
              <a:buNone/>
              <a:defRPr sz="2000" b="0">
                <a:solidFill>
                  <a:schemeClr val="bg1"/>
                </a:solidFill>
              </a:defRPr>
            </a:lvl3pPr>
            <a:lvl4pPr marL="0" indent="0" algn="l">
              <a:lnSpc>
                <a:spcPct val="100000"/>
              </a:lnSpc>
              <a:spcAft>
                <a:spcPts val="0"/>
              </a:spcAft>
              <a:buFontTx/>
              <a:buNone/>
              <a:defRPr sz="2000" b="0">
                <a:solidFill>
                  <a:schemeClr val="bg1"/>
                </a:solidFill>
              </a:defRPr>
            </a:lvl4pPr>
            <a:lvl5pPr marL="0" indent="0" algn="l">
              <a:lnSpc>
                <a:spcPct val="100000"/>
              </a:lnSpc>
              <a:spcAft>
                <a:spcPts val="0"/>
              </a:spcAft>
              <a:buFontTx/>
              <a:buNone/>
              <a:defRPr sz="2000" b="0">
                <a:solidFill>
                  <a:schemeClr val="bg1"/>
                </a:solidFill>
              </a:defRPr>
            </a:lvl5pPr>
            <a:lvl6pPr marL="0" indent="0" algn="l">
              <a:lnSpc>
                <a:spcPct val="100000"/>
              </a:lnSpc>
              <a:spcAft>
                <a:spcPts val="0"/>
              </a:spcAft>
              <a:buFontTx/>
              <a:buNone/>
              <a:defRPr sz="2000" b="0">
                <a:solidFill>
                  <a:schemeClr val="bg1"/>
                </a:solidFill>
              </a:defRPr>
            </a:lvl6pPr>
            <a:lvl7pPr marL="0" indent="0" algn="l">
              <a:lnSpc>
                <a:spcPct val="100000"/>
              </a:lnSpc>
              <a:spcAft>
                <a:spcPts val="0"/>
              </a:spcAft>
              <a:buFontTx/>
              <a:buNone/>
              <a:defRPr sz="2000" b="0">
                <a:solidFill>
                  <a:schemeClr val="bg1"/>
                </a:solidFill>
              </a:defRPr>
            </a:lvl7pPr>
            <a:lvl8pPr marL="0" indent="0" algn="l">
              <a:lnSpc>
                <a:spcPct val="100000"/>
              </a:lnSpc>
              <a:spcAft>
                <a:spcPts val="0"/>
              </a:spcAft>
              <a:buFontTx/>
              <a:buNone/>
              <a:defRPr sz="2000" b="0">
                <a:solidFill>
                  <a:schemeClr val="bg1"/>
                </a:solidFill>
              </a:defRPr>
            </a:lvl8pPr>
            <a:lvl9pPr marL="0" indent="0" algn="l">
              <a:lnSpc>
                <a:spcPct val="100000"/>
              </a:lnSpc>
              <a:spcAft>
                <a:spcPts val="0"/>
              </a:spcAft>
              <a:buFontTx/>
              <a:buNone/>
              <a:defRPr sz="2000" b="0">
                <a:solidFill>
                  <a:schemeClr val="bg1"/>
                </a:solidFill>
              </a:defRPr>
            </a:lvl9pPr>
          </a:lstStyle>
          <a:p>
            <a:pPr lvl="0"/>
            <a:r>
              <a:rPr lang="en-AU" dirty="0"/>
              <a:t>[Copyright, CTA or other information/notices]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sp>
        <p:nvSpPr>
          <p:cNvPr id="2" name="Content Placeholder 7">
            <a:extLst>
              <a:ext uri="{FF2B5EF4-FFF2-40B4-BE49-F238E27FC236}">
                <a16:creationId xmlns:a16="http://schemas.microsoft.com/office/drawing/2014/main" id="{BBF3D5F6-94BD-ACED-7F35-959B5B93BD76}"/>
              </a:ext>
            </a:extLst>
          </p:cNvPr>
          <p:cNvSpPr>
            <a:spLocks noGrp="1"/>
          </p:cNvSpPr>
          <p:nvPr>
            <p:ph sz="quarter" idx="20"/>
          </p:nvPr>
        </p:nvSpPr>
        <p:spPr>
          <a:xfrm>
            <a:off x="4678967" y="2266086"/>
            <a:ext cx="2385265" cy="2325827"/>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5" name="Picture Placeholder 6" descr="Logo&#10;&#10;Description automatically generated">
            <a:extLst>
              <a:ext uri="{FF2B5EF4-FFF2-40B4-BE49-F238E27FC236}">
                <a16:creationId xmlns:a16="http://schemas.microsoft.com/office/drawing/2014/main" id="{E3F816A6-DD62-1263-EF40-8DEE9FBC629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1315442" y="2266086"/>
            <a:ext cx="2385265" cy="2373856"/>
          </a:xfrm>
          <a:prstGeom prst="rect">
            <a:avLst/>
          </a:prstGeom>
        </p:spPr>
      </p:pic>
      <p:sp>
        <p:nvSpPr>
          <p:cNvPr id="7" name="Content Placeholder 7">
            <a:extLst>
              <a:ext uri="{FF2B5EF4-FFF2-40B4-BE49-F238E27FC236}">
                <a16:creationId xmlns:a16="http://schemas.microsoft.com/office/drawing/2014/main" id="{BCABDFB2-774F-9F26-0537-DFF1E88D8406}"/>
              </a:ext>
            </a:extLst>
          </p:cNvPr>
          <p:cNvSpPr>
            <a:spLocks noGrp="1"/>
          </p:cNvSpPr>
          <p:nvPr>
            <p:ph sz="quarter" idx="21"/>
          </p:nvPr>
        </p:nvSpPr>
        <p:spPr>
          <a:xfrm>
            <a:off x="8040216" y="2262385"/>
            <a:ext cx="2385265" cy="2325827"/>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10">
            <a:extLst>
              <a:ext uri="{FF2B5EF4-FFF2-40B4-BE49-F238E27FC236}">
                <a16:creationId xmlns:a16="http://schemas.microsoft.com/office/drawing/2014/main" id="{F892BB12-1705-BD7B-229D-BF067F242181}"/>
              </a:ext>
            </a:extLst>
          </p:cNvPr>
          <p:cNvSpPr>
            <a:spLocks noGrp="1"/>
          </p:cNvSpPr>
          <p:nvPr>
            <p:ph type="body" sz="quarter" idx="18" hasCustomPrompt="1"/>
          </p:nvPr>
        </p:nvSpPr>
        <p:spPr>
          <a:xfrm>
            <a:off x="6231015" y="5999365"/>
            <a:ext cx="5615384" cy="216000"/>
          </a:xfrm>
        </p:spPr>
        <p:txBody>
          <a:bodyPr anchor="b" anchorCtr="0"/>
          <a:lstStyle>
            <a:lvl1pPr marL="0" algn="r">
              <a:lnSpc>
                <a:spcPct val="100000"/>
              </a:lnSpc>
              <a:spcAft>
                <a:spcPts val="0"/>
              </a:spcAft>
              <a:buFontTx/>
              <a:buNone/>
              <a:defRPr sz="1300" b="0">
                <a:solidFill>
                  <a:schemeClr val="bg1"/>
                </a:solidFill>
              </a:defRPr>
            </a:lvl1pPr>
            <a:lvl2pPr marL="0" algn="r">
              <a:lnSpc>
                <a:spcPct val="100000"/>
              </a:lnSpc>
              <a:spcAft>
                <a:spcPts val="0"/>
              </a:spcAft>
              <a:buFontTx/>
              <a:buNone/>
              <a:defRPr sz="1300">
                <a:solidFill>
                  <a:schemeClr val="bg1"/>
                </a:solidFill>
              </a:defRPr>
            </a:lvl2pPr>
            <a:lvl3pPr marL="0" indent="0" algn="r">
              <a:lnSpc>
                <a:spcPct val="100000"/>
              </a:lnSpc>
              <a:spcAft>
                <a:spcPts val="0"/>
              </a:spcAft>
              <a:buFontTx/>
              <a:buNone/>
              <a:defRPr sz="1300">
                <a:solidFill>
                  <a:schemeClr val="bg1"/>
                </a:solidFill>
              </a:defRPr>
            </a:lvl3pPr>
            <a:lvl4pPr marL="0" indent="0" algn="r">
              <a:lnSpc>
                <a:spcPct val="100000"/>
              </a:lnSpc>
              <a:spcAft>
                <a:spcPts val="0"/>
              </a:spcAft>
              <a:buFontTx/>
              <a:buNone/>
              <a:defRPr sz="1300">
                <a:solidFill>
                  <a:schemeClr val="bg1"/>
                </a:solidFill>
              </a:defRPr>
            </a:lvl4pPr>
            <a:lvl5pPr marL="0" indent="0" algn="r">
              <a:lnSpc>
                <a:spcPct val="100000"/>
              </a:lnSpc>
              <a:spcAft>
                <a:spcPts val="0"/>
              </a:spcAft>
              <a:buFontTx/>
              <a:buNone/>
              <a:defRPr sz="1300">
                <a:solidFill>
                  <a:schemeClr val="bg1"/>
                </a:solidFill>
              </a:defRPr>
            </a:lvl5pPr>
            <a:lvl6pPr marL="0" indent="0" algn="r">
              <a:lnSpc>
                <a:spcPct val="100000"/>
              </a:lnSpc>
              <a:spcAft>
                <a:spcPts val="0"/>
              </a:spcAft>
              <a:buFontTx/>
              <a:buNone/>
              <a:defRPr sz="1300">
                <a:solidFill>
                  <a:schemeClr val="bg1"/>
                </a:solidFill>
              </a:defRPr>
            </a:lvl6pPr>
            <a:lvl7pPr marL="0" indent="0" algn="r">
              <a:lnSpc>
                <a:spcPct val="100000"/>
              </a:lnSpc>
              <a:spcAft>
                <a:spcPts val="0"/>
              </a:spcAft>
              <a:buFontTx/>
              <a:buNone/>
              <a:defRPr sz="1300">
                <a:solidFill>
                  <a:schemeClr val="bg1"/>
                </a:solidFill>
              </a:defRPr>
            </a:lvl7pPr>
            <a:lvl8pPr marL="0" indent="0" algn="r">
              <a:lnSpc>
                <a:spcPct val="100000"/>
              </a:lnSpc>
              <a:spcAft>
                <a:spcPts val="0"/>
              </a:spcAft>
              <a:buFontTx/>
              <a:buNone/>
              <a:defRPr sz="1300">
                <a:solidFill>
                  <a:schemeClr val="bg1"/>
                </a:solidFill>
              </a:defRPr>
            </a:lvl8pPr>
            <a:lvl9pPr marL="0" indent="0" algn="r">
              <a:lnSpc>
                <a:spcPct val="100000"/>
              </a:lnSpc>
              <a:spcAft>
                <a:spcPts val="0"/>
              </a:spcAft>
              <a:buFontTx/>
              <a:buNone/>
              <a:defRPr sz="1300">
                <a:solidFill>
                  <a:schemeClr val="bg1"/>
                </a:solidFill>
              </a:defRPr>
            </a:lvl9pPr>
          </a:lstStyle>
          <a:p>
            <a:pPr lvl="0"/>
            <a:r>
              <a:rPr lang="en-US" dirty="0"/>
              <a:t>CRICOS: 00116K</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spTree>
    <p:extLst>
      <p:ext uri="{BB962C8B-B14F-4D97-AF65-F5344CB8AC3E}">
        <p14:creationId xmlns:p14="http://schemas.microsoft.com/office/powerpoint/2010/main" val="6107219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pyright notice 2">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574486-8652-716C-61C2-985D79E5DEEF}"/>
              </a:ext>
            </a:extLst>
          </p:cNvPr>
          <p:cNvSpPr txBox="1"/>
          <p:nvPr userDrawn="1"/>
        </p:nvSpPr>
        <p:spPr>
          <a:xfrm>
            <a:off x="345600" y="4183343"/>
            <a:ext cx="2310675" cy="200055"/>
          </a:xfrm>
          <a:prstGeom prst="rect">
            <a:avLst/>
          </a:prstGeom>
          <a:noFill/>
          <a:ln w="15875">
            <a:noFill/>
          </a:ln>
        </p:spPr>
        <p:txBody>
          <a:bodyPr wrap="square" lIns="0" tIns="0" rIns="0" bIns="0">
            <a:spAutoFit/>
          </a:bodyPr>
          <a:lstStyle/>
          <a:p>
            <a:pPr marL="0"/>
            <a:r>
              <a:rPr lang="en-AU" sz="1300" dirty="0">
                <a:solidFill>
                  <a:schemeClr val="bg1"/>
                </a:solidFill>
                <a:effectLst/>
                <a:latin typeface="+mn-lt"/>
                <a:ea typeface="Times New Roman" panose="02020603050405020304" pitchFamily="18" charset="0"/>
              </a:rPr>
              <a:t>(c) The University of Melbourne</a:t>
            </a:r>
            <a:endParaRPr lang="en-AU" sz="1300" dirty="0">
              <a:latin typeface="+mn-lt"/>
            </a:endParaRPr>
          </a:p>
        </p:txBody>
      </p:sp>
      <p:sp>
        <p:nvSpPr>
          <p:cNvPr id="6" name="Text Placeholder 5">
            <a:extLst>
              <a:ext uri="{FF2B5EF4-FFF2-40B4-BE49-F238E27FC236}">
                <a16:creationId xmlns:a16="http://schemas.microsoft.com/office/drawing/2014/main" id="{9AB091FC-4E25-7936-CC06-27124E717614}"/>
              </a:ext>
            </a:extLst>
          </p:cNvPr>
          <p:cNvSpPr>
            <a:spLocks noGrp="1"/>
          </p:cNvSpPr>
          <p:nvPr>
            <p:ph type="body" sz="quarter" idx="19" hasCustomPrompt="1"/>
          </p:nvPr>
        </p:nvSpPr>
        <p:spPr>
          <a:xfrm>
            <a:off x="2699196" y="4182849"/>
            <a:ext cx="1192703" cy="216000"/>
          </a:xfrm>
        </p:spPr>
        <p:txBody>
          <a:bodyPr/>
          <a:lstStyle>
            <a:lvl1pPr marL="0">
              <a:lnSpc>
                <a:spcPct val="100000"/>
              </a:lnSpc>
              <a:spcAft>
                <a:spcPts val="0"/>
              </a:spcAft>
              <a:buFontTx/>
              <a:buNone/>
              <a:defRPr sz="1300" b="0">
                <a:solidFill>
                  <a:schemeClr val="bg1"/>
                </a:solidFill>
              </a:defRPr>
            </a:lvl1pPr>
            <a:lvl2pPr marL="0">
              <a:lnSpc>
                <a:spcPct val="100000"/>
              </a:lnSpc>
              <a:spcAft>
                <a:spcPts val="0"/>
              </a:spcAft>
              <a:buFontTx/>
              <a:buNone/>
              <a:defRPr sz="1300" b="0">
                <a:solidFill>
                  <a:schemeClr val="bg1"/>
                </a:solidFill>
              </a:defRPr>
            </a:lvl2pPr>
            <a:lvl3pPr marL="0" indent="0">
              <a:lnSpc>
                <a:spcPct val="100000"/>
              </a:lnSpc>
              <a:spcAft>
                <a:spcPts val="0"/>
              </a:spcAft>
              <a:buFontTx/>
              <a:buNone/>
              <a:defRPr sz="1300" b="0">
                <a:solidFill>
                  <a:schemeClr val="bg1"/>
                </a:solidFill>
              </a:defRPr>
            </a:lvl3pPr>
            <a:lvl4pPr marL="0" indent="0">
              <a:lnSpc>
                <a:spcPct val="100000"/>
              </a:lnSpc>
              <a:spcAft>
                <a:spcPts val="0"/>
              </a:spcAft>
              <a:buFontTx/>
              <a:buNone/>
              <a:defRPr sz="1300" b="0">
                <a:solidFill>
                  <a:schemeClr val="bg1"/>
                </a:solidFill>
              </a:defRPr>
            </a:lvl4pPr>
            <a:lvl5pPr marL="0" indent="0">
              <a:lnSpc>
                <a:spcPct val="100000"/>
              </a:lnSpc>
              <a:spcAft>
                <a:spcPts val="0"/>
              </a:spcAft>
              <a:buFontTx/>
              <a:buNone/>
              <a:defRPr sz="1300" b="0">
                <a:solidFill>
                  <a:schemeClr val="bg1"/>
                </a:solidFill>
              </a:defRPr>
            </a:lvl5pPr>
            <a:lvl6pPr marL="0" indent="0">
              <a:lnSpc>
                <a:spcPct val="100000"/>
              </a:lnSpc>
              <a:spcAft>
                <a:spcPts val="0"/>
              </a:spcAft>
              <a:buFontTx/>
              <a:buNone/>
              <a:defRPr sz="1300" b="0">
                <a:solidFill>
                  <a:schemeClr val="bg1"/>
                </a:solidFill>
              </a:defRPr>
            </a:lvl6pPr>
            <a:lvl7pPr marL="0" indent="0">
              <a:lnSpc>
                <a:spcPct val="100000"/>
              </a:lnSpc>
              <a:spcAft>
                <a:spcPts val="0"/>
              </a:spcAft>
              <a:buFontTx/>
              <a:buNone/>
              <a:defRPr sz="1300" b="0">
                <a:solidFill>
                  <a:schemeClr val="bg1"/>
                </a:solidFill>
              </a:defRPr>
            </a:lvl7pPr>
            <a:lvl8pPr marL="0" indent="0">
              <a:lnSpc>
                <a:spcPct val="100000"/>
              </a:lnSpc>
              <a:spcAft>
                <a:spcPts val="0"/>
              </a:spcAft>
              <a:buFontTx/>
              <a:buNone/>
              <a:defRPr sz="1300" b="0">
                <a:solidFill>
                  <a:schemeClr val="bg1"/>
                </a:solidFill>
              </a:defRPr>
            </a:lvl8pPr>
            <a:lvl9pPr marL="0" indent="0">
              <a:lnSpc>
                <a:spcPct val="100000"/>
              </a:lnSpc>
              <a:spcAft>
                <a:spcPts val="0"/>
              </a:spcAft>
              <a:buFontTx/>
              <a:buNone/>
              <a:defRPr sz="1300" b="0">
                <a:solidFill>
                  <a:schemeClr val="bg1"/>
                </a:solidFill>
              </a:defRPr>
            </a:lvl9pPr>
          </a:lstStyle>
          <a:p>
            <a:pPr lvl="0"/>
            <a:r>
              <a:rPr lang="en-US" dirty="0"/>
              <a:t>2023</a:t>
            </a:r>
          </a:p>
        </p:txBody>
      </p:sp>
      <p:sp>
        <p:nvSpPr>
          <p:cNvPr id="5" name="TextBox 4">
            <a:extLst>
              <a:ext uri="{FF2B5EF4-FFF2-40B4-BE49-F238E27FC236}">
                <a16:creationId xmlns:a16="http://schemas.microsoft.com/office/drawing/2014/main" id="{C92EDEFF-E4AC-F752-A7F7-6FDA4F7FAD96}"/>
              </a:ext>
            </a:extLst>
          </p:cNvPr>
          <p:cNvSpPr txBox="1"/>
          <p:nvPr userDrawn="1"/>
        </p:nvSpPr>
        <p:spPr>
          <a:xfrm>
            <a:off x="345600" y="4383609"/>
            <a:ext cx="6740510" cy="1600438"/>
          </a:xfrm>
          <a:prstGeom prst="rect">
            <a:avLst/>
          </a:prstGeom>
          <a:noFill/>
          <a:ln w="15875">
            <a:noFill/>
          </a:ln>
        </p:spPr>
        <p:txBody>
          <a:bodyPr wrap="square" lIns="0" tIns="0" rIns="0" bIns="0">
            <a:spAutoFit/>
          </a:bodyPr>
          <a:lstStyle/>
          <a:p>
            <a:pPr marL="0"/>
            <a:r>
              <a:rPr lang="en-AU" sz="1300" dirty="0">
                <a:solidFill>
                  <a:schemeClr val="bg1"/>
                </a:solidFill>
                <a:effectLst/>
                <a:latin typeface="+mn-lt"/>
                <a:ea typeface="Times New Roman" panose="02020603050405020304" pitchFamily="18" charset="0"/>
              </a:rPr>
              <a:t>This material is protected by copyright. Unless indicated otherwise, the University of Melbourne owns the copyright subsisting in the work.  Other than for the purposes permitted under the Copyright Act 1968, you are prohibited from downloading, republishing, retransmitting, reproducing or otherwise using any of the materials included in the work as standalone files. Sharing University teaching materials with third-parties, including uploading lecture notes, slides or recordings to websites constitutes academic misconduct and may be subject to penalties.  For more  information: </a:t>
            </a:r>
            <a:r>
              <a:rPr lang="en-AU" sz="1300" u="sng" dirty="0">
                <a:solidFill>
                  <a:schemeClr val="bg1"/>
                </a:solidFill>
                <a:effectLst/>
                <a:latin typeface="+mn-lt"/>
                <a:ea typeface="Times New Roman" panose="02020603050405020304" pitchFamily="18" charset="0"/>
                <a:hlinkClick r:id="rId2" tooltip="https://academicintegrity.unimelb.edu.au/">
                  <a:extLst>
                    <a:ext uri="{A12FA001-AC4F-418D-AE19-62706E023703}">
                      <ahyp:hlinkClr xmlns:ahyp="http://schemas.microsoft.com/office/drawing/2018/hyperlinkcolor" val="tx"/>
                    </a:ext>
                  </a:extLst>
                </a:hlinkClick>
              </a:rPr>
              <a:t>Academic Integrity at the University of Melbourne</a:t>
            </a:r>
            <a:endParaRPr lang="en-AU" sz="1300" dirty="0">
              <a:latin typeface="+mn-lt"/>
            </a:endParaRPr>
          </a:p>
        </p:txBody>
      </p:sp>
      <p:sp>
        <p:nvSpPr>
          <p:cNvPr id="7" name="TextBox 6">
            <a:extLst>
              <a:ext uri="{FF2B5EF4-FFF2-40B4-BE49-F238E27FC236}">
                <a16:creationId xmlns:a16="http://schemas.microsoft.com/office/drawing/2014/main" id="{28028CA4-95B8-600A-C697-0F46636ABD89}"/>
              </a:ext>
            </a:extLst>
          </p:cNvPr>
          <p:cNvSpPr txBox="1"/>
          <p:nvPr userDrawn="1"/>
        </p:nvSpPr>
        <p:spPr>
          <a:xfrm>
            <a:off x="344500" y="5962159"/>
            <a:ext cx="6740510" cy="400110"/>
          </a:xfrm>
          <a:prstGeom prst="rect">
            <a:avLst/>
          </a:prstGeom>
          <a:noFill/>
          <a:ln w="15875">
            <a:noFill/>
          </a:ln>
        </p:spPr>
        <p:txBody>
          <a:bodyPr wrap="square" lIns="0" tIns="0" rIns="0" bIns="0">
            <a:spAutoFit/>
          </a:bodyPr>
          <a:lstStyle/>
          <a:p>
            <a:pPr marL="0"/>
            <a:r>
              <a:rPr lang="en-AU" sz="1300" dirty="0">
                <a:solidFill>
                  <a:schemeClr val="bg1"/>
                </a:solidFill>
                <a:effectLst/>
                <a:latin typeface="+mn-lt"/>
                <a:ea typeface="Times New Roman" panose="02020603050405020304" pitchFamily="18" charset="0"/>
              </a:rPr>
              <a:t>Requests and enquiries concerning reproduction and rights should be addressed to the University Copyright Office, The University of Melbourne: </a:t>
            </a:r>
            <a:r>
              <a:rPr lang="en-AU" sz="1300" u="sng" dirty="0">
                <a:solidFill>
                  <a:schemeClr val="bg1"/>
                </a:solidFill>
                <a:effectLst/>
                <a:latin typeface="+mn-lt"/>
                <a:ea typeface="Times New Roman" panose="02020603050405020304" pitchFamily="18" charset="0"/>
                <a:hlinkClick r:id="rId3">
                  <a:extLst>
                    <a:ext uri="{A12FA001-AC4F-418D-AE19-62706E023703}">
                      <ahyp:hlinkClr xmlns:ahyp="http://schemas.microsoft.com/office/drawing/2018/hyperlinkcolor" val="tx"/>
                    </a:ext>
                  </a:extLst>
                </a:hlinkClick>
              </a:rPr>
              <a:t>copyright-office@unimelb.edu.au</a:t>
            </a:r>
            <a:endParaRPr lang="en-AU" sz="1300" dirty="0">
              <a:latin typeface="+mn-lt"/>
            </a:endParaRPr>
          </a:p>
        </p:txBody>
      </p:sp>
      <p:sp>
        <p:nvSpPr>
          <p:cNvPr id="3" name="Text Placeholder 10">
            <a:extLst>
              <a:ext uri="{FF2B5EF4-FFF2-40B4-BE49-F238E27FC236}">
                <a16:creationId xmlns:a16="http://schemas.microsoft.com/office/drawing/2014/main" id="{9C45E1F2-EF0D-321D-535C-967DD7ADCCEB}"/>
              </a:ext>
            </a:extLst>
          </p:cNvPr>
          <p:cNvSpPr>
            <a:spLocks noGrp="1"/>
          </p:cNvSpPr>
          <p:nvPr>
            <p:ph type="body" sz="quarter" idx="18" hasCustomPrompt="1"/>
          </p:nvPr>
        </p:nvSpPr>
        <p:spPr>
          <a:xfrm>
            <a:off x="7671175" y="6167945"/>
            <a:ext cx="4175224" cy="216000"/>
          </a:xfrm>
        </p:spPr>
        <p:txBody>
          <a:bodyPr anchor="b" anchorCtr="0"/>
          <a:lstStyle>
            <a:lvl1pPr marL="0" algn="r">
              <a:lnSpc>
                <a:spcPct val="100000"/>
              </a:lnSpc>
              <a:spcAft>
                <a:spcPts val="0"/>
              </a:spcAft>
              <a:buFontTx/>
              <a:buNone/>
              <a:defRPr sz="1300" b="0">
                <a:solidFill>
                  <a:schemeClr val="bg1"/>
                </a:solidFill>
              </a:defRPr>
            </a:lvl1pPr>
            <a:lvl2pPr marL="0" algn="r">
              <a:lnSpc>
                <a:spcPct val="100000"/>
              </a:lnSpc>
              <a:spcAft>
                <a:spcPts val="0"/>
              </a:spcAft>
              <a:buFontTx/>
              <a:buNone/>
              <a:defRPr sz="1300">
                <a:solidFill>
                  <a:schemeClr val="bg1"/>
                </a:solidFill>
              </a:defRPr>
            </a:lvl2pPr>
            <a:lvl3pPr marL="0" indent="0" algn="r">
              <a:lnSpc>
                <a:spcPct val="100000"/>
              </a:lnSpc>
              <a:spcAft>
                <a:spcPts val="0"/>
              </a:spcAft>
              <a:buFontTx/>
              <a:buNone/>
              <a:defRPr sz="1300">
                <a:solidFill>
                  <a:schemeClr val="bg1"/>
                </a:solidFill>
              </a:defRPr>
            </a:lvl3pPr>
            <a:lvl4pPr marL="0" indent="0" algn="r">
              <a:lnSpc>
                <a:spcPct val="100000"/>
              </a:lnSpc>
              <a:spcAft>
                <a:spcPts val="0"/>
              </a:spcAft>
              <a:buFontTx/>
              <a:buNone/>
              <a:defRPr sz="1300">
                <a:solidFill>
                  <a:schemeClr val="bg1"/>
                </a:solidFill>
              </a:defRPr>
            </a:lvl4pPr>
            <a:lvl5pPr marL="0" indent="0" algn="r">
              <a:lnSpc>
                <a:spcPct val="100000"/>
              </a:lnSpc>
              <a:spcAft>
                <a:spcPts val="0"/>
              </a:spcAft>
              <a:buFontTx/>
              <a:buNone/>
              <a:defRPr sz="1300">
                <a:solidFill>
                  <a:schemeClr val="bg1"/>
                </a:solidFill>
              </a:defRPr>
            </a:lvl5pPr>
            <a:lvl6pPr marL="0" indent="0" algn="r">
              <a:lnSpc>
                <a:spcPct val="100000"/>
              </a:lnSpc>
              <a:spcAft>
                <a:spcPts val="0"/>
              </a:spcAft>
              <a:buFontTx/>
              <a:buNone/>
              <a:defRPr sz="1300">
                <a:solidFill>
                  <a:schemeClr val="bg1"/>
                </a:solidFill>
              </a:defRPr>
            </a:lvl6pPr>
            <a:lvl7pPr marL="0" indent="0" algn="r">
              <a:lnSpc>
                <a:spcPct val="100000"/>
              </a:lnSpc>
              <a:spcAft>
                <a:spcPts val="0"/>
              </a:spcAft>
              <a:buFontTx/>
              <a:buNone/>
              <a:defRPr sz="1300">
                <a:solidFill>
                  <a:schemeClr val="bg1"/>
                </a:solidFill>
              </a:defRPr>
            </a:lvl7pPr>
            <a:lvl8pPr marL="0" indent="0" algn="r">
              <a:lnSpc>
                <a:spcPct val="100000"/>
              </a:lnSpc>
              <a:spcAft>
                <a:spcPts val="0"/>
              </a:spcAft>
              <a:buFontTx/>
              <a:buNone/>
              <a:defRPr sz="1300">
                <a:solidFill>
                  <a:schemeClr val="bg1"/>
                </a:solidFill>
              </a:defRPr>
            </a:lvl8pPr>
            <a:lvl9pPr marL="0" indent="0" algn="r">
              <a:lnSpc>
                <a:spcPct val="100000"/>
              </a:lnSpc>
              <a:spcAft>
                <a:spcPts val="0"/>
              </a:spcAft>
              <a:buFontTx/>
              <a:buNone/>
              <a:defRPr sz="1300">
                <a:solidFill>
                  <a:schemeClr val="bg1"/>
                </a:solidFill>
              </a:defRPr>
            </a:lvl9pPr>
          </a:lstStyle>
          <a:p>
            <a:pPr lvl="0"/>
            <a:r>
              <a:rPr lang="en-US" dirty="0"/>
              <a:t>CRICOS: 00116K</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spTree>
    <p:extLst>
      <p:ext uri="{BB962C8B-B14F-4D97-AF65-F5344CB8AC3E}">
        <p14:creationId xmlns:p14="http://schemas.microsoft.com/office/powerpoint/2010/main" val="27321236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97687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ver_style2">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A84500"/>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Tree>
    <p:extLst>
      <p:ext uri="{BB962C8B-B14F-4D97-AF65-F5344CB8AC3E}">
        <p14:creationId xmlns:p14="http://schemas.microsoft.com/office/powerpoint/2010/main" val="4154858531"/>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2">
    <p:spTree>
      <p:nvGrpSpPr>
        <p:cNvPr id="1" name=""/>
        <p:cNvGrpSpPr/>
        <p:nvPr/>
      </p:nvGrpSpPr>
      <p:grpSpPr>
        <a:xfrm>
          <a:off x="0" y="0"/>
          <a:ext cx="0" cy="0"/>
          <a:chOff x="0" y="0"/>
          <a:chExt cx="0" cy="0"/>
        </a:xfrm>
      </p:grpSpPr>
      <p:pic>
        <p:nvPicPr>
          <p:cNvPr id="4" name="Picture 3" descr="People walking under a building&#10;&#10;Description automatically generated">
            <a:extLst>
              <a:ext uri="{FF2B5EF4-FFF2-40B4-BE49-F238E27FC236}">
                <a16:creationId xmlns:a16="http://schemas.microsoft.com/office/drawing/2014/main" id="{E7BA957F-097B-72FD-DF04-76077458E4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798261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845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215015974"/>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2_Divider_with image1_style2">
    <p:spTree>
      <p:nvGrpSpPr>
        <p:cNvPr id="1" name=""/>
        <p:cNvGrpSpPr/>
        <p:nvPr/>
      </p:nvGrpSpPr>
      <p:grpSpPr>
        <a:xfrm>
          <a:off x="0" y="0"/>
          <a:ext cx="0" cy="0"/>
          <a:chOff x="0" y="0"/>
          <a:chExt cx="0" cy="0"/>
        </a:xfrm>
      </p:grpSpPr>
      <p:pic>
        <p:nvPicPr>
          <p:cNvPr id="4" name="Picture 3" descr="A statue of a person&#10;&#10;Description automatically generated">
            <a:extLst>
              <a:ext uri="{FF2B5EF4-FFF2-40B4-BE49-F238E27FC236}">
                <a16:creationId xmlns:a16="http://schemas.microsoft.com/office/drawing/2014/main" id="{64F275E5-53E4-CE84-BFBA-2BC612A005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73612"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3"/>
          </a:xfrm>
          <a:prstGeom prst="rect">
            <a:avLst/>
          </a:prstGeom>
          <a:solidFill>
            <a:srgbClr val="A845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22771786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_Divider_with image1_style2">
    <p:spTree>
      <p:nvGrpSpPr>
        <p:cNvPr id="1" name=""/>
        <p:cNvGrpSpPr/>
        <p:nvPr/>
      </p:nvGrpSpPr>
      <p:grpSpPr>
        <a:xfrm>
          <a:off x="0" y="0"/>
          <a:ext cx="0" cy="0"/>
          <a:chOff x="0" y="0"/>
          <a:chExt cx="0" cy="0"/>
        </a:xfrm>
      </p:grpSpPr>
      <p:pic>
        <p:nvPicPr>
          <p:cNvPr id="9" name="Picture 8" descr="A close-up of a hand pointing at a model&#10;&#10;Description automatically generated">
            <a:extLst>
              <a:ext uri="{FF2B5EF4-FFF2-40B4-BE49-F238E27FC236}">
                <a16:creationId xmlns:a16="http://schemas.microsoft.com/office/drawing/2014/main" id="{BD33C0EC-1329-DF67-CC34-2186429DEB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73027"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845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225692397"/>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A845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791767944"/>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ver_style3">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chemeClr val="accent2"/>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675549999"/>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3">
    <p:spTree>
      <p:nvGrpSpPr>
        <p:cNvPr id="1" name=""/>
        <p:cNvGrpSpPr/>
        <p:nvPr/>
      </p:nvGrpSpPr>
      <p:grpSpPr>
        <a:xfrm>
          <a:off x="0" y="0"/>
          <a:ext cx="0" cy="0"/>
          <a:chOff x="0" y="0"/>
          <a:chExt cx="0" cy="0"/>
        </a:xfrm>
      </p:grpSpPr>
      <p:pic>
        <p:nvPicPr>
          <p:cNvPr id="13" name="Picture 12" descr="A group of people sitting in a room&#10;&#10;Description automatically generated">
            <a:extLst>
              <a:ext uri="{FF2B5EF4-FFF2-40B4-BE49-F238E27FC236}">
                <a16:creationId xmlns:a16="http://schemas.microsoft.com/office/drawing/2014/main" id="{28BDE54C-00E9-5879-B7AA-CBAEB4B200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833715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573942067"/>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3">
    <p:spTree>
      <p:nvGrpSpPr>
        <p:cNvPr id="1" name=""/>
        <p:cNvGrpSpPr/>
        <p:nvPr/>
      </p:nvGrpSpPr>
      <p:grpSpPr>
        <a:xfrm>
          <a:off x="0" y="0"/>
          <a:ext cx="0" cy="0"/>
          <a:chOff x="0" y="0"/>
          <a:chExt cx="0" cy="0"/>
        </a:xfrm>
      </p:grpSpPr>
      <p:pic>
        <p:nvPicPr>
          <p:cNvPr id="9" name="Picture 8" descr="A building with a curved roof&#10;&#10;Description automatically generated">
            <a:extLst>
              <a:ext uri="{FF2B5EF4-FFF2-40B4-BE49-F238E27FC236}">
                <a16:creationId xmlns:a16="http://schemas.microsoft.com/office/drawing/2014/main" id="{7C32C17A-0B3D-3605-0770-718372FF115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801253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032562100"/>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3">
    <p:spTree>
      <p:nvGrpSpPr>
        <p:cNvPr id="1" name=""/>
        <p:cNvGrpSpPr/>
        <p:nvPr/>
      </p:nvGrpSpPr>
      <p:grpSpPr>
        <a:xfrm>
          <a:off x="0" y="0"/>
          <a:ext cx="0" cy="0"/>
          <a:chOff x="0" y="0"/>
          <a:chExt cx="0" cy="0"/>
        </a:xfrm>
      </p:grpSpPr>
      <p:pic>
        <p:nvPicPr>
          <p:cNvPr id="9" name="Picture 8" descr="A person using a device to connect wires&#10;&#10;Description automatically generated">
            <a:extLst>
              <a:ext uri="{FF2B5EF4-FFF2-40B4-BE49-F238E27FC236}">
                <a16:creationId xmlns:a16="http://schemas.microsoft.com/office/drawing/2014/main" id="{C1287946-82AF-7FA8-19A7-7FCE04906E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7584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842383239"/>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2407210404"/>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over_style4">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ABC1A7"/>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851568747"/>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4">
    <p:spTree>
      <p:nvGrpSpPr>
        <p:cNvPr id="1" name=""/>
        <p:cNvGrpSpPr/>
        <p:nvPr/>
      </p:nvGrpSpPr>
      <p:grpSpPr>
        <a:xfrm>
          <a:off x="0" y="0"/>
          <a:ext cx="0" cy="0"/>
          <a:chOff x="0" y="0"/>
          <a:chExt cx="0" cy="0"/>
        </a:xfrm>
      </p:grpSpPr>
      <p:pic>
        <p:nvPicPr>
          <p:cNvPr id="4" name="Picture 3" descr="A group of people walking in a park&#10;&#10;Description automatically generated">
            <a:extLst>
              <a:ext uri="{FF2B5EF4-FFF2-40B4-BE49-F238E27FC236}">
                <a16:creationId xmlns:a16="http://schemas.microsoft.com/office/drawing/2014/main" id="{09DD1383-E7A4-AA64-8DE9-6E004E157B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907799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BC1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2"/>
                </a:solidFill>
              </a:defRPr>
            </a:lvl1pPr>
            <a:lvl2pPr marL="0" indent="0">
              <a:lnSpc>
                <a:spcPts val="1800"/>
              </a:lnSpc>
              <a:spcAft>
                <a:spcPts val="600"/>
              </a:spcAft>
              <a:buNone/>
              <a:defRPr sz="1600">
                <a:solidFill>
                  <a:schemeClr val="bg2"/>
                </a:solidFill>
              </a:defRPr>
            </a:lvl2pPr>
            <a:lvl3pPr marL="0" indent="0">
              <a:lnSpc>
                <a:spcPts val="1400"/>
              </a:lnSpc>
              <a:spcAft>
                <a:spcPts val="600"/>
              </a:spcAft>
              <a:buNone/>
              <a:defRPr sz="1200">
                <a:solidFill>
                  <a:schemeClr val="bg2"/>
                </a:solidFill>
              </a:defRPr>
            </a:lvl3pPr>
            <a:lvl4pPr marL="0" indent="0">
              <a:lnSpc>
                <a:spcPts val="1400"/>
              </a:lnSpc>
              <a:spcAft>
                <a:spcPts val="600"/>
              </a:spcAft>
              <a:buNone/>
              <a:defRPr sz="1200">
                <a:solidFill>
                  <a:schemeClr val="bg2"/>
                </a:solidFill>
              </a:defRPr>
            </a:lvl4pPr>
            <a:lvl5pPr marL="0" indent="0">
              <a:lnSpc>
                <a:spcPts val="1400"/>
              </a:lnSpc>
              <a:spcAft>
                <a:spcPts val="600"/>
              </a:spcAft>
              <a:buNone/>
              <a:defRPr sz="1200">
                <a:solidFill>
                  <a:schemeClr val="bg2"/>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6669143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4">
    <p:spTree>
      <p:nvGrpSpPr>
        <p:cNvPr id="1" name=""/>
        <p:cNvGrpSpPr/>
        <p:nvPr/>
      </p:nvGrpSpPr>
      <p:grpSpPr>
        <a:xfrm>
          <a:off x="0" y="0"/>
          <a:ext cx="0" cy="0"/>
          <a:chOff x="0" y="0"/>
          <a:chExt cx="0" cy="0"/>
        </a:xfrm>
      </p:grpSpPr>
      <p:pic>
        <p:nvPicPr>
          <p:cNvPr id="4" name="Picture 3" descr="A building under construction with trees&#10;&#10;Description automatically generated">
            <a:extLst>
              <a:ext uri="{FF2B5EF4-FFF2-40B4-BE49-F238E27FC236}">
                <a16:creationId xmlns:a16="http://schemas.microsoft.com/office/drawing/2014/main" id="{51F6BE47-7A2B-FB6B-ED40-B51129631D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55124"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BC1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2"/>
                </a:solidFill>
              </a:defRPr>
            </a:lvl1pPr>
            <a:lvl2pPr marL="0" indent="0">
              <a:lnSpc>
                <a:spcPts val="1800"/>
              </a:lnSpc>
              <a:spcAft>
                <a:spcPts val="600"/>
              </a:spcAft>
              <a:buNone/>
              <a:defRPr sz="1600">
                <a:solidFill>
                  <a:schemeClr val="bg2"/>
                </a:solidFill>
              </a:defRPr>
            </a:lvl2pPr>
            <a:lvl3pPr marL="0" indent="0">
              <a:lnSpc>
                <a:spcPts val="1400"/>
              </a:lnSpc>
              <a:spcAft>
                <a:spcPts val="600"/>
              </a:spcAft>
              <a:buNone/>
              <a:defRPr sz="1200">
                <a:solidFill>
                  <a:schemeClr val="bg2"/>
                </a:solidFill>
              </a:defRPr>
            </a:lvl3pPr>
            <a:lvl4pPr marL="0" indent="0">
              <a:lnSpc>
                <a:spcPts val="1400"/>
              </a:lnSpc>
              <a:spcAft>
                <a:spcPts val="600"/>
              </a:spcAft>
              <a:buNone/>
              <a:defRPr sz="1200">
                <a:solidFill>
                  <a:schemeClr val="bg2"/>
                </a:solidFill>
              </a:defRPr>
            </a:lvl4pPr>
            <a:lvl5pPr marL="0" indent="0">
              <a:lnSpc>
                <a:spcPts val="1400"/>
              </a:lnSpc>
              <a:spcAft>
                <a:spcPts val="600"/>
              </a:spcAft>
              <a:buNone/>
              <a:defRPr sz="1200">
                <a:solidFill>
                  <a:schemeClr val="bg2"/>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071919616"/>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4">
    <p:spTree>
      <p:nvGrpSpPr>
        <p:cNvPr id="1" name=""/>
        <p:cNvGrpSpPr/>
        <p:nvPr/>
      </p:nvGrpSpPr>
      <p:grpSpPr>
        <a:xfrm>
          <a:off x="0" y="0"/>
          <a:ext cx="0" cy="0"/>
          <a:chOff x="0" y="0"/>
          <a:chExt cx="0" cy="0"/>
        </a:xfrm>
      </p:grpSpPr>
      <p:pic>
        <p:nvPicPr>
          <p:cNvPr id="11" name="Picture 10" descr="A person holding a piece of wood&#10;&#10;Description automatically generated">
            <a:extLst>
              <a:ext uri="{FF2B5EF4-FFF2-40B4-BE49-F238E27FC236}">
                <a16:creationId xmlns:a16="http://schemas.microsoft.com/office/drawing/2014/main" id="{94024269-2550-85C4-BE45-B706209E4B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7584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BC1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2"/>
                </a:solidFill>
              </a:defRPr>
            </a:lvl1pPr>
            <a:lvl2pPr marL="0" indent="0">
              <a:lnSpc>
                <a:spcPts val="1800"/>
              </a:lnSpc>
              <a:spcAft>
                <a:spcPts val="600"/>
              </a:spcAft>
              <a:buNone/>
              <a:defRPr sz="1600">
                <a:solidFill>
                  <a:schemeClr val="bg2"/>
                </a:solidFill>
              </a:defRPr>
            </a:lvl2pPr>
            <a:lvl3pPr marL="0" indent="0">
              <a:lnSpc>
                <a:spcPts val="1400"/>
              </a:lnSpc>
              <a:spcAft>
                <a:spcPts val="600"/>
              </a:spcAft>
              <a:buNone/>
              <a:defRPr sz="1200">
                <a:solidFill>
                  <a:schemeClr val="bg2"/>
                </a:solidFill>
              </a:defRPr>
            </a:lvl3pPr>
            <a:lvl4pPr marL="0" indent="0">
              <a:lnSpc>
                <a:spcPts val="1400"/>
              </a:lnSpc>
              <a:spcAft>
                <a:spcPts val="600"/>
              </a:spcAft>
              <a:buNone/>
              <a:defRPr sz="1200">
                <a:solidFill>
                  <a:schemeClr val="bg2"/>
                </a:solidFill>
              </a:defRPr>
            </a:lvl4pPr>
            <a:lvl5pPr marL="0" indent="0">
              <a:lnSpc>
                <a:spcPts val="1400"/>
              </a:lnSpc>
              <a:spcAft>
                <a:spcPts val="600"/>
              </a:spcAft>
              <a:buNone/>
              <a:defRPr sz="1200">
                <a:solidFill>
                  <a:schemeClr val="bg2"/>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687929782"/>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ABC1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2"/>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188723145"/>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over_style5">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2C421D"/>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077321043"/>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5">
    <p:spTree>
      <p:nvGrpSpPr>
        <p:cNvPr id="1" name=""/>
        <p:cNvGrpSpPr/>
        <p:nvPr/>
      </p:nvGrpSpPr>
      <p:grpSpPr>
        <a:xfrm>
          <a:off x="0" y="0"/>
          <a:ext cx="0" cy="0"/>
          <a:chOff x="0" y="0"/>
          <a:chExt cx="0" cy="0"/>
        </a:xfrm>
      </p:grpSpPr>
      <p:pic>
        <p:nvPicPr>
          <p:cNvPr id="11" name="Picture 10" descr="People walking in a park&#10;&#10;Description automatically generated">
            <a:extLst>
              <a:ext uri="{FF2B5EF4-FFF2-40B4-BE49-F238E27FC236}">
                <a16:creationId xmlns:a16="http://schemas.microsoft.com/office/drawing/2014/main" id="{8FBDA43B-799F-3262-242C-5B80658B72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8458123"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3"/>
          </a:xfrm>
          <a:prstGeom prst="rect">
            <a:avLst/>
          </a:prstGeom>
          <a:solidFill>
            <a:srgbClr val="2C42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926217321"/>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5">
    <p:spTree>
      <p:nvGrpSpPr>
        <p:cNvPr id="1" name=""/>
        <p:cNvGrpSpPr/>
        <p:nvPr/>
      </p:nvGrpSpPr>
      <p:grpSpPr>
        <a:xfrm>
          <a:off x="0" y="0"/>
          <a:ext cx="0" cy="0"/>
          <a:chOff x="0" y="0"/>
          <a:chExt cx="0" cy="0"/>
        </a:xfrm>
      </p:grpSpPr>
      <p:pic>
        <p:nvPicPr>
          <p:cNvPr id="8" name="Picture 7" descr="People walking past a building with ivy on the side&#10;&#10;Description automatically generated">
            <a:extLst>
              <a:ext uri="{FF2B5EF4-FFF2-40B4-BE49-F238E27FC236}">
                <a16:creationId xmlns:a16="http://schemas.microsoft.com/office/drawing/2014/main" id="{DCDBF601-CDA9-69BA-756C-E76F557DDDB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3495"/>
            <a:ext cx="8937748" cy="6120000"/>
          </a:xfrm>
          <a:prstGeom prst="rect">
            <a:avLst/>
          </a:prstGeom>
        </p:spPr>
      </p:pic>
      <p:sp>
        <p:nvSpPr>
          <p:cNvPr id="3" name="Picture Placeholder 7">
            <a:extLst>
              <a:ext uri="{FF2B5EF4-FFF2-40B4-BE49-F238E27FC236}">
                <a16:creationId xmlns:a16="http://schemas.microsoft.com/office/drawing/2014/main" id="{F974493F-F173-1F00-92AD-843885FB6183}"/>
              </a:ext>
            </a:extLst>
          </p:cNvPr>
          <p:cNvSpPr>
            <a:spLocks noGrp="1"/>
          </p:cNvSpPr>
          <p:nvPr>
            <p:ph type="pic" sz="quarter" idx="11" hasCustomPrompt="1"/>
          </p:nvPr>
        </p:nvSpPr>
        <p:spPr>
          <a:xfrm>
            <a:off x="345600" y="343496"/>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2C42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523868676"/>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5">
    <p:spTree>
      <p:nvGrpSpPr>
        <p:cNvPr id="1" name=""/>
        <p:cNvGrpSpPr/>
        <p:nvPr/>
      </p:nvGrpSpPr>
      <p:grpSpPr>
        <a:xfrm>
          <a:off x="0" y="0"/>
          <a:ext cx="0" cy="0"/>
          <a:chOff x="0" y="0"/>
          <a:chExt cx="0" cy="0"/>
        </a:xfrm>
      </p:grpSpPr>
      <p:pic>
        <p:nvPicPr>
          <p:cNvPr id="4" name="Picture 3" descr="Close-up of hands cutting a plant&#10;&#10;Description automatically generated">
            <a:extLst>
              <a:ext uri="{FF2B5EF4-FFF2-40B4-BE49-F238E27FC236}">
                <a16:creationId xmlns:a16="http://schemas.microsoft.com/office/drawing/2014/main" id="{C8DC821B-C317-1417-9462-5276076292D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3496"/>
            <a:ext cx="911624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3496"/>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2C42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984108779"/>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5">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2C42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1288818274"/>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Cover_style6">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FFD629"/>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823509555"/>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6">
    <p:spTree>
      <p:nvGrpSpPr>
        <p:cNvPr id="1" name=""/>
        <p:cNvGrpSpPr/>
        <p:nvPr/>
      </p:nvGrpSpPr>
      <p:grpSpPr>
        <a:xfrm>
          <a:off x="0" y="0"/>
          <a:ext cx="0" cy="0"/>
          <a:chOff x="0" y="0"/>
          <a:chExt cx="0" cy="0"/>
        </a:xfrm>
      </p:grpSpPr>
      <p:pic>
        <p:nvPicPr>
          <p:cNvPr id="11" name="Picture 10" descr="A building with a large building and a green field&#10;&#10;Description automatically generated with medium confidence">
            <a:extLst>
              <a:ext uri="{FF2B5EF4-FFF2-40B4-BE49-F238E27FC236}">
                <a16:creationId xmlns:a16="http://schemas.microsoft.com/office/drawing/2014/main" id="{77EEB241-B6FD-9EE4-0BB0-B7F11F84183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9174466"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FFD629"/>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305386549"/>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6">
    <p:spTree>
      <p:nvGrpSpPr>
        <p:cNvPr id="1" name=""/>
        <p:cNvGrpSpPr/>
        <p:nvPr/>
      </p:nvGrpSpPr>
      <p:grpSpPr>
        <a:xfrm>
          <a:off x="0" y="0"/>
          <a:ext cx="0" cy="0"/>
          <a:chOff x="0" y="0"/>
          <a:chExt cx="0" cy="0"/>
        </a:xfrm>
      </p:grpSpPr>
      <p:pic>
        <p:nvPicPr>
          <p:cNvPr id="9" name="Picture 8" descr="A pencil and a piece of wood&#10;&#10;Description automatically generated">
            <a:extLst>
              <a:ext uri="{FF2B5EF4-FFF2-40B4-BE49-F238E27FC236}">
                <a16:creationId xmlns:a16="http://schemas.microsoft.com/office/drawing/2014/main" id="{65E1F172-EAEE-9E3C-B801-E4B9030BEEF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6744" b="4383"/>
          <a:stretch/>
        </p:blipFill>
        <p:spPr>
          <a:xfrm>
            <a:off x="345599" y="342000"/>
            <a:ext cx="8090661"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FFD629"/>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22883178"/>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6">
    <p:spTree>
      <p:nvGrpSpPr>
        <p:cNvPr id="1" name=""/>
        <p:cNvGrpSpPr/>
        <p:nvPr/>
      </p:nvGrpSpPr>
      <p:grpSpPr>
        <a:xfrm>
          <a:off x="0" y="0"/>
          <a:ext cx="0" cy="0"/>
          <a:chOff x="0" y="0"/>
          <a:chExt cx="0" cy="0"/>
        </a:xfrm>
      </p:grpSpPr>
      <p:pic>
        <p:nvPicPr>
          <p:cNvPr id="11" name="Picture 10" descr="A close-up of a person holding a pair of hands&#10;&#10;Description automatically generated">
            <a:extLst>
              <a:ext uri="{FF2B5EF4-FFF2-40B4-BE49-F238E27FC236}">
                <a16:creationId xmlns:a16="http://schemas.microsoft.com/office/drawing/2014/main" id="{BE621E20-3B1D-7A47-09A7-7ADB27759E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92457"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90000" y="342000"/>
            <a:ext cx="3666846" cy="6120000"/>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FFD629"/>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575751953"/>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6">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2422108170"/>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Cover_style7">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73234B"/>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EB7BB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818180457"/>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7">
    <p:spTree>
      <p:nvGrpSpPr>
        <p:cNvPr id="1" name=""/>
        <p:cNvGrpSpPr/>
        <p:nvPr/>
      </p:nvGrpSpPr>
      <p:grpSpPr>
        <a:xfrm>
          <a:off x="0" y="0"/>
          <a:ext cx="0" cy="0"/>
          <a:chOff x="0" y="0"/>
          <a:chExt cx="0" cy="0"/>
        </a:xfrm>
      </p:grpSpPr>
      <p:pic>
        <p:nvPicPr>
          <p:cNvPr id="4" name="Picture 3" descr="A building with trees and grass&#10;&#10;Description automatically generated">
            <a:extLst>
              <a:ext uri="{FF2B5EF4-FFF2-40B4-BE49-F238E27FC236}">
                <a16:creationId xmlns:a16="http://schemas.microsoft.com/office/drawing/2014/main" id="{DBF2D86A-A44D-CDAE-9665-F4BFF676E9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8644891"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4"/>
          </a:xfrm>
          <a:prstGeom prst="rect">
            <a:avLst/>
          </a:prstGeom>
          <a:solidFill>
            <a:srgbClr val="7323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EB7BBE"/>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4290389504"/>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7">
    <p:spTree>
      <p:nvGrpSpPr>
        <p:cNvPr id="1" name=""/>
        <p:cNvGrpSpPr/>
        <p:nvPr/>
      </p:nvGrpSpPr>
      <p:grpSpPr>
        <a:xfrm>
          <a:off x="0" y="0"/>
          <a:ext cx="0" cy="0"/>
          <a:chOff x="0" y="0"/>
          <a:chExt cx="0" cy="0"/>
        </a:xfrm>
      </p:grpSpPr>
      <p:pic>
        <p:nvPicPr>
          <p:cNvPr id="4" name="Picture 3" descr="A multi-story building with colorful balconies&#10;&#10;Description automatically generated">
            <a:extLst>
              <a:ext uri="{FF2B5EF4-FFF2-40B4-BE49-F238E27FC236}">
                <a16:creationId xmlns:a16="http://schemas.microsoft.com/office/drawing/2014/main" id="{90EADEC2-C4A9-6F30-E874-B83B9B07C3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7999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4"/>
          </a:xfrm>
          <a:prstGeom prst="rect">
            <a:avLst/>
          </a:prstGeom>
          <a:solidFill>
            <a:srgbClr val="7323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EB7BBE"/>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711483716"/>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7">
    <p:spTree>
      <p:nvGrpSpPr>
        <p:cNvPr id="1" name=""/>
        <p:cNvGrpSpPr/>
        <p:nvPr/>
      </p:nvGrpSpPr>
      <p:grpSpPr>
        <a:xfrm>
          <a:off x="0" y="0"/>
          <a:ext cx="0" cy="0"/>
          <a:chOff x="0" y="0"/>
          <a:chExt cx="0" cy="0"/>
        </a:xfrm>
      </p:grpSpPr>
      <p:pic>
        <p:nvPicPr>
          <p:cNvPr id="4" name="Picture 3" descr="A person holding a file&#10;&#10;Description automatically generated">
            <a:extLst>
              <a:ext uri="{FF2B5EF4-FFF2-40B4-BE49-F238E27FC236}">
                <a16:creationId xmlns:a16="http://schemas.microsoft.com/office/drawing/2014/main" id="{F3379736-BE03-EE69-3641-E7C70EC45D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916340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7323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EB7BBE"/>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86450669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7">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7323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2492411636"/>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over_style8">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chemeClr val="accent1"/>
          </a:solidFill>
        </p:spPr>
        <p:txBody>
          <a:bodyPr lIns="180000" tIns="144000" rIns="144000" bIns="144000"/>
          <a:lstStyle>
            <a:lvl1pPr marL="0">
              <a:lnSpc>
                <a:spcPts val="1400"/>
              </a:lnSpc>
              <a:spcAft>
                <a:spcPts val="0"/>
              </a:spcAft>
              <a:buFontTx/>
              <a:buNone/>
              <a:defRPr sz="1200" b="1">
                <a:solidFill>
                  <a:schemeClr val="bg1"/>
                </a:solidFill>
              </a:defRPr>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400154552"/>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8">
    <p:spTree>
      <p:nvGrpSpPr>
        <p:cNvPr id="1" name=""/>
        <p:cNvGrpSpPr/>
        <p:nvPr/>
      </p:nvGrpSpPr>
      <p:grpSpPr>
        <a:xfrm>
          <a:off x="0" y="0"/>
          <a:ext cx="0" cy="0"/>
          <a:chOff x="0" y="0"/>
          <a:chExt cx="0" cy="0"/>
        </a:xfrm>
      </p:grpSpPr>
      <p:pic>
        <p:nvPicPr>
          <p:cNvPr id="4" name="Picture 3" descr="A person walking past a building&#10;&#10;Description automatically generated">
            <a:extLst>
              <a:ext uri="{FF2B5EF4-FFF2-40B4-BE49-F238E27FC236}">
                <a16:creationId xmlns:a16="http://schemas.microsoft.com/office/drawing/2014/main" id="{D5753130-04CA-4F8F-7BD2-B29CCF71AB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6535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81076727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8">
    <p:spTree>
      <p:nvGrpSpPr>
        <p:cNvPr id="1" name=""/>
        <p:cNvGrpSpPr/>
        <p:nvPr/>
      </p:nvGrpSpPr>
      <p:grpSpPr>
        <a:xfrm>
          <a:off x="0" y="0"/>
          <a:ext cx="0" cy="0"/>
          <a:chOff x="0" y="0"/>
          <a:chExt cx="0" cy="0"/>
        </a:xfrm>
      </p:grpSpPr>
      <p:pic>
        <p:nvPicPr>
          <p:cNvPr id="9" name="Picture 8" descr="A sculpture outside of a building&#10;&#10;Description automatically generated">
            <a:extLst>
              <a:ext uri="{FF2B5EF4-FFF2-40B4-BE49-F238E27FC236}">
                <a16:creationId xmlns:a16="http://schemas.microsoft.com/office/drawing/2014/main" id="{5BC26AC2-AAA3-E94F-770E-788A91004B3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8303936"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942469683"/>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8">
    <p:spTree>
      <p:nvGrpSpPr>
        <p:cNvPr id="1" name=""/>
        <p:cNvGrpSpPr/>
        <p:nvPr/>
      </p:nvGrpSpPr>
      <p:grpSpPr>
        <a:xfrm>
          <a:off x="0" y="0"/>
          <a:ext cx="0" cy="0"/>
          <a:chOff x="0" y="0"/>
          <a:chExt cx="0" cy="0"/>
        </a:xfrm>
      </p:grpSpPr>
      <p:pic>
        <p:nvPicPr>
          <p:cNvPr id="4" name="Picture 3" descr="A person cleaning a surface&#10;&#10;Description automatically generated">
            <a:extLst>
              <a:ext uri="{FF2B5EF4-FFF2-40B4-BE49-F238E27FC236}">
                <a16:creationId xmlns:a16="http://schemas.microsoft.com/office/drawing/2014/main" id="{F496D6BF-DBBA-5AEF-EF97-08D170EF1C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1999"/>
            <a:ext cx="9102391"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7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056450312"/>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8">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3314554331"/>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F5FD65-719B-D18F-F8E8-E39C71BCBD2F}"/>
              </a:ext>
            </a:extLst>
          </p:cNvPr>
          <p:cNvSpPr>
            <a:spLocks noGrp="1"/>
          </p:cNvSpPr>
          <p:nvPr>
            <p:ph type="title"/>
          </p:nvPr>
        </p:nvSpPr>
        <p:spPr/>
        <p:txBody>
          <a:bodyPr/>
          <a:lstStyle/>
          <a:p>
            <a:r>
              <a:rPr lang="en-US"/>
              <a:t>Click to edit Master title style</a:t>
            </a:r>
            <a:endParaRPr lang="en-AU"/>
          </a:p>
        </p:txBody>
      </p:sp>
      <p:sp>
        <p:nvSpPr>
          <p:cNvPr id="2" name="Footer Placeholder 1">
            <a:extLst>
              <a:ext uri="{FF2B5EF4-FFF2-40B4-BE49-F238E27FC236}">
                <a16:creationId xmlns:a16="http://schemas.microsoft.com/office/drawing/2014/main" id="{AEAC15A5-6D74-A5DE-3613-65783B641150}"/>
              </a:ext>
            </a:extLst>
          </p:cNvPr>
          <p:cNvSpPr>
            <a:spLocks noGrp="1"/>
          </p:cNvSpPr>
          <p:nvPr>
            <p:ph type="ftr" sz="quarter" idx="13"/>
          </p:nvPr>
        </p:nvSpPr>
        <p:spPr/>
        <p:txBody>
          <a:bodyPr/>
          <a:lstStyle/>
          <a:p>
            <a:r>
              <a:rPr lang="en-AU"/>
              <a:t>[Insert Identifier] | [Insert Report Title]</a:t>
            </a:r>
            <a:endParaRPr lang="en-AU" dirty="0"/>
          </a:p>
        </p:txBody>
      </p:sp>
      <p:sp>
        <p:nvSpPr>
          <p:cNvPr id="4" name="Slide Number Placeholder 3">
            <a:extLst>
              <a:ext uri="{FF2B5EF4-FFF2-40B4-BE49-F238E27FC236}">
                <a16:creationId xmlns:a16="http://schemas.microsoft.com/office/drawing/2014/main" id="{435F3ED5-6AAA-3BC2-D5BA-F3F1F1F148E4}"/>
              </a:ext>
            </a:extLst>
          </p:cNvPr>
          <p:cNvSpPr>
            <a:spLocks noGrp="1"/>
          </p:cNvSpPr>
          <p:nvPr>
            <p:ph type="sldNum" sz="quarter" idx="14"/>
          </p:nvPr>
        </p:nvSpPr>
        <p:spPr/>
        <p:txBody>
          <a:bodyPr/>
          <a:lstStyle/>
          <a:p>
            <a:r>
              <a:rPr lang="en-AU"/>
              <a:t>Page [</a:t>
            </a:r>
            <a:fld id="{29D5CE74-914C-4689-99FC-1AEF49CE2B47}" type="slidenum">
              <a:rPr smtClean="0"/>
              <a:pPr/>
              <a:t>‹#›</a:t>
            </a:fld>
            <a:r>
              <a:t>]</a:t>
            </a:r>
            <a:endParaRPr lang="en-AU" dirty="0"/>
          </a:p>
        </p:txBody>
      </p:sp>
    </p:spTree>
    <p:extLst>
      <p:ext uri="{BB962C8B-B14F-4D97-AF65-F5344CB8AC3E}">
        <p14:creationId xmlns:p14="http://schemas.microsoft.com/office/powerpoint/2010/main" val="54654793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67260" y="6437192"/>
            <a:ext cx="1579139" cy="216000"/>
          </a:xfrm>
          <a:prstGeom prst="rect">
            <a:avLst/>
          </a:prstGeom>
        </p:spPr>
        <p:txBody>
          <a:bodyPr vert="horz" lIns="0" tIns="0" rIns="0" bIns="0" rtlCol="0" anchor="ctr"/>
          <a:lstStyle>
            <a:lvl1pPr algn="r">
              <a:lnSpc>
                <a:spcPts val="1200"/>
              </a:lnSpc>
              <a:defRPr lang="en-AU" sz="1000" b="1" smtClean="0">
                <a:solidFill>
                  <a:schemeClr val="bg2"/>
                </a:solidFill>
                <a:latin typeface="+mn-lt"/>
                <a:cs typeface="Arial" pitchFamily="34" charset="0"/>
              </a:defRPr>
            </a:lvl1pPr>
          </a:lstStyle>
          <a:p>
            <a:r>
              <a:rPr lang="en-AU" dirty="0"/>
              <a:t>Page [</a:t>
            </a:r>
            <a:fld id="{29D5CE74-914C-4689-99FC-1AEF49CE2B47}" type="slidenum">
              <a:rPr smtClean="0"/>
              <a:pPr/>
              <a:t>‹#›</a:t>
            </a:fld>
            <a:r>
              <a:rPr dirty="0"/>
              <a:t>]</a:t>
            </a:r>
            <a:endParaRPr lang="en-AU" dirty="0"/>
          </a:p>
        </p:txBody>
      </p:sp>
      <p:sp>
        <p:nvSpPr>
          <p:cNvPr id="4" name="Footer Placeholder 3">
            <a:extLst>
              <a:ext uri="{FF2B5EF4-FFF2-40B4-BE49-F238E27FC236}">
                <a16:creationId xmlns:a16="http://schemas.microsoft.com/office/drawing/2014/main" id="{D379F384-E22A-4C04-2D3F-76823C04012A}"/>
              </a:ext>
            </a:extLst>
          </p:cNvPr>
          <p:cNvSpPr>
            <a:spLocks noGrp="1"/>
          </p:cNvSpPr>
          <p:nvPr>
            <p:ph type="ftr" sz="quarter" idx="3"/>
          </p:nvPr>
        </p:nvSpPr>
        <p:spPr>
          <a:xfrm>
            <a:off x="345600" y="6437192"/>
            <a:ext cx="4114800" cy="216000"/>
          </a:xfrm>
          <a:prstGeom prst="rect">
            <a:avLst/>
          </a:prstGeom>
        </p:spPr>
        <p:txBody>
          <a:bodyPr vert="horz" lIns="0" tIns="0" rIns="0" bIns="0" rtlCol="0" anchor="ctr"/>
          <a:lstStyle>
            <a:lvl1pPr algn="l">
              <a:lnSpc>
                <a:spcPts val="1200"/>
              </a:lnSpc>
              <a:defRPr sz="1000" b="1">
                <a:solidFill>
                  <a:schemeClr val="bg2"/>
                </a:solidFill>
              </a:defRPr>
            </a:lvl1pPr>
          </a:lstStyle>
          <a:p>
            <a:r>
              <a:rPr lang="en-AU" dirty="0"/>
              <a:t>[Insert Identifier] | [Insert Report Title]</a:t>
            </a:r>
          </a:p>
        </p:txBody>
      </p:sp>
      <p:sp>
        <p:nvSpPr>
          <p:cNvPr id="3" name="Text Placeholder 2"/>
          <p:cNvSpPr>
            <a:spLocks noGrp="1"/>
          </p:cNvSpPr>
          <p:nvPr>
            <p:ph type="body" idx="1"/>
          </p:nvPr>
        </p:nvSpPr>
        <p:spPr>
          <a:xfrm>
            <a:off x="345600" y="1870255"/>
            <a:ext cx="11501912" cy="4273200"/>
          </a:xfrm>
          <a:prstGeom prst="rect">
            <a:avLst/>
          </a:prstGeom>
        </p:spPr>
        <p:txBody>
          <a:bodyPr vert="horz" lIns="0" tIns="0" rIns="0" bIns="0" rtlCol="0">
            <a:noAutofit/>
          </a:body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pic>
        <p:nvPicPr>
          <p:cNvPr id="8" name="Picture Placeholder 10" descr="Logo&#10;&#10;Description automatically generated">
            <a:extLst>
              <a:ext uri="{FF2B5EF4-FFF2-40B4-BE49-F238E27FC236}">
                <a16:creationId xmlns:a16="http://schemas.microsoft.com/office/drawing/2014/main" id="{186FA8D1-9047-12AF-8731-019C3A7101D9}"/>
              </a:ext>
            </a:extLst>
          </p:cNvPr>
          <p:cNvPicPr>
            <a:picLocks noChangeAspect="1"/>
          </p:cNvPicPr>
          <p:nvPr userDrawn="1"/>
        </p:nvPicPr>
        <p:blipFill rotWithShape="1">
          <a:blip r:embed="rId62" cstate="print">
            <a:extLst>
              <a:ext uri="{28A0092B-C50C-407E-A947-70E740481C1C}">
                <a14:useLocalDpi xmlns:a14="http://schemas.microsoft.com/office/drawing/2010/main" val="0"/>
              </a:ext>
            </a:extLst>
          </a:blip>
          <a:srcRect l="65" r="65"/>
          <a:stretch/>
        </p:blipFill>
        <p:spPr>
          <a:xfrm>
            <a:off x="10635412" y="342000"/>
            <a:ext cx="1222350" cy="1223793"/>
          </a:xfrm>
          <a:prstGeom prst="rect">
            <a:avLst/>
          </a:prstGeom>
        </p:spPr>
      </p:pic>
      <p:sp>
        <p:nvSpPr>
          <p:cNvPr id="2" name="Title Placeholder 1"/>
          <p:cNvSpPr>
            <a:spLocks noGrp="1"/>
          </p:cNvSpPr>
          <p:nvPr>
            <p:ph type="title"/>
          </p:nvPr>
        </p:nvSpPr>
        <p:spPr>
          <a:xfrm>
            <a:off x="345600" y="342000"/>
            <a:ext cx="9695205" cy="531544"/>
          </a:xfrm>
          <a:prstGeom prst="rect">
            <a:avLst/>
          </a:prstGeom>
        </p:spPr>
        <p:txBody>
          <a:bodyPr vert="horz" lIns="0" tIns="0" rIns="0" bIns="0" rtlCol="0" anchor="t">
            <a:noAutofit/>
          </a:bodyPr>
          <a:lstStyle/>
          <a:p>
            <a:r>
              <a:rPr lang="en-US" noProof="0"/>
              <a:t>Click to edit Master title style</a:t>
            </a:r>
            <a:endParaRPr lang="en-AU" noProof="0" dirty="0"/>
          </a:p>
        </p:txBody>
      </p:sp>
    </p:spTree>
    <p:extLst>
      <p:ext uri="{BB962C8B-B14F-4D97-AF65-F5344CB8AC3E}">
        <p14:creationId xmlns:p14="http://schemas.microsoft.com/office/powerpoint/2010/main" val="2063454087"/>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5" r:id="rId3"/>
    <p:sldLayoutId id="2147483724" r:id="rId4"/>
    <p:sldLayoutId id="2147483726" r:id="rId5"/>
    <p:sldLayoutId id="2147483727" r:id="rId6"/>
    <p:sldLayoutId id="2147483728" r:id="rId7"/>
    <p:sldLayoutId id="2147483729" r:id="rId8"/>
    <p:sldLayoutId id="2147483730" r:id="rId9"/>
    <p:sldLayoutId id="2147483731" r:id="rId10"/>
    <p:sldLayoutId id="2147483682" r:id="rId11"/>
    <p:sldLayoutId id="2147483732" r:id="rId12"/>
    <p:sldLayoutId id="2147483733" r:id="rId13"/>
    <p:sldLayoutId id="2147483718" r:id="rId14"/>
    <p:sldLayoutId id="2147483719" r:id="rId15"/>
    <p:sldLayoutId id="2147483721" r:id="rId16"/>
    <p:sldLayoutId id="2147483673" r:id="rId17"/>
    <p:sldLayoutId id="2147483659" r:id="rId18"/>
    <p:sldLayoutId id="2147483720" r:id="rId19"/>
    <p:sldLayoutId id="2147483664" r:id="rId20"/>
    <p:sldLayoutId id="2147483710" r:id="rId21"/>
    <p:sldLayoutId id="2147483711" r:id="rId22"/>
    <p:sldLayoutId id="2147483734" r:id="rId23"/>
    <p:sldLayoutId id="2147483655" r:id="rId24"/>
    <p:sldLayoutId id="2147483742" r:id="rId25"/>
    <p:sldLayoutId id="2147483736" r:id="rId26"/>
    <p:sldLayoutId id="2147483738" r:id="rId27"/>
    <p:sldLayoutId id="2147483739" r:id="rId28"/>
    <p:sldLayoutId id="2147483740"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 id="2147483752" r:id="rId39"/>
    <p:sldLayoutId id="2147483753" r:id="rId40"/>
    <p:sldLayoutId id="2147483754" r:id="rId41"/>
    <p:sldLayoutId id="2147483755" r:id="rId42"/>
    <p:sldLayoutId id="2147483756" r:id="rId43"/>
    <p:sldLayoutId id="2147483757" r:id="rId44"/>
    <p:sldLayoutId id="2147483758" r:id="rId45"/>
    <p:sldLayoutId id="2147483759" r:id="rId46"/>
    <p:sldLayoutId id="2147483760" r:id="rId47"/>
    <p:sldLayoutId id="2147483761" r:id="rId48"/>
    <p:sldLayoutId id="2147483762" r:id="rId49"/>
    <p:sldLayoutId id="2147483763" r:id="rId50"/>
    <p:sldLayoutId id="2147483764" r:id="rId51"/>
    <p:sldLayoutId id="2147483765" r:id="rId52"/>
    <p:sldLayoutId id="2147483766" r:id="rId53"/>
    <p:sldLayoutId id="2147483767" r:id="rId54"/>
    <p:sldLayoutId id="2147483768" r:id="rId55"/>
    <p:sldLayoutId id="2147483769" r:id="rId56"/>
    <p:sldLayoutId id="2147483770" r:id="rId57"/>
    <p:sldLayoutId id="2147483771" r:id="rId58"/>
    <p:sldLayoutId id="2147483772" r:id="rId59"/>
    <p:sldLayoutId id="2147483654" r:id="rId60"/>
  </p:sldLayoutIdLst>
  <p:hf hdr="0" dt="0"/>
  <p:txStyles>
    <p:title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p:titleStyle>
    <p:body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2"/>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2"/>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2"/>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baseline="0">
          <a:solidFill>
            <a:schemeClr val="bg2"/>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9pPr>
    </p:bodyStyle>
    <p:otherStyle>
      <a:defPPr>
        <a:defRPr lang="en-US"/>
      </a:defPPr>
      <a:lvl1pPr marL="0" algn="l" defTabSz="1218804" rtl="0" eaLnBrk="1" latinLnBrk="0" hangingPunct="1">
        <a:defRPr sz="1200" kern="1200">
          <a:solidFill>
            <a:schemeClr val="tx1"/>
          </a:solidFill>
          <a:latin typeface="+mn-lt"/>
          <a:ea typeface="+mn-ea"/>
          <a:cs typeface="+mn-cs"/>
        </a:defRPr>
      </a:lvl1pPr>
      <a:lvl2pPr marL="609402" algn="l" defTabSz="1218804" rtl="0" eaLnBrk="1" latinLnBrk="0" hangingPunct="1">
        <a:defRPr sz="1200" kern="1200">
          <a:solidFill>
            <a:schemeClr val="tx1"/>
          </a:solidFill>
          <a:latin typeface="+mn-lt"/>
          <a:ea typeface="+mn-ea"/>
          <a:cs typeface="+mn-cs"/>
        </a:defRPr>
      </a:lvl2pPr>
      <a:lvl3pPr marL="1218804" algn="l" defTabSz="1218804" rtl="0" eaLnBrk="1" latinLnBrk="0" hangingPunct="1">
        <a:defRPr sz="1200" kern="1200">
          <a:solidFill>
            <a:schemeClr val="tx1"/>
          </a:solidFill>
          <a:latin typeface="+mn-lt"/>
          <a:ea typeface="+mn-ea"/>
          <a:cs typeface="+mn-cs"/>
        </a:defRPr>
      </a:lvl3pPr>
      <a:lvl4pPr marL="1828206" algn="l" defTabSz="1218804" rtl="0" eaLnBrk="1" latinLnBrk="0" hangingPunct="1">
        <a:defRPr sz="1200" kern="1200">
          <a:solidFill>
            <a:schemeClr val="tx1"/>
          </a:solidFill>
          <a:latin typeface="+mn-lt"/>
          <a:ea typeface="+mn-ea"/>
          <a:cs typeface="+mn-cs"/>
        </a:defRPr>
      </a:lvl4pPr>
      <a:lvl5pPr marL="2437608" algn="l" defTabSz="1218804" rtl="0" eaLnBrk="1" latinLnBrk="0" hangingPunct="1">
        <a:defRPr sz="1200" kern="1200">
          <a:solidFill>
            <a:schemeClr val="tx1"/>
          </a:solidFill>
          <a:latin typeface="+mn-lt"/>
          <a:ea typeface="+mn-ea"/>
          <a:cs typeface="+mn-cs"/>
        </a:defRPr>
      </a:lvl5pPr>
      <a:lvl6pPr marL="3047009" algn="l" defTabSz="1218804" rtl="0" eaLnBrk="1" latinLnBrk="0" hangingPunct="1">
        <a:defRPr sz="1200" kern="1200">
          <a:solidFill>
            <a:schemeClr val="tx1"/>
          </a:solidFill>
          <a:latin typeface="+mn-lt"/>
          <a:ea typeface="+mn-ea"/>
          <a:cs typeface="+mn-cs"/>
        </a:defRPr>
      </a:lvl6pPr>
      <a:lvl7pPr marL="3656411" algn="l" defTabSz="1218804" rtl="0" eaLnBrk="1" latinLnBrk="0" hangingPunct="1">
        <a:defRPr sz="1200" kern="1200">
          <a:solidFill>
            <a:schemeClr val="tx1"/>
          </a:solidFill>
          <a:latin typeface="+mn-lt"/>
          <a:ea typeface="+mn-ea"/>
          <a:cs typeface="+mn-cs"/>
        </a:defRPr>
      </a:lvl7pPr>
      <a:lvl8pPr marL="4265813" algn="l" defTabSz="1218804" rtl="0" eaLnBrk="1" latinLnBrk="0" hangingPunct="1">
        <a:defRPr sz="1200" kern="1200">
          <a:solidFill>
            <a:schemeClr val="tx1"/>
          </a:solidFill>
          <a:latin typeface="+mn-lt"/>
          <a:ea typeface="+mn-ea"/>
          <a:cs typeface="+mn-cs"/>
        </a:defRPr>
      </a:lvl8pPr>
      <a:lvl9pPr marL="4875215" algn="l" defTabSz="1218804"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2" userDrawn="1">
          <p15:clr>
            <a:srgbClr val="F26B43"/>
          </p15:clr>
        </p15:guide>
        <p15:guide id="2" pos="21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6933DC2-E5B9-29B5-950F-390A019E8DCF}"/>
              </a:ext>
            </a:extLst>
          </p:cNvPr>
          <p:cNvSpPr>
            <a:spLocks noGrp="1"/>
          </p:cNvSpPr>
          <p:nvPr>
            <p:ph type="body" sz="quarter" idx="18"/>
          </p:nvPr>
        </p:nvSpPr>
        <p:spPr/>
        <p:txBody>
          <a:bodyPr/>
          <a:lstStyle/>
          <a:p>
            <a:r>
              <a:rPr lang="en-AU" dirty="0"/>
              <a:t>https://</a:t>
            </a:r>
            <a:r>
              <a:rPr lang="en-AU" dirty="0" err="1"/>
              <a:t>www.unimelb.edu.au</a:t>
            </a:r>
            <a:endParaRPr lang="en-AU" dirty="0"/>
          </a:p>
        </p:txBody>
      </p:sp>
      <p:sp>
        <p:nvSpPr>
          <p:cNvPr id="6" name="标题 5">
            <a:extLst>
              <a:ext uri="{FF2B5EF4-FFF2-40B4-BE49-F238E27FC236}">
                <a16:creationId xmlns:a16="http://schemas.microsoft.com/office/drawing/2014/main" id="{D8E65A76-7740-5108-5E10-1C710E932B9A}"/>
              </a:ext>
            </a:extLst>
          </p:cNvPr>
          <p:cNvSpPr>
            <a:spLocks noGrp="1"/>
          </p:cNvSpPr>
          <p:nvPr>
            <p:ph type="title"/>
          </p:nvPr>
        </p:nvSpPr>
        <p:spPr>
          <a:xfrm>
            <a:off x="407368" y="1767707"/>
            <a:ext cx="11545383" cy="1288879"/>
          </a:xfrm>
        </p:spPr>
        <p:txBody>
          <a:bodyPr/>
          <a:lstStyle/>
          <a:p>
            <a:pPr algn="ctr"/>
            <a:r>
              <a:rPr lang="en-US" altLang="zh-CN" dirty="0"/>
              <a:t>Rule-based CAD construction sequence synthesis from B-rep models</a:t>
            </a:r>
            <a:endParaRPr lang="zh-CN" altLang="en-US" sz="4800" dirty="0"/>
          </a:p>
        </p:txBody>
      </p:sp>
      <p:sp>
        <p:nvSpPr>
          <p:cNvPr id="14" name="文本框 13">
            <a:extLst>
              <a:ext uri="{FF2B5EF4-FFF2-40B4-BE49-F238E27FC236}">
                <a16:creationId xmlns:a16="http://schemas.microsoft.com/office/drawing/2014/main" id="{FEB62ADB-F24E-D7F5-5264-C099C31084AF}"/>
              </a:ext>
            </a:extLst>
          </p:cNvPr>
          <p:cNvSpPr txBox="1"/>
          <p:nvPr/>
        </p:nvSpPr>
        <p:spPr>
          <a:xfrm>
            <a:off x="7968208" y="5637647"/>
            <a:ext cx="3414537" cy="461537"/>
          </a:xfrm>
          <a:prstGeom prst="rect">
            <a:avLst/>
          </a:prstGeom>
          <a:noFill/>
        </p:spPr>
        <p:txBody>
          <a:bodyPr wrap="square" rtlCol="0">
            <a:spAutoFit/>
          </a:bodyPr>
          <a:lstStyle/>
          <a:p>
            <a:pPr algn="r"/>
            <a:r>
              <a:rPr lang="en-US" altLang="zh-CN" b="1" dirty="0">
                <a:solidFill>
                  <a:schemeClr val="bg1">
                    <a:lumMod val="95000"/>
                  </a:schemeClr>
                </a:solidFill>
                <a:latin typeface="+mn-ea"/>
              </a:rPr>
              <a:t>24 September 2026</a:t>
            </a:r>
            <a:endParaRPr lang="zh-CN" altLang="en-US" b="1" dirty="0">
              <a:solidFill>
                <a:schemeClr val="bg1">
                  <a:lumMod val="95000"/>
                </a:schemeClr>
              </a:solidFill>
              <a:latin typeface="+mn-ea"/>
            </a:endParaRPr>
          </a:p>
        </p:txBody>
      </p:sp>
      <p:sp>
        <p:nvSpPr>
          <p:cNvPr id="16" name="文本框 15">
            <a:extLst>
              <a:ext uri="{FF2B5EF4-FFF2-40B4-BE49-F238E27FC236}">
                <a16:creationId xmlns:a16="http://schemas.microsoft.com/office/drawing/2014/main" id="{CCA135B3-A47F-C21A-A47F-261677095D7E}"/>
              </a:ext>
            </a:extLst>
          </p:cNvPr>
          <p:cNvSpPr txBox="1"/>
          <p:nvPr/>
        </p:nvSpPr>
        <p:spPr>
          <a:xfrm>
            <a:off x="8544272" y="5182065"/>
            <a:ext cx="2781300" cy="461537"/>
          </a:xfrm>
          <a:prstGeom prst="rect">
            <a:avLst/>
          </a:prstGeom>
          <a:noFill/>
        </p:spPr>
        <p:txBody>
          <a:bodyPr wrap="square" rtlCol="0">
            <a:spAutoFit/>
          </a:bodyPr>
          <a:lstStyle/>
          <a:p>
            <a:pPr algn="r"/>
            <a:r>
              <a:rPr lang="en" altLang="zh-CN" b="1" dirty="0">
                <a:solidFill>
                  <a:schemeClr val="bg1">
                    <a:lumMod val="95000"/>
                  </a:schemeClr>
                </a:solidFill>
                <a:latin typeface="+mn-ea"/>
              </a:rPr>
              <a:t>Shuo Ding</a:t>
            </a:r>
            <a:endParaRPr lang="zh-CN" altLang="en-US" b="1" dirty="0">
              <a:solidFill>
                <a:schemeClr val="bg1">
                  <a:lumMod val="95000"/>
                </a:schemeClr>
              </a:solidFill>
              <a:latin typeface="+mn-ea"/>
            </a:endParaRPr>
          </a:p>
        </p:txBody>
      </p:sp>
      <p:pic>
        <p:nvPicPr>
          <p:cNvPr id="2" name="图片 1">
            <a:extLst>
              <a:ext uri="{FF2B5EF4-FFF2-40B4-BE49-F238E27FC236}">
                <a16:creationId xmlns:a16="http://schemas.microsoft.com/office/drawing/2014/main" id="{C6F2C311-B32C-4A9E-6D88-ED180D68847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1942" y="332656"/>
            <a:ext cx="2553335" cy="574852"/>
          </a:xfrm>
          <a:prstGeom prst="rect">
            <a:avLst/>
          </a:prstGeom>
          <a:noFill/>
          <a:ln>
            <a:noFill/>
          </a:ln>
        </p:spPr>
      </p:pic>
      <p:sp>
        <p:nvSpPr>
          <p:cNvPr id="8" name="文本框 7">
            <a:extLst>
              <a:ext uri="{FF2B5EF4-FFF2-40B4-BE49-F238E27FC236}">
                <a16:creationId xmlns:a16="http://schemas.microsoft.com/office/drawing/2014/main" id="{192FF275-7343-8DA8-7EA6-76FBB033F525}"/>
              </a:ext>
            </a:extLst>
          </p:cNvPr>
          <p:cNvSpPr txBox="1"/>
          <p:nvPr/>
        </p:nvSpPr>
        <p:spPr>
          <a:xfrm>
            <a:off x="661334" y="3284719"/>
            <a:ext cx="11332268" cy="461665"/>
          </a:xfrm>
          <a:prstGeom prst="rect">
            <a:avLst/>
          </a:prstGeom>
          <a:noFill/>
        </p:spPr>
        <p:txBody>
          <a:bodyPr wrap="square" rtlCol="0">
            <a:spAutoFit/>
          </a:bodyPr>
          <a:lstStyle/>
          <a:p>
            <a:pPr algn="just"/>
            <a:r>
              <a:rPr lang="en-US" altLang="zh-CN" sz="2400" dirty="0">
                <a:solidFill>
                  <a:schemeClr val="bg1"/>
                </a:solidFill>
              </a:rPr>
              <a:t>A frozen baseline for constrained executable reconstruction from history-free B-rep</a:t>
            </a:r>
          </a:p>
        </p:txBody>
      </p:sp>
      <p:sp>
        <p:nvSpPr>
          <p:cNvPr id="9" name="04_Chain_Node_1">
            <a:extLst>
              <a:ext uri="{FF2B5EF4-FFF2-40B4-BE49-F238E27FC236}">
                <a16:creationId xmlns:a16="http://schemas.microsoft.com/office/drawing/2014/main" id="{F4318305-E874-2DDB-79C5-3F17434C53BE}"/>
              </a:ext>
            </a:extLst>
          </p:cNvPr>
          <p:cNvSpPr/>
          <p:nvPr/>
        </p:nvSpPr>
        <p:spPr>
          <a:xfrm>
            <a:off x="623392" y="4403733"/>
            <a:ext cx="1234440" cy="32004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dirty="0">
                <a:solidFill>
                  <a:srgbClr val="94A9BC"/>
                </a:solidFill>
                <a:latin typeface="Aptos" pitchFamily="34" charset="0"/>
                <a:ea typeface="Aptos" pitchFamily="34" charset="-122"/>
                <a:cs typeface="Aptos" pitchFamily="34" charset="-120"/>
              </a:rPr>
              <a:t>Final B-rep</a:t>
            </a:r>
            <a:endParaRPr lang="en-US" dirty="0"/>
          </a:p>
        </p:txBody>
      </p:sp>
      <p:sp>
        <p:nvSpPr>
          <p:cNvPr id="10" name="05_Chain_Line_Solid">
            <a:extLst>
              <a:ext uri="{FF2B5EF4-FFF2-40B4-BE49-F238E27FC236}">
                <a16:creationId xmlns:a16="http://schemas.microsoft.com/office/drawing/2014/main" id="{084132CB-4A90-3790-C1A9-7C4357A76344}"/>
              </a:ext>
            </a:extLst>
          </p:cNvPr>
          <p:cNvSpPr/>
          <p:nvPr/>
        </p:nvSpPr>
        <p:spPr>
          <a:xfrm>
            <a:off x="1793824" y="4559181"/>
            <a:ext cx="777240" cy="0"/>
          </a:xfrm>
          <a:prstGeom prst="line">
            <a:avLst/>
          </a:prstGeom>
          <a:noFill/>
          <a:ln w="19050">
            <a:solidFill>
              <a:srgbClr val="38C9FF"/>
            </a:solidFill>
            <a:prstDash val="solid"/>
            <a:headEnd type="none"/>
            <a:tailEnd type="triangle"/>
          </a:ln>
        </p:spPr>
        <p:txBody>
          <a:bodyPr/>
          <a:lstStyle/>
          <a:p>
            <a:endParaRPr lang="zh-CN" altLang="en-US" sz="2800"/>
          </a:p>
        </p:txBody>
      </p:sp>
      <p:sp>
        <p:nvSpPr>
          <p:cNvPr id="11" name="06_Chain_Node_2">
            <a:extLst>
              <a:ext uri="{FF2B5EF4-FFF2-40B4-BE49-F238E27FC236}">
                <a16:creationId xmlns:a16="http://schemas.microsoft.com/office/drawing/2014/main" id="{40410683-2B04-AD60-43DE-94779025E922}"/>
              </a:ext>
            </a:extLst>
          </p:cNvPr>
          <p:cNvSpPr/>
          <p:nvPr/>
        </p:nvSpPr>
        <p:spPr>
          <a:xfrm>
            <a:off x="2616784" y="4403733"/>
            <a:ext cx="960120" cy="32004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dirty="0">
                <a:solidFill>
                  <a:srgbClr val="38C9FF"/>
                </a:solidFill>
                <a:latin typeface="Aptos" pitchFamily="34" charset="0"/>
                <a:ea typeface="Aptos" pitchFamily="34" charset="-122"/>
                <a:cs typeface="Aptos" pitchFamily="34" charset="-120"/>
              </a:rPr>
              <a:t>Evidence</a:t>
            </a:r>
            <a:endParaRPr lang="en-US" dirty="0"/>
          </a:p>
        </p:txBody>
      </p:sp>
      <p:sp>
        <p:nvSpPr>
          <p:cNvPr id="12" name="07_Chain_Line_Dashed">
            <a:extLst>
              <a:ext uri="{FF2B5EF4-FFF2-40B4-BE49-F238E27FC236}">
                <a16:creationId xmlns:a16="http://schemas.microsoft.com/office/drawing/2014/main" id="{76B8950F-6803-DFBE-06BF-53BECAB8A86E}"/>
              </a:ext>
            </a:extLst>
          </p:cNvPr>
          <p:cNvSpPr/>
          <p:nvPr/>
        </p:nvSpPr>
        <p:spPr>
          <a:xfrm>
            <a:off x="3549472" y="4559181"/>
            <a:ext cx="850392" cy="0"/>
          </a:xfrm>
          <a:prstGeom prst="line">
            <a:avLst/>
          </a:prstGeom>
          <a:noFill/>
          <a:ln w="19050">
            <a:solidFill>
              <a:srgbClr val="38C9FF"/>
            </a:solidFill>
            <a:prstDash val="dash"/>
            <a:headEnd type="none"/>
            <a:tailEnd type="triangle"/>
          </a:ln>
        </p:spPr>
        <p:txBody>
          <a:bodyPr/>
          <a:lstStyle/>
          <a:p>
            <a:endParaRPr lang="zh-CN" altLang="en-US" sz="2800"/>
          </a:p>
        </p:txBody>
      </p:sp>
      <p:sp>
        <p:nvSpPr>
          <p:cNvPr id="13" name="08_Chain_Node_3">
            <a:extLst>
              <a:ext uri="{FF2B5EF4-FFF2-40B4-BE49-F238E27FC236}">
                <a16:creationId xmlns:a16="http://schemas.microsoft.com/office/drawing/2014/main" id="{94001AB1-03C6-F96F-E6F3-56FC2B4433FC}"/>
              </a:ext>
            </a:extLst>
          </p:cNvPr>
          <p:cNvSpPr/>
          <p:nvPr/>
        </p:nvSpPr>
        <p:spPr>
          <a:xfrm>
            <a:off x="4399864" y="4385445"/>
            <a:ext cx="1965960" cy="365760"/>
          </a:xfrm>
          <a:prstGeom prst="rect">
            <a:avLst/>
          </a:prstGeom>
          <a:noFill/>
          <a:ln/>
        </p:spPr>
        <p:txBody>
          <a:bodyPr wrap="square" lIns="0" tIns="0" rIns="0" bIns="0" rtlCol="0" anchor="ctr">
            <a:normAutofit fontScale="925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600" dirty="0">
                <a:solidFill>
                  <a:srgbClr val="94A9BC"/>
                </a:solidFill>
                <a:latin typeface="Aptos" pitchFamily="34" charset="0"/>
                <a:ea typeface="Aptos" pitchFamily="34" charset="-122"/>
                <a:cs typeface="Aptos" pitchFamily="34" charset="-120"/>
              </a:rPr>
              <a:t>Executable explanation</a:t>
            </a:r>
            <a:endParaRPr lang="en-US" sz="1600" dirty="0"/>
          </a:p>
        </p:txBody>
      </p:sp>
      <p:sp>
        <p:nvSpPr>
          <p:cNvPr id="18" name="文本框 17">
            <a:extLst>
              <a:ext uri="{FF2B5EF4-FFF2-40B4-BE49-F238E27FC236}">
                <a16:creationId xmlns:a16="http://schemas.microsoft.com/office/drawing/2014/main" id="{14AA6B8D-8B6F-7F96-2D81-24CB017B4EAD}"/>
              </a:ext>
            </a:extLst>
          </p:cNvPr>
          <p:cNvSpPr txBox="1"/>
          <p:nvPr/>
        </p:nvSpPr>
        <p:spPr>
          <a:xfrm>
            <a:off x="3225922" y="6391303"/>
            <a:ext cx="6203092" cy="307777"/>
          </a:xfrm>
          <a:prstGeom prst="rect">
            <a:avLst/>
          </a:prstGeom>
          <a:noFill/>
        </p:spPr>
        <p:txBody>
          <a:bodyPr wrap="square">
            <a:spAutoFit/>
          </a:bodyPr>
          <a:lstStyle/>
          <a:p>
            <a:pPr marL="0" indent="0" algn="ctr">
              <a:buNone/>
            </a:pPr>
            <a:r>
              <a:rPr lang="en-US" altLang="zh-CN" sz="1400" dirty="0">
                <a:solidFill>
                  <a:srgbClr val="94A9BC"/>
                </a:solidFill>
                <a:latin typeface="Aptos" pitchFamily="34" charset="0"/>
                <a:ea typeface="Aptos" pitchFamily="34" charset="-122"/>
                <a:cs typeface="Aptos" pitchFamily="34" charset="-120"/>
              </a:rPr>
              <a:t>Technical Briefing · 2026</a:t>
            </a:r>
            <a:endParaRPr lang="en-US" altLang="zh-CN" sz="1400" dirty="0"/>
          </a:p>
        </p:txBody>
      </p:sp>
    </p:spTree>
    <p:extLst>
      <p:ext uri="{BB962C8B-B14F-4D97-AF65-F5344CB8AC3E}">
        <p14:creationId xmlns:p14="http://schemas.microsoft.com/office/powerpoint/2010/main" val="3366627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a:extLst>
              <a:ext uri="{FF2B5EF4-FFF2-40B4-BE49-F238E27FC236}">
                <a16:creationId xmlns:a16="http://schemas.microsoft.com/office/drawing/2014/main" id="{C28EAA46-C2D4-BD99-36D4-7F33300CB61D}"/>
              </a:ext>
            </a:extLst>
          </p:cNvPr>
          <p:cNvSpPr/>
          <p:nvPr/>
        </p:nvSpPr>
        <p:spPr>
          <a:xfrm>
            <a:off x="92842" y="620688"/>
            <a:ext cx="6904941" cy="107184"/>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kumimoji="1" lang="zh-CN" altLang="en-US" dirty="0">
              <a:solidFill>
                <a:schemeClr val="tx1"/>
              </a:solidFill>
            </a:endParaRPr>
          </a:p>
        </p:txBody>
      </p:sp>
      <p:sp>
        <p:nvSpPr>
          <p:cNvPr id="3" name="标题 2">
            <a:extLst>
              <a:ext uri="{FF2B5EF4-FFF2-40B4-BE49-F238E27FC236}">
                <a16:creationId xmlns:a16="http://schemas.microsoft.com/office/drawing/2014/main" id="{3735E617-A499-72C9-4395-4EBB80519E61}"/>
              </a:ext>
            </a:extLst>
          </p:cNvPr>
          <p:cNvSpPr>
            <a:spLocks noGrp="1"/>
          </p:cNvSpPr>
          <p:nvPr>
            <p:ph type="title"/>
          </p:nvPr>
        </p:nvSpPr>
        <p:spPr>
          <a:xfrm>
            <a:off x="119336" y="76228"/>
            <a:ext cx="9695205" cy="531544"/>
          </a:xfrm>
        </p:spPr>
        <p:txBody>
          <a:bodyPr/>
          <a:lstStyle/>
          <a:p>
            <a:r>
              <a:rPr lang="en-US" altLang="zh-CN" dirty="0"/>
              <a:t>Research Question and Scope</a:t>
            </a:r>
            <a:br>
              <a:rPr lang="en-US" altLang="zh-CN" dirty="0"/>
            </a:br>
            <a:endParaRPr lang="zh-CN" altLang="en-US" dirty="0"/>
          </a:p>
        </p:txBody>
      </p:sp>
      <p:sp>
        <p:nvSpPr>
          <p:cNvPr id="40" name="03_Input_Label">
            <a:extLst>
              <a:ext uri="{FF2B5EF4-FFF2-40B4-BE49-F238E27FC236}">
                <a16:creationId xmlns:a16="http://schemas.microsoft.com/office/drawing/2014/main" id="{8655E91A-F027-A333-98FF-31B8C2B8E8EA}"/>
              </a:ext>
            </a:extLst>
          </p:cNvPr>
          <p:cNvSpPr txBox="1"/>
          <p:nvPr/>
        </p:nvSpPr>
        <p:spPr>
          <a:xfrm>
            <a:off x="5296353" y="999846"/>
            <a:ext cx="1587102" cy="215444"/>
          </a:xfrm>
          <a:prstGeom prst="rect">
            <a:avLst/>
          </a:prstGeom>
          <a:noFill/>
        </p:spPr>
        <p:txBody>
          <a:bodyPr wrap="none" lIns="0" tIns="0" rIns="0" bIns="0" anchor="t">
            <a:spAutoFit/>
          </a:bodyPr>
          <a:lstStyle/>
          <a:p>
            <a:pPr algn="ctr" defTabSz="914400"/>
            <a:r>
              <a:rPr sz="1400" b="1" dirty="0">
                <a:latin typeface="Times New Roman" panose="02020603050405020304" pitchFamily="18" charset="0"/>
                <a:cs typeface="Times New Roman" panose="02020603050405020304" pitchFamily="18" charset="0"/>
              </a:rPr>
              <a:t>OBSERVED INPUT</a:t>
            </a:r>
          </a:p>
        </p:txBody>
      </p:sp>
      <p:sp>
        <p:nvSpPr>
          <p:cNvPr id="41" name="04_Input_BRep_Icon_top">
            <a:extLst>
              <a:ext uri="{FF2B5EF4-FFF2-40B4-BE49-F238E27FC236}">
                <a16:creationId xmlns:a16="http://schemas.microsoft.com/office/drawing/2014/main" id="{70A53B28-A805-59D2-BC0E-B7772CFDEB29}"/>
              </a:ext>
            </a:extLst>
          </p:cNvPr>
          <p:cNvSpPr/>
          <p:nvPr/>
        </p:nvSpPr>
        <p:spPr>
          <a:xfrm>
            <a:off x="3481678" y="1436235"/>
            <a:ext cx="402336" cy="73152"/>
          </a:xfrm>
          <a:custGeom>
            <a:avLst/>
            <a:gdLst/>
            <a:ahLst/>
            <a:cxnLst/>
            <a:rect l="l" t="t" r="r" b="b"/>
            <a:pathLst>
              <a:path w="402336" h="73152">
                <a:moveTo>
                  <a:pt x="0" y="73152"/>
                </a:moveTo>
                <a:lnTo>
                  <a:pt x="310896" y="73152"/>
                </a:lnTo>
                <a:lnTo>
                  <a:pt x="402336" y="0"/>
                </a:lnTo>
                <a:lnTo>
                  <a:pt x="91440" y="0"/>
                </a:lnTo>
                <a:close/>
              </a:path>
            </a:pathLst>
          </a:custGeom>
          <a:solidFill>
            <a:srgbClr val="182C3B"/>
          </a:solidFill>
          <a:ln w="12700" cap="flat" cmpd="sng" algn="ctr">
            <a:solidFill>
              <a:srgbClr val="38C9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effectLst/>
              <a:uLnTx/>
              <a:uFillTx/>
              <a:latin typeface="Times New Roman" panose="02020603050405020304" pitchFamily="18" charset="0"/>
              <a:cs typeface="Times New Roman" panose="02020603050405020304" pitchFamily="18" charset="0"/>
            </a:endParaRPr>
          </a:p>
        </p:txBody>
      </p:sp>
      <p:sp>
        <p:nvSpPr>
          <p:cNvPr id="55" name="04_Input_BRep_Icon_side">
            <a:extLst>
              <a:ext uri="{FF2B5EF4-FFF2-40B4-BE49-F238E27FC236}">
                <a16:creationId xmlns:a16="http://schemas.microsoft.com/office/drawing/2014/main" id="{F68B37C3-8FC0-A6B5-EC4E-3CC0D437FAF0}"/>
              </a:ext>
            </a:extLst>
          </p:cNvPr>
          <p:cNvSpPr/>
          <p:nvPr/>
        </p:nvSpPr>
        <p:spPr>
          <a:xfrm>
            <a:off x="3792574" y="1436235"/>
            <a:ext cx="91440" cy="310895"/>
          </a:xfrm>
          <a:custGeom>
            <a:avLst/>
            <a:gdLst/>
            <a:ahLst/>
            <a:cxnLst/>
            <a:rect l="l" t="t" r="r" b="b"/>
            <a:pathLst>
              <a:path w="91440" h="310895">
                <a:moveTo>
                  <a:pt x="0" y="73152"/>
                </a:moveTo>
                <a:lnTo>
                  <a:pt x="91440" y="0"/>
                </a:lnTo>
                <a:lnTo>
                  <a:pt x="91440" y="237743"/>
                </a:lnTo>
                <a:lnTo>
                  <a:pt x="0" y="310895"/>
                </a:lnTo>
                <a:close/>
              </a:path>
            </a:pathLst>
          </a:custGeom>
          <a:solidFill>
            <a:srgbClr val="182C3B"/>
          </a:solidFill>
          <a:ln w="12700" cap="flat" cmpd="sng" algn="ctr">
            <a:solidFill>
              <a:srgbClr val="38C9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effectLst/>
              <a:uLnTx/>
              <a:uFillTx/>
              <a:latin typeface="Times New Roman" panose="02020603050405020304" pitchFamily="18" charset="0"/>
              <a:cs typeface="Times New Roman" panose="02020603050405020304" pitchFamily="18" charset="0"/>
            </a:endParaRPr>
          </a:p>
        </p:txBody>
      </p:sp>
      <p:sp>
        <p:nvSpPr>
          <p:cNvPr id="57" name="04_Input_BRep_Icon_front">
            <a:extLst>
              <a:ext uri="{FF2B5EF4-FFF2-40B4-BE49-F238E27FC236}">
                <a16:creationId xmlns:a16="http://schemas.microsoft.com/office/drawing/2014/main" id="{E38AA1EA-A494-2E22-3B8A-AA4FEC1429FC}"/>
              </a:ext>
            </a:extLst>
          </p:cNvPr>
          <p:cNvSpPr/>
          <p:nvPr/>
        </p:nvSpPr>
        <p:spPr>
          <a:xfrm>
            <a:off x="3481678" y="1509387"/>
            <a:ext cx="310896" cy="237744"/>
          </a:xfrm>
          <a:prstGeom prst="rect">
            <a:avLst/>
          </a:prstGeom>
          <a:solidFill>
            <a:srgbClr val="112230"/>
          </a:solidFill>
          <a:ln w="12700" cap="flat" cmpd="sng" algn="ctr">
            <a:solidFill>
              <a:srgbClr val="38C9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effectLst/>
              <a:uLnTx/>
              <a:uFillTx/>
              <a:latin typeface="Times New Roman" panose="02020603050405020304" pitchFamily="18" charset="0"/>
              <a:cs typeface="Times New Roman" panose="02020603050405020304" pitchFamily="18" charset="0"/>
            </a:endParaRPr>
          </a:p>
        </p:txBody>
      </p:sp>
      <p:sp>
        <p:nvSpPr>
          <p:cNvPr id="58" name="05_Input_Text">
            <a:extLst>
              <a:ext uri="{FF2B5EF4-FFF2-40B4-BE49-F238E27FC236}">
                <a16:creationId xmlns:a16="http://schemas.microsoft.com/office/drawing/2014/main" id="{CEEEF074-7084-9C97-73C5-D76D124E9929}"/>
              </a:ext>
            </a:extLst>
          </p:cNvPr>
          <p:cNvSpPr txBox="1"/>
          <p:nvPr/>
        </p:nvSpPr>
        <p:spPr>
          <a:xfrm>
            <a:off x="4334502" y="1333905"/>
            <a:ext cx="3823034" cy="430887"/>
          </a:xfrm>
          <a:prstGeom prst="rect">
            <a:avLst/>
          </a:prstGeom>
          <a:noFill/>
        </p:spPr>
        <p:txBody>
          <a:bodyPr wrap="none" lIns="0" tIns="0" rIns="0" bIns="0" anchor="ctr">
            <a:spAutoFit/>
          </a:bodyPr>
          <a:lstStyle/>
          <a:p>
            <a:pPr algn="ctr" defTabSz="914400"/>
            <a:r>
              <a:rPr sz="2800" b="1" dirty="0">
                <a:latin typeface="Times New Roman" panose="02020603050405020304" pitchFamily="18" charset="0"/>
                <a:cs typeface="Times New Roman" panose="02020603050405020304" pitchFamily="18" charset="0"/>
              </a:rPr>
              <a:t>History-free STEP/B-rep</a:t>
            </a:r>
          </a:p>
        </p:txBody>
      </p:sp>
      <p:cxnSp>
        <p:nvCxnSpPr>
          <p:cNvPr id="59" name="06_Input_Dashed_Line">
            <a:extLst>
              <a:ext uri="{FF2B5EF4-FFF2-40B4-BE49-F238E27FC236}">
                <a16:creationId xmlns:a16="http://schemas.microsoft.com/office/drawing/2014/main" id="{20A3ABB3-2F55-C4FA-64AC-53B18B0375DE}"/>
              </a:ext>
            </a:extLst>
          </p:cNvPr>
          <p:cNvCxnSpPr/>
          <p:nvPr/>
        </p:nvCxnSpPr>
        <p:spPr>
          <a:xfrm>
            <a:off x="6106214" y="1747131"/>
            <a:ext cx="0" cy="164592"/>
          </a:xfrm>
          <a:prstGeom prst="line">
            <a:avLst/>
          </a:prstGeom>
          <a:noFill/>
          <a:ln w="17780" cap="flat" cmpd="sng" algn="ctr">
            <a:solidFill>
              <a:srgbClr val="38C9FF"/>
            </a:solidFill>
            <a:prstDash val="dash"/>
            <a:miter lim="800000"/>
          </a:ln>
          <a:effectLst/>
        </p:spPr>
      </p:cxnSp>
      <p:sp>
        <p:nvSpPr>
          <p:cNvPr id="60" name="06B_Centered_Question_Text">
            <a:extLst>
              <a:ext uri="{FF2B5EF4-FFF2-40B4-BE49-F238E27FC236}">
                <a16:creationId xmlns:a16="http://schemas.microsoft.com/office/drawing/2014/main" id="{19DA481C-B79A-C7D2-2329-B5BEEF5FB838}"/>
              </a:ext>
            </a:extLst>
          </p:cNvPr>
          <p:cNvSpPr txBox="1"/>
          <p:nvPr/>
        </p:nvSpPr>
        <p:spPr>
          <a:xfrm>
            <a:off x="4367978" y="1960648"/>
            <a:ext cx="3525004" cy="462947"/>
          </a:xfrm>
          <a:prstGeom prst="rect">
            <a:avLst/>
          </a:prstGeom>
          <a:noFill/>
        </p:spPr>
        <p:txBody>
          <a:bodyPr wrap="none" lIns="0" tIns="0" rIns="0" bIns="0" anchor="t">
            <a:spAutoFit/>
          </a:bodyPr>
          <a:lstStyle/>
          <a:p>
            <a:pPr algn="ctr" defTabSz="914400">
              <a:lnSpc>
                <a:spcPct val="94000"/>
              </a:lnSpc>
            </a:pPr>
            <a:r>
              <a:rPr sz="1600" dirty="0">
                <a:latin typeface="Times New Roman" panose="02020603050405020304" pitchFamily="18" charset="0"/>
                <a:cs typeface="Times New Roman" panose="02020603050405020304" pitchFamily="18" charset="0"/>
              </a:rPr>
              <a:t>Can final geometry and topology constrain
an executable construction explanation?</a:t>
            </a:r>
          </a:p>
        </p:txBody>
      </p:sp>
      <p:sp>
        <p:nvSpPr>
          <p:cNvPr id="61" name="07_Question_Mark">
            <a:extLst>
              <a:ext uri="{FF2B5EF4-FFF2-40B4-BE49-F238E27FC236}">
                <a16:creationId xmlns:a16="http://schemas.microsoft.com/office/drawing/2014/main" id="{8B70DB96-F48B-5544-DDFB-5BB7347C8BB0}"/>
              </a:ext>
            </a:extLst>
          </p:cNvPr>
          <p:cNvSpPr txBox="1"/>
          <p:nvPr/>
        </p:nvSpPr>
        <p:spPr>
          <a:xfrm>
            <a:off x="6015454" y="2368923"/>
            <a:ext cx="176330" cy="477054"/>
          </a:xfrm>
          <a:prstGeom prst="rect">
            <a:avLst/>
          </a:prstGeom>
          <a:noFill/>
        </p:spPr>
        <p:txBody>
          <a:bodyPr wrap="none" lIns="0" tIns="0" rIns="0" bIns="0" anchor="ctr">
            <a:spAutoFit/>
          </a:bodyPr>
          <a:lstStyle/>
          <a:p>
            <a:pPr algn="ctr" defTabSz="914400"/>
            <a:r>
              <a:rPr sz="3100" dirty="0">
                <a:latin typeface="Times New Roman" panose="02020603050405020304" pitchFamily="18" charset="0"/>
                <a:cs typeface="Times New Roman" panose="02020603050405020304" pitchFamily="18" charset="0"/>
              </a:rPr>
              <a:t>?</a:t>
            </a:r>
          </a:p>
        </p:txBody>
      </p:sp>
      <p:cxnSp>
        <p:nvCxnSpPr>
          <p:cNvPr id="62" name="08_Constraint_Dashed_Line">
            <a:extLst>
              <a:ext uri="{FF2B5EF4-FFF2-40B4-BE49-F238E27FC236}">
                <a16:creationId xmlns:a16="http://schemas.microsoft.com/office/drawing/2014/main" id="{0AACDB10-7458-7E42-50F5-118EBAD1D534}"/>
              </a:ext>
            </a:extLst>
          </p:cNvPr>
          <p:cNvCxnSpPr/>
          <p:nvPr/>
        </p:nvCxnSpPr>
        <p:spPr>
          <a:xfrm>
            <a:off x="6106214" y="2845977"/>
            <a:ext cx="0" cy="201168"/>
          </a:xfrm>
          <a:prstGeom prst="line">
            <a:avLst/>
          </a:prstGeom>
          <a:noFill/>
          <a:ln w="19050" cap="flat" cmpd="sng" algn="ctr">
            <a:solidFill>
              <a:srgbClr val="38C9FF"/>
            </a:solidFill>
            <a:prstDash val="dash"/>
            <a:miter lim="800000"/>
          </a:ln>
          <a:effectLst/>
        </p:spPr>
      </p:cxnSp>
      <p:sp>
        <p:nvSpPr>
          <p:cNvPr id="63" name="10_Output_Label">
            <a:extLst>
              <a:ext uri="{FF2B5EF4-FFF2-40B4-BE49-F238E27FC236}">
                <a16:creationId xmlns:a16="http://schemas.microsoft.com/office/drawing/2014/main" id="{92B9C989-1A69-DFE5-9677-6A75707F321D}"/>
              </a:ext>
            </a:extLst>
          </p:cNvPr>
          <p:cNvSpPr txBox="1"/>
          <p:nvPr/>
        </p:nvSpPr>
        <p:spPr>
          <a:xfrm>
            <a:off x="5334033" y="3073246"/>
            <a:ext cx="1536704" cy="215444"/>
          </a:xfrm>
          <a:prstGeom prst="rect">
            <a:avLst/>
          </a:prstGeom>
          <a:noFill/>
        </p:spPr>
        <p:txBody>
          <a:bodyPr wrap="none" lIns="0" tIns="0" rIns="0" bIns="0" anchor="t">
            <a:spAutoFit/>
          </a:bodyPr>
          <a:lstStyle/>
          <a:p>
            <a:pPr algn="ctr" defTabSz="914400"/>
            <a:r>
              <a:rPr sz="1400" b="1" dirty="0">
                <a:latin typeface="Times New Roman" panose="02020603050405020304" pitchFamily="18" charset="0"/>
                <a:cs typeface="Times New Roman" panose="02020603050405020304" pitchFamily="18" charset="0"/>
              </a:rPr>
              <a:t>TARGET OUTPUT</a:t>
            </a:r>
          </a:p>
        </p:txBody>
      </p:sp>
      <p:sp>
        <p:nvSpPr>
          <p:cNvPr id="64" name="09_Output_Text">
            <a:extLst>
              <a:ext uri="{FF2B5EF4-FFF2-40B4-BE49-F238E27FC236}">
                <a16:creationId xmlns:a16="http://schemas.microsoft.com/office/drawing/2014/main" id="{E89CE64A-5D89-ABA6-4812-F2B8CD1737DE}"/>
              </a:ext>
            </a:extLst>
          </p:cNvPr>
          <p:cNvSpPr txBox="1"/>
          <p:nvPr/>
        </p:nvSpPr>
        <p:spPr>
          <a:xfrm>
            <a:off x="2582603" y="3244572"/>
            <a:ext cx="7082067" cy="430887"/>
          </a:xfrm>
          <a:prstGeom prst="rect">
            <a:avLst/>
          </a:prstGeom>
          <a:noFill/>
        </p:spPr>
        <p:txBody>
          <a:bodyPr wrap="none" lIns="0" tIns="0" rIns="0" bIns="0" anchor="ctr">
            <a:spAutoFit/>
          </a:bodyPr>
          <a:lstStyle/>
          <a:p>
            <a:pPr algn="ctr" defTabSz="914400"/>
            <a:r>
              <a:rPr sz="2800" b="1" dirty="0">
                <a:latin typeface="Times New Roman" panose="02020603050405020304" pitchFamily="18" charset="0"/>
                <a:cs typeface="Times New Roman" panose="02020603050405020304" pitchFamily="18" charset="0"/>
              </a:rPr>
              <a:t>Plausible, executable construction explanation</a:t>
            </a:r>
          </a:p>
        </p:txBody>
      </p:sp>
      <p:sp>
        <p:nvSpPr>
          <p:cNvPr id="65" name="11_Scope_Header">
            <a:extLst>
              <a:ext uri="{FF2B5EF4-FFF2-40B4-BE49-F238E27FC236}">
                <a16:creationId xmlns:a16="http://schemas.microsoft.com/office/drawing/2014/main" id="{7F2A39A3-DA67-4CB3-460E-70DB98026075}"/>
              </a:ext>
            </a:extLst>
          </p:cNvPr>
          <p:cNvSpPr txBox="1"/>
          <p:nvPr/>
        </p:nvSpPr>
        <p:spPr>
          <a:xfrm>
            <a:off x="708118" y="4059788"/>
            <a:ext cx="3066545" cy="215444"/>
          </a:xfrm>
          <a:prstGeom prst="rect">
            <a:avLst/>
          </a:prstGeom>
          <a:noFill/>
        </p:spPr>
        <p:txBody>
          <a:bodyPr wrap="none" lIns="0" tIns="0" rIns="0" bIns="0" anchor="t">
            <a:spAutoFit/>
          </a:bodyPr>
          <a:lstStyle/>
          <a:p>
            <a:pPr defTabSz="914400"/>
            <a:r>
              <a:rPr sz="1400" b="1" dirty="0">
                <a:latin typeface="Times New Roman" panose="02020603050405020304" pitchFamily="18" charset="0"/>
                <a:cs typeface="Times New Roman" panose="02020603050405020304" pitchFamily="18" charset="0"/>
              </a:rPr>
              <a:t>TESTED CONSTRUCTION CLASSES</a:t>
            </a:r>
          </a:p>
        </p:txBody>
      </p:sp>
      <p:sp>
        <p:nvSpPr>
          <p:cNvPr id="66" name="12_Class01_Number">
            <a:extLst>
              <a:ext uri="{FF2B5EF4-FFF2-40B4-BE49-F238E27FC236}">
                <a16:creationId xmlns:a16="http://schemas.microsoft.com/office/drawing/2014/main" id="{7C1D0218-C846-6ED2-933B-A10561781AAF}"/>
              </a:ext>
            </a:extLst>
          </p:cNvPr>
          <p:cNvSpPr txBox="1"/>
          <p:nvPr/>
        </p:nvSpPr>
        <p:spPr>
          <a:xfrm>
            <a:off x="554230" y="4370989"/>
            <a:ext cx="153888" cy="184666"/>
          </a:xfrm>
          <a:prstGeom prst="rect">
            <a:avLst/>
          </a:prstGeom>
          <a:noFill/>
        </p:spPr>
        <p:txBody>
          <a:bodyPr wrap="none" lIns="0" tIns="0" rIns="0" bIns="0" anchor="t">
            <a:spAutoFit/>
          </a:bodyPr>
          <a:lstStyle/>
          <a:p>
            <a:pPr defTabSz="914400"/>
            <a:r>
              <a:rPr sz="1200" dirty="0">
                <a:latin typeface="Times New Roman" panose="02020603050405020304" pitchFamily="18" charset="0"/>
                <a:cs typeface="Times New Roman" panose="02020603050405020304" pitchFamily="18" charset="0"/>
              </a:rPr>
              <a:t>01</a:t>
            </a:r>
          </a:p>
        </p:txBody>
      </p:sp>
      <p:sp>
        <p:nvSpPr>
          <p:cNvPr id="67" name="13_Class01_Geometry_top">
            <a:extLst>
              <a:ext uri="{FF2B5EF4-FFF2-40B4-BE49-F238E27FC236}">
                <a16:creationId xmlns:a16="http://schemas.microsoft.com/office/drawing/2014/main" id="{34DFBF4B-A58D-5601-B7B6-7D519868C190}"/>
              </a:ext>
            </a:extLst>
          </p:cNvPr>
          <p:cNvSpPr/>
          <p:nvPr/>
        </p:nvSpPr>
        <p:spPr>
          <a:xfrm>
            <a:off x="847546" y="4591442"/>
            <a:ext cx="676656" cy="118872"/>
          </a:xfrm>
          <a:custGeom>
            <a:avLst/>
            <a:gdLst/>
            <a:ahLst/>
            <a:cxnLst/>
            <a:rect l="l" t="t" r="r" b="b"/>
            <a:pathLst>
              <a:path w="676656" h="118872">
                <a:moveTo>
                  <a:pt x="0" y="118872"/>
                </a:moveTo>
                <a:lnTo>
                  <a:pt x="530352" y="118872"/>
                </a:lnTo>
                <a:lnTo>
                  <a:pt x="676656" y="0"/>
                </a:lnTo>
                <a:lnTo>
                  <a:pt x="146304" y="0"/>
                </a:lnTo>
                <a:close/>
              </a:path>
            </a:pathLst>
          </a:custGeom>
          <a:solidFill>
            <a:srgbClr val="182C3B"/>
          </a:solidFill>
          <a:ln w="13335" cap="flat" cmpd="sng" algn="ctr">
            <a:solidFill>
              <a:srgbClr val="38C9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effectLst/>
              <a:uLnTx/>
              <a:uFillTx/>
              <a:latin typeface="Times New Roman" panose="02020603050405020304" pitchFamily="18" charset="0"/>
              <a:cs typeface="Times New Roman" panose="02020603050405020304" pitchFamily="18" charset="0"/>
            </a:endParaRPr>
          </a:p>
        </p:txBody>
      </p:sp>
      <p:sp>
        <p:nvSpPr>
          <p:cNvPr id="68" name="13_Class01_Geometry_side">
            <a:extLst>
              <a:ext uri="{FF2B5EF4-FFF2-40B4-BE49-F238E27FC236}">
                <a16:creationId xmlns:a16="http://schemas.microsoft.com/office/drawing/2014/main" id="{3D9BA55E-AC66-4287-8FE5-5DE5E2E57064}"/>
              </a:ext>
            </a:extLst>
          </p:cNvPr>
          <p:cNvSpPr/>
          <p:nvPr/>
        </p:nvSpPr>
        <p:spPr>
          <a:xfrm>
            <a:off x="1377898" y="4591442"/>
            <a:ext cx="146304" cy="521208"/>
          </a:xfrm>
          <a:custGeom>
            <a:avLst/>
            <a:gdLst/>
            <a:ahLst/>
            <a:cxnLst/>
            <a:rect l="l" t="t" r="r" b="b"/>
            <a:pathLst>
              <a:path w="146304" h="521208">
                <a:moveTo>
                  <a:pt x="0" y="118872"/>
                </a:moveTo>
                <a:lnTo>
                  <a:pt x="146304" y="0"/>
                </a:lnTo>
                <a:lnTo>
                  <a:pt x="146304" y="402336"/>
                </a:lnTo>
                <a:lnTo>
                  <a:pt x="0" y="521208"/>
                </a:lnTo>
                <a:close/>
              </a:path>
            </a:pathLst>
          </a:custGeom>
          <a:solidFill>
            <a:srgbClr val="182C3B"/>
          </a:solidFill>
          <a:ln w="13335" cap="flat" cmpd="sng" algn="ctr">
            <a:solidFill>
              <a:srgbClr val="38C9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effectLst/>
              <a:uLnTx/>
              <a:uFillTx/>
              <a:latin typeface="Times New Roman" panose="02020603050405020304" pitchFamily="18" charset="0"/>
              <a:cs typeface="Times New Roman" panose="02020603050405020304" pitchFamily="18" charset="0"/>
            </a:endParaRPr>
          </a:p>
        </p:txBody>
      </p:sp>
      <p:sp>
        <p:nvSpPr>
          <p:cNvPr id="69" name="13_Class01_Geometry_front">
            <a:extLst>
              <a:ext uri="{FF2B5EF4-FFF2-40B4-BE49-F238E27FC236}">
                <a16:creationId xmlns:a16="http://schemas.microsoft.com/office/drawing/2014/main" id="{3025CB5E-DCB9-18B6-363D-34CD922C447D}"/>
              </a:ext>
            </a:extLst>
          </p:cNvPr>
          <p:cNvSpPr/>
          <p:nvPr/>
        </p:nvSpPr>
        <p:spPr>
          <a:xfrm>
            <a:off x="847546" y="4710314"/>
            <a:ext cx="530352" cy="402336"/>
          </a:xfrm>
          <a:prstGeom prst="rect">
            <a:avLst/>
          </a:prstGeom>
          <a:solidFill>
            <a:srgbClr val="112230"/>
          </a:solidFill>
          <a:ln w="13335" cap="flat" cmpd="sng" algn="ctr">
            <a:solidFill>
              <a:srgbClr val="38C9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effectLst/>
              <a:uLnTx/>
              <a:uFillTx/>
              <a:latin typeface="Times New Roman" panose="02020603050405020304" pitchFamily="18" charset="0"/>
              <a:cs typeface="Times New Roman" panose="02020603050405020304" pitchFamily="18" charset="0"/>
            </a:endParaRPr>
          </a:p>
        </p:txBody>
      </p:sp>
      <p:cxnSp>
        <p:nvCxnSpPr>
          <p:cNvPr id="70" name="13_Class01_Profile_Trace">
            <a:extLst>
              <a:ext uri="{FF2B5EF4-FFF2-40B4-BE49-F238E27FC236}">
                <a16:creationId xmlns:a16="http://schemas.microsoft.com/office/drawing/2014/main" id="{A4A0168B-7A35-18C5-7E9C-B4D60757D7C3}"/>
              </a:ext>
            </a:extLst>
          </p:cNvPr>
          <p:cNvCxnSpPr/>
          <p:nvPr/>
        </p:nvCxnSpPr>
        <p:spPr>
          <a:xfrm>
            <a:off x="938986" y="4746890"/>
            <a:ext cx="365760" cy="0"/>
          </a:xfrm>
          <a:prstGeom prst="line">
            <a:avLst/>
          </a:prstGeom>
          <a:noFill/>
          <a:ln w="6985" cap="flat" cmpd="sng" algn="ctr">
            <a:solidFill>
              <a:srgbClr val="A7B8C6"/>
            </a:solidFill>
            <a:prstDash val="solid"/>
            <a:miter lim="800000"/>
          </a:ln>
          <a:effectLst/>
        </p:spPr>
      </p:cxnSp>
      <p:sp>
        <p:nvSpPr>
          <p:cNvPr id="71" name="14_Class01_Title">
            <a:extLst>
              <a:ext uri="{FF2B5EF4-FFF2-40B4-BE49-F238E27FC236}">
                <a16:creationId xmlns:a16="http://schemas.microsoft.com/office/drawing/2014/main" id="{CD8A6407-04BD-6FBF-1B49-4BF07E46AB1B}"/>
              </a:ext>
            </a:extLst>
          </p:cNvPr>
          <p:cNvSpPr txBox="1"/>
          <p:nvPr/>
        </p:nvSpPr>
        <p:spPr>
          <a:xfrm>
            <a:off x="2033884" y="4455906"/>
            <a:ext cx="1583767" cy="276999"/>
          </a:xfrm>
          <a:prstGeom prst="rect">
            <a:avLst/>
          </a:prstGeom>
          <a:noFill/>
        </p:spPr>
        <p:txBody>
          <a:bodyPr wrap="none" lIns="0" tIns="0" rIns="0" bIns="0" anchor="t">
            <a:spAutoFit/>
          </a:bodyPr>
          <a:lstStyle/>
          <a:p>
            <a:pPr defTabSz="914400"/>
            <a:r>
              <a:rPr sz="1800" b="1" dirty="0">
                <a:latin typeface="Times New Roman" panose="02020603050405020304" pitchFamily="18" charset="0"/>
                <a:cs typeface="Times New Roman" panose="02020603050405020304" pitchFamily="18" charset="0"/>
              </a:rPr>
              <a:t>Single extrusion</a:t>
            </a:r>
          </a:p>
        </p:txBody>
      </p:sp>
      <p:sp>
        <p:nvSpPr>
          <p:cNvPr id="72" name="15_Class01_Description">
            <a:extLst>
              <a:ext uri="{FF2B5EF4-FFF2-40B4-BE49-F238E27FC236}">
                <a16:creationId xmlns:a16="http://schemas.microsoft.com/office/drawing/2014/main" id="{ECCCFD8D-1BF6-9E62-83CA-D8E44718588B}"/>
              </a:ext>
            </a:extLst>
          </p:cNvPr>
          <p:cNvSpPr txBox="1"/>
          <p:nvPr/>
        </p:nvSpPr>
        <p:spPr>
          <a:xfrm>
            <a:off x="1984719" y="4985678"/>
            <a:ext cx="2370842" cy="467820"/>
          </a:xfrm>
          <a:prstGeom prst="rect">
            <a:avLst/>
          </a:prstGeom>
          <a:noFill/>
        </p:spPr>
        <p:txBody>
          <a:bodyPr wrap="square" lIns="0" tIns="0" rIns="0" bIns="0" anchor="t">
            <a:spAutoFit/>
          </a:bodyPr>
          <a:lstStyle/>
          <a:p>
            <a:pPr defTabSz="914400">
              <a:lnSpc>
                <a:spcPct val="95000"/>
              </a:lnSpc>
            </a:pPr>
            <a:r>
              <a:rPr sz="1600" dirty="0">
                <a:latin typeface="Times New Roman" panose="02020603050405020304" pitchFamily="18" charset="0"/>
                <a:cs typeface="Times New Roman" panose="02020603050405020304" pitchFamily="18" charset="0"/>
              </a:rPr>
              <a:t>One supported planar profile
One distance extrusion</a:t>
            </a:r>
          </a:p>
        </p:txBody>
      </p:sp>
      <p:sp>
        <p:nvSpPr>
          <p:cNvPr id="73" name="16_Class02_Number">
            <a:extLst>
              <a:ext uri="{FF2B5EF4-FFF2-40B4-BE49-F238E27FC236}">
                <a16:creationId xmlns:a16="http://schemas.microsoft.com/office/drawing/2014/main" id="{72466382-AA2F-310D-A215-CCCDA787EDD9}"/>
              </a:ext>
            </a:extLst>
          </p:cNvPr>
          <p:cNvSpPr txBox="1"/>
          <p:nvPr/>
        </p:nvSpPr>
        <p:spPr>
          <a:xfrm>
            <a:off x="6134638" y="4309374"/>
            <a:ext cx="153888" cy="184666"/>
          </a:xfrm>
          <a:prstGeom prst="rect">
            <a:avLst/>
          </a:prstGeom>
          <a:noFill/>
        </p:spPr>
        <p:txBody>
          <a:bodyPr wrap="none" lIns="0" tIns="0" rIns="0" bIns="0" anchor="t">
            <a:spAutoFit/>
          </a:bodyPr>
          <a:lstStyle/>
          <a:p>
            <a:pPr defTabSz="914400"/>
            <a:r>
              <a:rPr sz="1200" dirty="0">
                <a:latin typeface="Times New Roman" panose="02020603050405020304" pitchFamily="18" charset="0"/>
                <a:cs typeface="Times New Roman" panose="02020603050405020304" pitchFamily="18" charset="0"/>
              </a:rPr>
              <a:t>02</a:t>
            </a:r>
          </a:p>
        </p:txBody>
      </p:sp>
      <p:sp>
        <p:nvSpPr>
          <p:cNvPr id="74" name="17_Class02_Geometry_top">
            <a:extLst>
              <a:ext uri="{FF2B5EF4-FFF2-40B4-BE49-F238E27FC236}">
                <a16:creationId xmlns:a16="http://schemas.microsoft.com/office/drawing/2014/main" id="{66EC0BB9-85E5-03A1-4442-86E21DA985A2}"/>
              </a:ext>
            </a:extLst>
          </p:cNvPr>
          <p:cNvSpPr/>
          <p:nvPr/>
        </p:nvSpPr>
        <p:spPr>
          <a:xfrm>
            <a:off x="6420969" y="4505714"/>
            <a:ext cx="822960" cy="128016"/>
          </a:xfrm>
          <a:custGeom>
            <a:avLst/>
            <a:gdLst/>
            <a:ahLst/>
            <a:cxnLst/>
            <a:rect l="l" t="t" r="r" b="b"/>
            <a:pathLst>
              <a:path w="822960" h="128016">
                <a:moveTo>
                  <a:pt x="0" y="128016"/>
                </a:moveTo>
                <a:lnTo>
                  <a:pt x="676656" y="128016"/>
                </a:lnTo>
                <a:lnTo>
                  <a:pt x="822960" y="0"/>
                </a:lnTo>
                <a:lnTo>
                  <a:pt x="146304" y="0"/>
                </a:lnTo>
                <a:close/>
              </a:path>
            </a:pathLst>
          </a:custGeom>
          <a:solidFill>
            <a:srgbClr val="182C3B"/>
          </a:solidFill>
          <a:ln w="12700" cap="flat" cmpd="sng" algn="ctr">
            <a:solidFill>
              <a:srgbClr val="38C9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effectLst/>
              <a:uLnTx/>
              <a:uFillTx/>
              <a:latin typeface="Times New Roman" panose="02020603050405020304" pitchFamily="18" charset="0"/>
              <a:cs typeface="Times New Roman" panose="02020603050405020304" pitchFamily="18" charset="0"/>
            </a:endParaRPr>
          </a:p>
        </p:txBody>
      </p:sp>
      <p:sp>
        <p:nvSpPr>
          <p:cNvPr id="75" name="17_Class02_Geometry_side">
            <a:extLst>
              <a:ext uri="{FF2B5EF4-FFF2-40B4-BE49-F238E27FC236}">
                <a16:creationId xmlns:a16="http://schemas.microsoft.com/office/drawing/2014/main" id="{0F56350F-4632-E9BC-A115-CB64B05DCF5F}"/>
              </a:ext>
            </a:extLst>
          </p:cNvPr>
          <p:cNvSpPr/>
          <p:nvPr/>
        </p:nvSpPr>
        <p:spPr>
          <a:xfrm>
            <a:off x="7097625" y="4505714"/>
            <a:ext cx="146304" cy="548640"/>
          </a:xfrm>
          <a:custGeom>
            <a:avLst/>
            <a:gdLst/>
            <a:ahLst/>
            <a:cxnLst/>
            <a:rect l="l" t="t" r="r" b="b"/>
            <a:pathLst>
              <a:path w="146304" h="548640">
                <a:moveTo>
                  <a:pt x="0" y="128016"/>
                </a:moveTo>
                <a:lnTo>
                  <a:pt x="146304" y="0"/>
                </a:lnTo>
                <a:lnTo>
                  <a:pt x="146304" y="420624"/>
                </a:lnTo>
                <a:lnTo>
                  <a:pt x="0" y="548640"/>
                </a:lnTo>
                <a:close/>
              </a:path>
            </a:pathLst>
          </a:custGeom>
          <a:solidFill>
            <a:srgbClr val="182C3B"/>
          </a:solidFill>
          <a:ln w="12700" cap="flat" cmpd="sng" algn="ctr">
            <a:solidFill>
              <a:srgbClr val="38C9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effectLst/>
              <a:uLnTx/>
              <a:uFillTx/>
              <a:latin typeface="Times New Roman" panose="02020603050405020304" pitchFamily="18" charset="0"/>
              <a:cs typeface="Times New Roman" panose="02020603050405020304" pitchFamily="18" charset="0"/>
            </a:endParaRPr>
          </a:p>
        </p:txBody>
      </p:sp>
      <p:sp>
        <p:nvSpPr>
          <p:cNvPr id="76" name="17_Class02_Geometry_front">
            <a:extLst>
              <a:ext uri="{FF2B5EF4-FFF2-40B4-BE49-F238E27FC236}">
                <a16:creationId xmlns:a16="http://schemas.microsoft.com/office/drawing/2014/main" id="{074956A1-BAA9-66F4-C802-DC6283D6EF55}"/>
              </a:ext>
            </a:extLst>
          </p:cNvPr>
          <p:cNvSpPr/>
          <p:nvPr/>
        </p:nvSpPr>
        <p:spPr>
          <a:xfrm>
            <a:off x="6420969" y="4633730"/>
            <a:ext cx="676656" cy="420624"/>
          </a:xfrm>
          <a:prstGeom prst="rect">
            <a:avLst/>
          </a:prstGeom>
          <a:solidFill>
            <a:srgbClr val="112230"/>
          </a:solidFill>
          <a:ln w="12700" cap="flat" cmpd="sng" algn="ctr">
            <a:solidFill>
              <a:srgbClr val="38C9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effectLst/>
              <a:uLnTx/>
              <a:uFillTx/>
              <a:latin typeface="Times New Roman" panose="02020603050405020304" pitchFamily="18" charset="0"/>
              <a:cs typeface="Times New Roman" panose="02020603050405020304" pitchFamily="18" charset="0"/>
            </a:endParaRPr>
          </a:p>
        </p:txBody>
      </p:sp>
      <p:sp>
        <p:nvSpPr>
          <p:cNvPr id="77" name="17_Class02_Cut_Entrance">
            <a:extLst>
              <a:ext uri="{FF2B5EF4-FFF2-40B4-BE49-F238E27FC236}">
                <a16:creationId xmlns:a16="http://schemas.microsoft.com/office/drawing/2014/main" id="{06DD76DA-E418-B599-911F-4022641A20ED}"/>
              </a:ext>
            </a:extLst>
          </p:cNvPr>
          <p:cNvSpPr/>
          <p:nvPr/>
        </p:nvSpPr>
        <p:spPr>
          <a:xfrm>
            <a:off x="6649569" y="4798322"/>
            <a:ext cx="274320" cy="164592"/>
          </a:xfrm>
          <a:prstGeom prst="ellipse">
            <a:avLst/>
          </a:prstGeom>
          <a:noFill/>
          <a:ln w="12700" cap="flat" cmpd="sng" algn="ctr">
            <a:solidFill>
              <a:srgbClr val="A7B8C6"/>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effectLst/>
              <a:uLnTx/>
              <a:uFillTx/>
              <a:latin typeface="Times New Roman" panose="02020603050405020304" pitchFamily="18" charset="0"/>
              <a:cs typeface="Times New Roman" panose="02020603050405020304" pitchFamily="18" charset="0"/>
            </a:endParaRPr>
          </a:p>
        </p:txBody>
      </p:sp>
      <p:sp>
        <p:nvSpPr>
          <p:cNvPr id="78" name="17_Class02_Cut_Exit_Dashed">
            <a:extLst>
              <a:ext uri="{FF2B5EF4-FFF2-40B4-BE49-F238E27FC236}">
                <a16:creationId xmlns:a16="http://schemas.microsoft.com/office/drawing/2014/main" id="{DCE9E0D3-A095-6CC0-D07A-4E98A8FECABC}"/>
              </a:ext>
            </a:extLst>
          </p:cNvPr>
          <p:cNvSpPr/>
          <p:nvPr/>
        </p:nvSpPr>
        <p:spPr>
          <a:xfrm>
            <a:off x="6795873" y="4679450"/>
            <a:ext cx="274320" cy="155448"/>
          </a:xfrm>
          <a:prstGeom prst="ellipse">
            <a:avLst/>
          </a:prstGeom>
          <a:noFill/>
          <a:ln w="10160" cap="flat" cmpd="sng" algn="ctr">
            <a:solidFill>
              <a:srgbClr val="A7B8C6"/>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effectLst/>
              <a:uLnTx/>
              <a:uFillTx/>
              <a:latin typeface="Times New Roman" panose="02020603050405020304" pitchFamily="18" charset="0"/>
              <a:cs typeface="Times New Roman" panose="02020603050405020304" pitchFamily="18" charset="0"/>
            </a:endParaRPr>
          </a:p>
        </p:txBody>
      </p:sp>
      <p:cxnSp>
        <p:nvCxnSpPr>
          <p:cNvPr id="79" name="17_Class02_Cut_Axis_1">
            <a:extLst>
              <a:ext uri="{FF2B5EF4-FFF2-40B4-BE49-F238E27FC236}">
                <a16:creationId xmlns:a16="http://schemas.microsoft.com/office/drawing/2014/main" id="{06EBE256-3FB2-588D-A7F9-AF4B0D66ABBA}"/>
              </a:ext>
            </a:extLst>
          </p:cNvPr>
          <p:cNvCxnSpPr/>
          <p:nvPr/>
        </p:nvCxnSpPr>
        <p:spPr>
          <a:xfrm flipV="1">
            <a:off x="6786729" y="4706882"/>
            <a:ext cx="146304" cy="109728"/>
          </a:xfrm>
          <a:prstGeom prst="line">
            <a:avLst/>
          </a:prstGeom>
          <a:noFill/>
          <a:ln w="7620" cap="flat" cmpd="sng" algn="ctr">
            <a:solidFill>
              <a:srgbClr val="A7B8C6"/>
            </a:solidFill>
            <a:prstDash val="dash"/>
            <a:miter lim="800000"/>
          </a:ln>
          <a:effectLst/>
        </p:spPr>
      </p:cxnSp>
      <p:cxnSp>
        <p:nvCxnSpPr>
          <p:cNvPr id="80" name="17_Class02_Cut_Axis_2">
            <a:extLst>
              <a:ext uri="{FF2B5EF4-FFF2-40B4-BE49-F238E27FC236}">
                <a16:creationId xmlns:a16="http://schemas.microsoft.com/office/drawing/2014/main" id="{5032313D-C13D-3D57-CBA2-0F443066F8EB}"/>
              </a:ext>
            </a:extLst>
          </p:cNvPr>
          <p:cNvCxnSpPr/>
          <p:nvPr/>
        </p:nvCxnSpPr>
        <p:spPr>
          <a:xfrm flipV="1">
            <a:off x="6741009" y="4816610"/>
            <a:ext cx="146304" cy="118872"/>
          </a:xfrm>
          <a:prstGeom prst="line">
            <a:avLst/>
          </a:prstGeom>
          <a:noFill/>
          <a:ln w="7620" cap="flat" cmpd="sng" algn="ctr">
            <a:solidFill>
              <a:srgbClr val="A7B8C6"/>
            </a:solidFill>
            <a:prstDash val="dash"/>
            <a:miter lim="800000"/>
          </a:ln>
          <a:effectLst/>
        </p:spPr>
      </p:cxnSp>
      <p:sp>
        <p:nvSpPr>
          <p:cNvPr id="81" name="18_Class02_Title">
            <a:extLst>
              <a:ext uri="{FF2B5EF4-FFF2-40B4-BE49-F238E27FC236}">
                <a16:creationId xmlns:a16="http://schemas.microsoft.com/office/drawing/2014/main" id="{6E284354-5D6B-8F2E-A07A-184D985345F8}"/>
              </a:ext>
            </a:extLst>
          </p:cNvPr>
          <p:cNvSpPr txBox="1"/>
          <p:nvPr/>
        </p:nvSpPr>
        <p:spPr>
          <a:xfrm>
            <a:off x="7518249" y="4384766"/>
            <a:ext cx="3092834" cy="498598"/>
          </a:xfrm>
          <a:prstGeom prst="rect">
            <a:avLst/>
          </a:prstGeom>
          <a:noFill/>
        </p:spPr>
        <p:txBody>
          <a:bodyPr wrap="none" lIns="0" tIns="0" rIns="0" bIns="0" anchor="t">
            <a:spAutoFit/>
          </a:bodyPr>
          <a:lstStyle/>
          <a:p>
            <a:pPr defTabSz="914400">
              <a:lnSpc>
                <a:spcPct val="90000"/>
              </a:lnSpc>
            </a:pPr>
            <a:r>
              <a:rPr sz="1800" b="1" dirty="0">
                <a:latin typeface="Times New Roman" panose="02020603050405020304" pitchFamily="18" charset="0"/>
                <a:cs typeface="Times New Roman" panose="02020603050405020304" pitchFamily="18" charset="0"/>
              </a:rPr>
              <a:t>Base extrusion +
straight through cylindrical cut</a:t>
            </a:r>
          </a:p>
        </p:txBody>
      </p:sp>
      <p:sp>
        <p:nvSpPr>
          <p:cNvPr id="82" name="19_Class02_Description">
            <a:extLst>
              <a:ext uri="{FF2B5EF4-FFF2-40B4-BE49-F238E27FC236}">
                <a16:creationId xmlns:a16="http://schemas.microsoft.com/office/drawing/2014/main" id="{6BDF350B-A046-3878-0567-000CFC595B6A}"/>
              </a:ext>
            </a:extLst>
          </p:cNvPr>
          <p:cNvSpPr txBox="1"/>
          <p:nvPr/>
        </p:nvSpPr>
        <p:spPr>
          <a:xfrm>
            <a:off x="7518249" y="4981202"/>
            <a:ext cx="2146421" cy="467820"/>
          </a:xfrm>
          <a:prstGeom prst="rect">
            <a:avLst/>
          </a:prstGeom>
          <a:noFill/>
        </p:spPr>
        <p:txBody>
          <a:bodyPr wrap="none" lIns="0" tIns="0" rIns="0" bIns="0" anchor="t">
            <a:spAutoFit/>
          </a:bodyPr>
          <a:lstStyle/>
          <a:p>
            <a:pPr defTabSz="914400">
              <a:lnSpc>
                <a:spcPct val="95000"/>
              </a:lnSpc>
            </a:pPr>
            <a:r>
              <a:rPr sz="1600" dirty="0">
                <a:latin typeface="Times New Roman" panose="02020603050405020304" pitchFamily="18" charset="0"/>
                <a:cs typeface="Times New Roman" panose="02020603050405020304" pitchFamily="18" charset="0"/>
              </a:rPr>
              <a:t>One coupled base-and-cut
construction</a:t>
            </a:r>
          </a:p>
        </p:txBody>
      </p:sp>
      <p:cxnSp>
        <p:nvCxnSpPr>
          <p:cNvPr id="83" name="20_Boundary_Line">
            <a:extLst>
              <a:ext uri="{FF2B5EF4-FFF2-40B4-BE49-F238E27FC236}">
                <a16:creationId xmlns:a16="http://schemas.microsoft.com/office/drawing/2014/main" id="{31A6387F-8CE4-5192-524F-53144E6E79A0}"/>
              </a:ext>
            </a:extLst>
          </p:cNvPr>
          <p:cNvCxnSpPr>
            <a:cxnSpLocks/>
          </p:cNvCxnSpPr>
          <p:nvPr/>
        </p:nvCxnSpPr>
        <p:spPr>
          <a:xfrm>
            <a:off x="485379" y="5877272"/>
            <a:ext cx="11521280" cy="0"/>
          </a:xfrm>
          <a:prstGeom prst="line">
            <a:avLst/>
          </a:prstGeom>
          <a:noFill/>
          <a:ln w="8255" cap="flat" cmpd="sng" algn="ctr">
            <a:solidFill>
              <a:srgbClr val="28506B"/>
            </a:solidFill>
            <a:prstDash val="solid"/>
            <a:miter lim="800000"/>
          </a:ln>
          <a:effectLst/>
        </p:spPr>
      </p:cxnSp>
      <p:sp>
        <p:nvSpPr>
          <p:cNvPr id="84" name="21_Boundary_Text">
            <a:extLst>
              <a:ext uri="{FF2B5EF4-FFF2-40B4-BE49-F238E27FC236}">
                <a16:creationId xmlns:a16="http://schemas.microsoft.com/office/drawing/2014/main" id="{56D855CF-875A-36CA-F303-0005C19AA828}"/>
              </a:ext>
            </a:extLst>
          </p:cNvPr>
          <p:cNvSpPr txBox="1"/>
          <p:nvPr/>
        </p:nvSpPr>
        <p:spPr>
          <a:xfrm>
            <a:off x="480653" y="6063449"/>
            <a:ext cx="4853380" cy="679610"/>
          </a:xfrm>
          <a:prstGeom prst="rect">
            <a:avLst/>
          </a:prstGeom>
          <a:noFill/>
        </p:spPr>
        <p:txBody>
          <a:bodyPr wrap="none" lIns="0" tIns="0" rIns="0" bIns="0" anchor="t">
            <a:spAutoFit/>
          </a:bodyPr>
          <a:lstStyle/>
          <a:p>
            <a:pPr defTabSz="914400">
              <a:lnSpc>
                <a:spcPct val="92000"/>
              </a:lnSpc>
            </a:pPr>
            <a:r>
              <a:rPr sz="1600" b="1" dirty="0">
                <a:latin typeface="Times New Roman" panose="02020603050405020304" pitchFamily="18" charset="0"/>
                <a:cs typeface="Times New Roman" panose="02020603050405020304" pitchFamily="18" charset="0"/>
              </a:rPr>
              <a:t>Input boundary:</a:t>
            </a:r>
            <a:r>
              <a:rPr sz="1600" dirty="0">
                <a:latin typeface="Times New Roman" panose="02020603050405020304" pitchFamily="18" charset="0"/>
                <a:cs typeface="Times New Roman" panose="02020603050405020304" pitchFamily="18" charset="0"/>
              </a:rPr>
              <a:t> Final history-free STEP/B-rep only.</a:t>
            </a:r>
          </a:p>
          <a:p>
            <a:pPr defTabSz="914400">
              <a:lnSpc>
                <a:spcPct val="92000"/>
              </a:lnSpc>
            </a:pPr>
            <a:r>
              <a:rPr sz="1600" b="1" dirty="0">
                <a:latin typeface="Times New Roman" panose="02020603050405020304" pitchFamily="18" charset="0"/>
                <a:cs typeface="Times New Roman" panose="02020603050405020304" pitchFamily="18" charset="0"/>
              </a:rPr>
              <a:t>Claim boundary:</a:t>
            </a:r>
            <a:r>
              <a:rPr sz="1600" dirty="0">
                <a:latin typeface="Times New Roman" panose="02020603050405020304" pitchFamily="18" charset="0"/>
                <a:cs typeface="Times New Roman" panose="02020603050405020304" pitchFamily="18" charset="0"/>
              </a:rPr>
              <a:t> Plausible construction explanation only.</a:t>
            </a:r>
          </a:p>
          <a:p>
            <a:pPr defTabSz="914400">
              <a:lnSpc>
                <a:spcPct val="92000"/>
              </a:lnSpc>
            </a:pPr>
            <a:r>
              <a:rPr sz="1600" dirty="0">
                <a:latin typeface="Times New Roman" panose="02020603050405020304" pitchFamily="18" charset="0"/>
                <a:cs typeface="Times New Roman" panose="02020603050405020304" pitchFamily="18" charset="0"/>
              </a:rPr>
              <a:t>Sequence uniqueness remains unresolved.</a:t>
            </a:r>
          </a:p>
        </p:txBody>
      </p:sp>
    </p:spTree>
    <p:extLst>
      <p:ext uri="{BB962C8B-B14F-4D97-AF65-F5344CB8AC3E}">
        <p14:creationId xmlns:p14="http://schemas.microsoft.com/office/powerpoint/2010/main" val="2037842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32B7D-5C82-5F83-E64F-D4323D1B83EE}"/>
            </a:ext>
          </a:extLst>
        </p:cNvPr>
        <p:cNvGrpSpPr/>
        <p:nvPr/>
      </p:nvGrpSpPr>
      <p:grpSpPr>
        <a:xfrm>
          <a:off x="0" y="0"/>
          <a:ext cx="0" cy="0"/>
          <a:chOff x="0" y="0"/>
          <a:chExt cx="0" cy="0"/>
        </a:xfrm>
      </p:grpSpPr>
      <p:sp>
        <p:nvSpPr>
          <p:cNvPr id="29" name="Fusion_UI_Frame">
            <a:extLst>
              <a:ext uri="{FF2B5EF4-FFF2-40B4-BE49-F238E27FC236}">
                <a16:creationId xmlns:a16="http://schemas.microsoft.com/office/drawing/2014/main" id="{C06240E3-3B0F-C719-3F62-E196457A1B03}"/>
              </a:ext>
            </a:extLst>
          </p:cNvPr>
          <p:cNvSpPr/>
          <p:nvPr/>
        </p:nvSpPr>
        <p:spPr>
          <a:xfrm>
            <a:off x="8082686" y="2565399"/>
            <a:ext cx="1968500" cy="2077651"/>
          </a:xfrm>
          <a:prstGeom prst="roundRect">
            <a:avLst>
              <a:gd name="adj" fmla="val 2000"/>
            </a:avLst>
          </a:prstGeom>
          <a:solidFill>
            <a:srgbClr val="FFFFFF"/>
          </a:solidFill>
          <a:ln w="12700">
            <a:solidFill>
              <a:srgbClr val="B1B5B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2F239269-0F63-0AE8-C69F-053A12F0070B}"/>
              </a:ext>
            </a:extLst>
          </p:cNvPr>
          <p:cNvSpPr/>
          <p:nvPr/>
        </p:nvSpPr>
        <p:spPr>
          <a:xfrm>
            <a:off x="92842" y="620688"/>
            <a:ext cx="6904941" cy="107184"/>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kumimoji="1" lang="zh-CN" altLang="en-US" dirty="0">
              <a:solidFill>
                <a:schemeClr val="tx1"/>
              </a:solidFill>
            </a:endParaRPr>
          </a:p>
        </p:txBody>
      </p:sp>
      <p:sp>
        <p:nvSpPr>
          <p:cNvPr id="3" name="标题 2">
            <a:extLst>
              <a:ext uri="{FF2B5EF4-FFF2-40B4-BE49-F238E27FC236}">
                <a16:creationId xmlns:a16="http://schemas.microsoft.com/office/drawing/2014/main" id="{5A0D0BC9-0A5D-A35D-8040-D3FCC34AAF80}"/>
              </a:ext>
            </a:extLst>
          </p:cNvPr>
          <p:cNvSpPr>
            <a:spLocks noGrp="1"/>
          </p:cNvSpPr>
          <p:nvPr>
            <p:ph type="title"/>
          </p:nvPr>
        </p:nvSpPr>
        <p:spPr>
          <a:xfrm>
            <a:off x="119336" y="76228"/>
            <a:ext cx="9695205" cy="531544"/>
          </a:xfrm>
        </p:spPr>
        <p:txBody>
          <a:bodyPr/>
          <a:lstStyle/>
          <a:p>
            <a:r>
              <a:rPr lang="en-US" altLang="zh-CN" dirty="0">
                <a:solidFill>
                  <a:srgbClr val="021C63"/>
                </a:solidFill>
                <a:latin typeface="Arial" panose="020B0604020202020204" pitchFamily="34" charset="0"/>
              </a:rPr>
              <a:t>Gate 0–4 Evidence Pipeline</a:t>
            </a:r>
            <a:br>
              <a:rPr lang="zh-CN" altLang="en-US" dirty="0">
                <a:solidFill>
                  <a:srgbClr val="021C63"/>
                </a:solidFill>
                <a:latin typeface="Arial" panose="020B0604020202020204" pitchFamily="34" charset="0"/>
              </a:rPr>
            </a:br>
            <a:endParaRPr lang="zh-CN" altLang="en-US" dirty="0"/>
          </a:p>
        </p:txBody>
      </p:sp>
      <p:sp>
        <p:nvSpPr>
          <p:cNvPr id="2" name="Main_Title">
            <a:extLst>
              <a:ext uri="{FF2B5EF4-FFF2-40B4-BE49-F238E27FC236}">
                <a16:creationId xmlns:a16="http://schemas.microsoft.com/office/drawing/2014/main" id="{DD747C07-133B-6084-E66E-410F0B7DCB4C}"/>
              </a:ext>
            </a:extLst>
          </p:cNvPr>
          <p:cNvSpPr txBox="1"/>
          <p:nvPr/>
        </p:nvSpPr>
        <p:spPr>
          <a:xfrm>
            <a:off x="266700" y="825500"/>
            <a:ext cx="6604000" cy="369204"/>
          </a:xfrm>
          <a:prstGeom prst="rect">
            <a:avLst/>
          </a:prstGeom>
          <a:noFill/>
        </p:spPr>
        <p:txBody>
          <a:bodyPr vert="horz" wrap="square" lIns="0" tIns="0" rIns="0" bIns="0" rtlCol="0" anchor="ctr">
            <a:noAutofit/>
          </a:bodyPr>
          <a:lstStyle/>
          <a:p>
            <a:pPr>
              <a:lnSpc>
                <a:spcPct val="92000"/>
              </a:lnSpc>
            </a:pPr>
            <a:endParaRPr lang="zh-CN" altLang="en-US" sz="3000" b="1" dirty="0">
              <a:solidFill>
                <a:srgbClr val="021C63"/>
              </a:solidFill>
              <a:latin typeface="Arial" panose="020B0604020202020204" pitchFamily="34" charset="0"/>
            </a:endParaRPr>
          </a:p>
        </p:txBody>
      </p:sp>
      <p:sp>
        <p:nvSpPr>
          <p:cNvPr id="5" name="Observed_Input_Label">
            <a:extLst>
              <a:ext uri="{FF2B5EF4-FFF2-40B4-BE49-F238E27FC236}">
                <a16:creationId xmlns:a16="http://schemas.microsoft.com/office/drawing/2014/main" id="{65320521-F55C-18D0-EC91-753DCB8F7988}"/>
              </a:ext>
            </a:extLst>
          </p:cNvPr>
          <p:cNvSpPr txBox="1"/>
          <p:nvPr/>
        </p:nvSpPr>
        <p:spPr>
          <a:xfrm>
            <a:off x="241300" y="2362200"/>
            <a:ext cx="1714500" cy="738407"/>
          </a:xfrm>
          <a:prstGeom prst="rect">
            <a:avLst/>
          </a:prstGeom>
          <a:noFill/>
        </p:spPr>
        <p:txBody>
          <a:bodyPr vert="horz" wrap="square" lIns="0" tIns="0" rIns="0" bIns="0" rtlCol="0" anchor="ctr">
            <a:noAutofit/>
          </a:bodyPr>
          <a:lstStyle/>
          <a:p>
            <a:pPr>
              <a:lnSpc>
                <a:spcPct val="92000"/>
              </a:lnSpc>
            </a:pPr>
            <a:r>
              <a:rPr lang="en-US" altLang="zh-CN" sz="1120" b="1">
                <a:solidFill>
                  <a:srgbClr val="4C5158"/>
                </a:solidFill>
                <a:latin typeface="Times New Roman" panose="02020603050405020304" pitchFamily="18" charset="0"/>
                <a:cs typeface="Times New Roman" panose="02020603050405020304" pitchFamily="18" charset="0"/>
              </a:rPr>
              <a:t>OBSERVED INPUT</a:t>
            </a:r>
            <a:endParaRPr lang="zh-CN" altLang="en-US" sz="1120" b="1">
              <a:solidFill>
                <a:srgbClr val="4C5158"/>
              </a:solidFill>
              <a:latin typeface="Times New Roman" panose="02020603050405020304" pitchFamily="18" charset="0"/>
              <a:cs typeface="Times New Roman" panose="02020603050405020304" pitchFamily="18" charset="0"/>
            </a:endParaRPr>
          </a:p>
        </p:txBody>
      </p:sp>
      <p:sp>
        <p:nvSpPr>
          <p:cNvPr id="9" name="Observed_Input_Title">
            <a:extLst>
              <a:ext uri="{FF2B5EF4-FFF2-40B4-BE49-F238E27FC236}">
                <a16:creationId xmlns:a16="http://schemas.microsoft.com/office/drawing/2014/main" id="{CEB99FF4-559B-1058-05AC-2943E88A379C}"/>
              </a:ext>
            </a:extLst>
          </p:cNvPr>
          <p:cNvSpPr txBox="1"/>
          <p:nvPr/>
        </p:nvSpPr>
        <p:spPr>
          <a:xfrm>
            <a:off x="59631" y="3952961"/>
            <a:ext cx="1333500" cy="705204"/>
          </a:xfrm>
          <a:prstGeom prst="rect">
            <a:avLst/>
          </a:prstGeom>
          <a:noFill/>
        </p:spPr>
        <p:txBody>
          <a:bodyPr vert="horz" wrap="square" lIns="0" tIns="0" rIns="0" bIns="0" rtlCol="0" anchor="ctr">
            <a:noAutofit/>
          </a:bodyPr>
          <a:lstStyle/>
          <a:p>
            <a:pPr algn="ctr">
              <a:lnSpc>
                <a:spcPct val="92000"/>
              </a:lnSpc>
            </a:pPr>
            <a:r>
              <a:rPr lang="en-US" altLang="zh-CN" sz="1500" b="1" dirty="0">
                <a:solidFill>
                  <a:srgbClr val="080808"/>
                </a:solidFill>
                <a:latin typeface="Times New Roman" panose="02020603050405020304" pitchFamily="18" charset="0"/>
                <a:cs typeface="Times New Roman" panose="02020603050405020304" pitchFamily="18" charset="0"/>
              </a:rPr>
              <a:t>History-free</a:t>
            </a:r>
          </a:p>
          <a:p>
            <a:pPr algn="ctr">
              <a:lnSpc>
                <a:spcPct val="92000"/>
              </a:lnSpc>
            </a:pPr>
            <a:r>
              <a:rPr lang="en-US" altLang="zh-CN" sz="1500" b="1" dirty="0">
                <a:solidFill>
                  <a:srgbClr val="080808"/>
                </a:solidFill>
                <a:latin typeface="Times New Roman" panose="02020603050405020304" pitchFamily="18" charset="0"/>
                <a:cs typeface="Times New Roman" panose="02020603050405020304" pitchFamily="18" charset="0"/>
              </a:rPr>
              <a:t>STEP / B-rep</a:t>
            </a:r>
            <a:endParaRPr lang="zh-CN" altLang="en-US" sz="1500" b="1" dirty="0">
              <a:solidFill>
                <a:srgbClr val="080808"/>
              </a:solidFill>
              <a:latin typeface="Times New Roman" panose="02020603050405020304" pitchFamily="18" charset="0"/>
              <a:cs typeface="Times New Roman" panose="02020603050405020304" pitchFamily="18" charset="0"/>
            </a:endParaRPr>
          </a:p>
        </p:txBody>
      </p:sp>
      <p:sp>
        <p:nvSpPr>
          <p:cNvPr id="10" name="Observed_Input_Subtitle">
            <a:extLst>
              <a:ext uri="{FF2B5EF4-FFF2-40B4-BE49-F238E27FC236}">
                <a16:creationId xmlns:a16="http://schemas.microsoft.com/office/drawing/2014/main" id="{793EEDD0-18C9-A275-9B34-CCD93354F07C}"/>
              </a:ext>
            </a:extLst>
          </p:cNvPr>
          <p:cNvSpPr txBox="1"/>
          <p:nvPr/>
        </p:nvSpPr>
        <p:spPr>
          <a:xfrm>
            <a:off x="-44450" y="4276261"/>
            <a:ext cx="1701800" cy="1107611"/>
          </a:xfrm>
          <a:prstGeom prst="rect">
            <a:avLst/>
          </a:prstGeom>
          <a:noFill/>
        </p:spPr>
        <p:txBody>
          <a:bodyPr vert="horz" wrap="square" lIns="0" tIns="0" rIns="0" bIns="0" rtlCol="0" anchor="ctr">
            <a:noAutofit/>
          </a:bodyPr>
          <a:lstStyle/>
          <a:p>
            <a:pPr algn="ctr">
              <a:lnSpc>
                <a:spcPct val="92000"/>
              </a:lnSpc>
            </a:pPr>
            <a:r>
              <a:rPr lang="en-US" altLang="zh-CN" sz="1080" dirty="0">
                <a:solidFill>
                  <a:srgbClr val="4C5158"/>
                </a:solidFill>
                <a:latin typeface="Times New Roman" panose="02020603050405020304" pitchFamily="18" charset="0"/>
                <a:cs typeface="Times New Roman" panose="02020603050405020304" pitchFamily="18" charset="0"/>
              </a:rPr>
              <a:t>Geometry + topology only</a:t>
            </a:r>
            <a:endParaRPr lang="zh-CN" altLang="en-US" sz="1080" dirty="0">
              <a:solidFill>
                <a:srgbClr val="4C5158"/>
              </a:solidFill>
              <a:latin typeface="Times New Roman" panose="02020603050405020304" pitchFamily="18" charset="0"/>
              <a:cs typeface="Times New Roman" panose="02020603050405020304" pitchFamily="18" charset="0"/>
            </a:endParaRPr>
          </a:p>
        </p:txBody>
      </p:sp>
      <p:sp>
        <p:nvSpPr>
          <p:cNvPr id="11" name="Arrow_Input_To_Facts">
            <a:extLst>
              <a:ext uri="{FF2B5EF4-FFF2-40B4-BE49-F238E27FC236}">
                <a16:creationId xmlns:a16="http://schemas.microsoft.com/office/drawing/2014/main" id="{2774F4BF-4A74-F72B-26B8-D9E0AE66FF9D}"/>
              </a:ext>
            </a:extLst>
          </p:cNvPr>
          <p:cNvSpPr/>
          <p:nvPr/>
        </p:nvSpPr>
        <p:spPr>
          <a:xfrm>
            <a:off x="1485900" y="3340100"/>
            <a:ext cx="419100" cy="254000"/>
          </a:xfrm>
          <a:prstGeom prst="rightArrow">
            <a:avLst/>
          </a:prstGeom>
          <a:solidFill>
            <a:srgbClr val="00B5E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12" name="Observed_Facts_Card">
            <a:extLst>
              <a:ext uri="{FF2B5EF4-FFF2-40B4-BE49-F238E27FC236}">
                <a16:creationId xmlns:a16="http://schemas.microsoft.com/office/drawing/2014/main" id="{3D107933-4FD4-C3D1-514D-EA44F2C02481}"/>
              </a:ext>
            </a:extLst>
          </p:cNvPr>
          <p:cNvSpPr/>
          <p:nvPr/>
        </p:nvSpPr>
        <p:spPr>
          <a:xfrm>
            <a:off x="1930400" y="2692400"/>
            <a:ext cx="1384300" cy="1562100"/>
          </a:xfrm>
          <a:prstGeom prst="roundRect">
            <a:avLst>
              <a:gd name="adj" fmla="val 2500"/>
            </a:avLst>
          </a:prstGeom>
          <a:solidFill>
            <a:srgbClr val="FFFFFF"/>
          </a:solidFill>
          <a:ln w="13335">
            <a:solidFill>
              <a:srgbClr val="B1B5B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13" name="Observed_Facts_Text">
            <a:extLst>
              <a:ext uri="{FF2B5EF4-FFF2-40B4-BE49-F238E27FC236}">
                <a16:creationId xmlns:a16="http://schemas.microsoft.com/office/drawing/2014/main" id="{413AC850-F2FD-6581-BA48-B624669DE973}"/>
              </a:ext>
            </a:extLst>
          </p:cNvPr>
          <p:cNvSpPr txBox="1"/>
          <p:nvPr/>
        </p:nvSpPr>
        <p:spPr>
          <a:xfrm>
            <a:off x="2051050" y="2794903"/>
            <a:ext cx="1079500" cy="1339375"/>
          </a:xfrm>
          <a:prstGeom prst="rect">
            <a:avLst/>
          </a:prstGeom>
          <a:noFill/>
        </p:spPr>
        <p:txBody>
          <a:bodyPr vert="horz" wrap="square" lIns="0" tIns="0" rIns="0" bIns="0" rtlCol="0" anchor="ctr">
            <a:noAutofit/>
          </a:bodyPr>
          <a:lstStyle/>
          <a:p>
            <a:pPr algn="ctr">
              <a:lnSpc>
                <a:spcPct val="92000"/>
              </a:lnSpc>
            </a:pPr>
            <a:r>
              <a:rPr lang="en-US" altLang="zh-CN" sz="1420" b="1" dirty="0">
                <a:solidFill>
                  <a:srgbClr val="080808"/>
                </a:solidFill>
                <a:latin typeface="Times New Roman" panose="02020603050405020304" pitchFamily="18" charset="0"/>
                <a:cs typeface="Times New Roman" panose="02020603050405020304" pitchFamily="18" charset="0"/>
              </a:rPr>
              <a:t>Topology</a:t>
            </a:r>
          </a:p>
          <a:p>
            <a:pPr algn="ctr">
              <a:lnSpc>
                <a:spcPct val="92000"/>
              </a:lnSpc>
            </a:pPr>
            <a:endParaRPr lang="en-US" altLang="zh-CN" sz="1420" b="1" dirty="0">
              <a:solidFill>
                <a:srgbClr val="080808"/>
              </a:solidFill>
              <a:latin typeface="Times New Roman" panose="02020603050405020304" pitchFamily="18" charset="0"/>
              <a:cs typeface="Times New Roman" panose="02020603050405020304" pitchFamily="18" charset="0"/>
            </a:endParaRPr>
          </a:p>
          <a:p>
            <a:pPr algn="ctr">
              <a:lnSpc>
                <a:spcPct val="92000"/>
              </a:lnSpc>
            </a:pPr>
            <a:r>
              <a:rPr lang="en-US" altLang="zh-CN" sz="1420" b="1" dirty="0">
                <a:solidFill>
                  <a:srgbClr val="080808"/>
                </a:solidFill>
                <a:latin typeface="Times New Roman" panose="02020603050405020304" pitchFamily="18" charset="0"/>
                <a:cs typeface="Times New Roman" panose="02020603050405020304" pitchFamily="18" charset="0"/>
              </a:rPr>
              <a:t>Geometry</a:t>
            </a:r>
          </a:p>
          <a:p>
            <a:pPr algn="ctr">
              <a:lnSpc>
                <a:spcPct val="92000"/>
              </a:lnSpc>
            </a:pPr>
            <a:endParaRPr lang="en-US" altLang="zh-CN" sz="1420" b="1" dirty="0">
              <a:solidFill>
                <a:srgbClr val="080808"/>
              </a:solidFill>
              <a:latin typeface="Times New Roman" panose="02020603050405020304" pitchFamily="18" charset="0"/>
              <a:cs typeface="Times New Roman" panose="02020603050405020304" pitchFamily="18" charset="0"/>
            </a:endParaRPr>
          </a:p>
          <a:p>
            <a:pPr algn="ctr">
              <a:lnSpc>
                <a:spcPct val="92000"/>
              </a:lnSpc>
            </a:pPr>
            <a:r>
              <a:rPr lang="en-US" altLang="zh-CN" sz="1420" b="1" dirty="0">
                <a:solidFill>
                  <a:srgbClr val="080808"/>
                </a:solidFill>
                <a:latin typeface="Times New Roman" panose="02020603050405020304" pitchFamily="18" charset="0"/>
                <a:cs typeface="Times New Roman" panose="02020603050405020304" pitchFamily="18" charset="0"/>
              </a:rPr>
              <a:t>Adjacency</a:t>
            </a:r>
            <a:endParaRPr lang="zh-CN" altLang="en-US" sz="1420" b="1" dirty="0">
              <a:solidFill>
                <a:srgbClr val="080808"/>
              </a:solidFill>
              <a:latin typeface="Times New Roman" panose="02020603050405020304" pitchFamily="18" charset="0"/>
              <a:cs typeface="Times New Roman" panose="02020603050405020304" pitchFamily="18" charset="0"/>
            </a:endParaRPr>
          </a:p>
        </p:txBody>
      </p:sp>
      <p:sp>
        <p:nvSpPr>
          <p:cNvPr id="14" name="Observed_Facts_Caption">
            <a:extLst>
              <a:ext uri="{FF2B5EF4-FFF2-40B4-BE49-F238E27FC236}">
                <a16:creationId xmlns:a16="http://schemas.microsoft.com/office/drawing/2014/main" id="{E3E23B7B-7418-4675-0AF8-DD0B894643A3}"/>
              </a:ext>
            </a:extLst>
          </p:cNvPr>
          <p:cNvSpPr txBox="1"/>
          <p:nvPr/>
        </p:nvSpPr>
        <p:spPr>
          <a:xfrm>
            <a:off x="1930400" y="4046305"/>
            <a:ext cx="1371600" cy="738407"/>
          </a:xfrm>
          <a:prstGeom prst="rect">
            <a:avLst/>
          </a:prstGeom>
          <a:noFill/>
        </p:spPr>
        <p:txBody>
          <a:bodyPr vert="horz" wrap="square" lIns="0" tIns="0" rIns="0" bIns="0" rtlCol="0" anchor="ctr">
            <a:noAutofit/>
          </a:bodyPr>
          <a:lstStyle/>
          <a:p>
            <a:pPr algn="ctr">
              <a:lnSpc>
                <a:spcPct val="92000"/>
              </a:lnSpc>
            </a:pPr>
            <a:r>
              <a:rPr lang="en-US" altLang="zh-CN" sz="1080" dirty="0">
                <a:solidFill>
                  <a:srgbClr val="4C5158"/>
                </a:solidFill>
                <a:latin typeface="Times New Roman" panose="02020603050405020304" pitchFamily="18" charset="0"/>
                <a:cs typeface="Times New Roman" panose="02020603050405020304" pitchFamily="18" charset="0"/>
              </a:rPr>
              <a:t>Observed facts only</a:t>
            </a:r>
            <a:endParaRPr lang="zh-CN" altLang="en-US" sz="1080" dirty="0">
              <a:solidFill>
                <a:srgbClr val="4C5158"/>
              </a:solidFill>
              <a:latin typeface="Times New Roman" panose="02020603050405020304" pitchFamily="18" charset="0"/>
              <a:cs typeface="Times New Roman" panose="02020603050405020304" pitchFamily="18" charset="0"/>
            </a:endParaRPr>
          </a:p>
        </p:txBody>
      </p:sp>
      <p:sp>
        <p:nvSpPr>
          <p:cNvPr id="15" name="Constraint_Label">
            <a:extLst>
              <a:ext uri="{FF2B5EF4-FFF2-40B4-BE49-F238E27FC236}">
                <a16:creationId xmlns:a16="http://schemas.microsoft.com/office/drawing/2014/main" id="{2BACE8D9-E26E-EC56-D342-F5FD5A3BC56A}"/>
              </a:ext>
            </a:extLst>
          </p:cNvPr>
          <p:cNvSpPr txBox="1"/>
          <p:nvPr/>
        </p:nvSpPr>
        <p:spPr>
          <a:xfrm>
            <a:off x="3416300" y="2997200"/>
            <a:ext cx="774700" cy="1476815"/>
          </a:xfrm>
          <a:prstGeom prst="rect">
            <a:avLst/>
          </a:prstGeom>
          <a:noFill/>
        </p:spPr>
        <p:txBody>
          <a:bodyPr vert="horz" wrap="square" lIns="0" tIns="0" rIns="0" bIns="0" rtlCol="0" anchor="ctr">
            <a:noAutofit/>
          </a:bodyPr>
          <a:lstStyle/>
          <a:p>
            <a:pPr algn="ctr">
              <a:lnSpc>
                <a:spcPct val="92000"/>
              </a:lnSpc>
            </a:pPr>
            <a:r>
              <a:rPr lang="en-US" altLang="zh-CN" sz="1060" dirty="0">
                <a:solidFill>
                  <a:srgbClr val="4C5158"/>
                </a:solidFill>
                <a:latin typeface="Times New Roman" panose="02020603050405020304" pitchFamily="18" charset="0"/>
                <a:cs typeface="Times New Roman" panose="02020603050405020304" pitchFamily="18" charset="0"/>
              </a:rPr>
              <a:t>evidence</a:t>
            </a:r>
          </a:p>
          <a:p>
            <a:pPr algn="ctr">
              <a:lnSpc>
                <a:spcPct val="92000"/>
              </a:lnSpc>
            </a:pPr>
            <a:r>
              <a:rPr lang="en-US" altLang="zh-CN" sz="1060" dirty="0">
                <a:solidFill>
                  <a:srgbClr val="4C5158"/>
                </a:solidFill>
                <a:latin typeface="Times New Roman" panose="02020603050405020304" pitchFamily="18" charset="0"/>
                <a:cs typeface="Times New Roman" panose="02020603050405020304" pitchFamily="18" charset="0"/>
              </a:rPr>
              <a:t>constraints</a:t>
            </a:r>
            <a:endParaRPr lang="zh-CN" altLang="en-US" sz="1060" dirty="0">
              <a:solidFill>
                <a:srgbClr val="4C5158"/>
              </a:solidFill>
              <a:latin typeface="Times New Roman" panose="02020603050405020304" pitchFamily="18" charset="0"/>
              <a:cs typeface="Times New Roman" panose="02020603050405020304" pitchFamily="18" charset="0"/>
            </a:endParaRPr>
          </a:p>
        </p:txBody>
      </p:sp>
      <p:cxnSp>
        <p:nvCxnSpPr>
          <p:cNvPr id="16" name="Arrow_Facts_To_Hypotheses">
            <a:extLst>
              <a:ext uri="{FF2B5EF4-FFF2-40B4-BE49-F238E27FC236}">
                <a16:creationId xmlns:a16="http://schemas.microsoft.com/office/drawing/2014/main" id="{1B152025-72C0-E625-CBDD-E234F6C56711}"/>
              </a:ext>
            </a:extLst>
          </p:cNvPr>
          <p:cNvCxnSpPr/>
          <p:nvPr/>
        </p:nvCxnSpPr>
        <p:spPr>
          <a:xfrm>
            <a:off x="3378200" y="3467100"/>
            <a:ext cx="838200" cy="0"/>
          </a:xfrm>
          <a:prstGeom prst="line">
            <a:avLst/>
          </a:prstGeom>
          <a:ln w="31750">
            <a:solidFill>
              <a:srgbClr val="00B5EB"/>
            </a:solidFill>
            <a:prstDash val="dash"/>
            <a:tailEnd type="triangle" w="sm" len="sm"/>
          </a:ln>
        </p:spPr>
        <p:style>
          <a:lnRef idx="1">
            <a:schemeClr val="accent1"/>
          </a:lnRef>
          <a:fillRef idx="0">
            <a:schemeClr val="accent1"/>
          </a:fillRef>
          <a:effectRef idx="0">
            <a:schemeClr val="accent1"/>
          </a:effectRef>
          <a:fontRef idx="minor">
            <a:schemeClr val="tx1"/>
          </a:fontRef>
        </p:style>
      </p:cxnSp>
      <p:sp>
        <p:nvSpPr>
          <p:cNvPr id="17" name="Candidate_Card">
            <a:extLst>
              <a:ext uri="{FF2B5EF4-FFF2-40B4-BE49-F238E27FC236}">
                <a16:creationId xmlns:a16="http://schemas.microsoft.com/office/drawing/2014/main" id="{CB2CA026-48A1-61B1-27DC-1A5FFC79EEE8}"/>
              </a:ext>
            </a:extLst>
          </p:cNvPr>
          <p:cNvSpPr/>
          <p:nvPr/>
        </p:nvSpPr>
        <p:spPr>
          <a:xfrm>
            <a:off x="4229100" y="2565400"/>
            <a:ext cx="1612900" cy="2044700"/>
          </a:xfrm>
          <a:prstGeom prst="roundRect">
            <a:avLst>
              <a:gd name="adj" fmla="val 2500"/>
            </a:avLst>
          </a:prstGeom>
          <a:gradFill flip="none" rotWithShape="1">
            <a:gsLst>
              <a:gs pos="0">
                <a:srgbClr val="F0F9FD"/>
              </a:gs>
              <a:gs pos="100000">
                <a:srgbClr val="FBFEFF"/>
              </a:gs>
            </a:gsLst>
            <a:lin ang="5400000" scaled="1"/>
            <a:tileRect/>
          </a:gradFill>
          <a:ln w="15875">
            <a:solidFill>
              <a:srgbClr val="00B5E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18" name="Candidate_Title">
            <a:extLst>
              <a:ext uri="{FF2B5EF4-FFF2-40B4-BE49-F238E27FC236}">
                <a16:creationId xmlns:a16="http://schemas.microsoft.com/office/drawing/2014/main" id="{DFE20F4B-3EC9-768C-5615-B39388563975}"/>
              </a:ext>
            </a:extLst>
          </p:cNvPr>
          <p:cNvSpPr txBox="1"/>
          <p:nvPr/>
        </p:nvSpPr>
        <p:spPr>
          <a:xfrm>
            <a:off x="4364112" y="2610302"/>
            <a:ext cx="1333500" cy="524315"/>
          </a:xfrm>
          <a:prstGeom prst="rect">
            <a:avLst/>
          </a:prstGeom>
          <a:noFill/>
        </p:spPr>
        <p:txBody>
          <a:bodyPr vert="horz" wrap="square" lIns="0" tIns="0" rIns="0" bIns="0" rtlCol="0" anchor="ctr">
            <a:noAutofit/>
          </a:bodyPr>
          <a:lstStyle/>
          <a:p>
            <a:pPr algn="ctr">
              <a:lnSpc>
                <a:spcPct val="92000"/>
              </a:lnSpc>
            </a:pPr>
            <a:r>
              <a:rPr lang="en-US" altLang="zh-CN" sz="1560" b="1" dirty="0">
                <a:solidFill>
                  <a:srgbClr val="080808"/>
                </a:solidFill>
                <a:latin typeface="Times New Roman" panose="02020603050405020304" pitchFamily="18" charset="0"/>
                <a:cs typeface="Times New Roman" panose="02020603050405020304" pitchFamily="18" charset="0"/>
              </a:rPr>
              <a:t>Candidate</a:t>
            </a:r>
          </a:p>
          <a:p>
            <a:pPr algn="ctr">
              <a:lnSpc>
                <a:spcPct val="92000"/>
              </a:lnSpc>
            </a:pPr>
            <a:r>
              <a:rPr lang="en-US" altLang="zh-CN" sz="1560" b="1" dirty="0">
                <a:solidFill>
                  <a:srgbClr val="080808"/>
                </a:solidFill>
                <a:latin typeface="Times New Roman" panose="02020603050405020304" pitchFamily="18" charset="0"/>
                <a:cs typeface="Times New Roman" panose="02020603050405020304" pitchFamily="18" charset="0"/>
              </a:rPr>
              <a:t>hypotheses</a:t>
            </a:r>
            <a:endParaRPr lang="zh-CN" altLang="en-US" sz="1560" b="1" dirty="0">
              <a:solidFill>
                <a:srgbClr val="080808"/>
              </a:solidFill>
              <a:latin typeface="Times New Roman" panose="02020603050405020304" pitchFamily="18" charset="0"/>
              <a:cs typeface="Times New Roman" panose="02020603050405020304" pitchFamily="18" charset="0"/>
            </a:endParaRPr>
          </a:p>
        </p:txBody>
      </p:sp>
      <p:sp>
        <p:nvSpPr>
          <p:cNvPr id="19" name="Candidate_List">
            <a:extLst>
              <a:ext uri="{FF2B5EF4-FFF2-40B4-BE49-F238E27FC236}">
                <a16:creationId xmlns:a16="http://schemas.microsoft.com/office/drawing/2014/main" id="{7EB1281D-4B4E-6566-8081-0711101E6BDF}"/>
              </a:ext>
            </a:extLst>
          </p:cNvPr>
          <p:cNvSpPr txBox="1"/>
          <p:nvPr/>
        </p:nvSpPr>
        <p:spPr>
          <a:xfrm>
            <a:off x="4400550" y="3243494"/>
            <a:ext cx="1206500" cy="688511"/>
          </a:xfrm>
          <a:prstGeom prst="rect">
            <a:avLst/>
          </a:prstGeom>
          <a:noFill/>
        </p:spPr>
        <p:txBody>
          <a:bodyPr vert="horz" wrap="square" lIns="0" tIns="0" rIns="0" bIns="0" rtlCol="0" anchor="ctr">
            <a:noAutofit/>
          </a:bodyPr>
          <a:lstStyle/>
          <a:p>
            <a:pPr algn="ctr">
              <a:lnSpc>
                <a:spcPct val="92000"/>
              </a:lnSpc>
            </a:pPr>
            <a:r>
              <a:rPr lang="it-IT" altLang="zh-CN" sz="1380" dirty="0">
                <a:solidFill>
                  <a:srgbClr val="080808"/>
                </a:solidFill>
                <a:latin typeface="Times New Roman" panose="02020603050405020304" pitchFamily="18" charset="0"/>
                <a:cs typeface="Times New Roman" panose="02020603050405020304" pitchFamily="18" charset="0"/>
              </a:rPr>
              <a:t>Candidate A</a:t>
            </a:r>
          </a:p>
          <a:p>
            <a:pPr algn="ctr">
              <a:lnSpc>
                <a:spcPct val="92000"/>
              </a:lnSpc>
            </a:pPr>
            <a:r>
              <a:rPr lang="it-IT" altLang="zh-CN" sz="1380" dirty="0">
                <a:solidFill>
                  <a:srgbClr val="080808"/>
                </a:solidFill>
                <a:latin typeface="Times New Roman" panose="02020603050405020304" pitchFamily="18" charset="0"/>
                <a:cs typeface="Times New Roman" panose="02020603050405020304" pitchFamily="18" charset="0"/>
              </a:rPr>
              <a:t>Candidate B</a:t>
            </a:r>
          </a:p>
          <a:p>
            <a:pPr algn="ctr">
              <a:lnSpc>
                <a:spcPct val="92000"/>
              </a:lnSpc>
            </a:pPr>
            <a:r>
              <a:rPr lang="it-IT" altLang="zh-CN" sz="1380" dirty="0">
                <a:solidFill>
                  <a:srgbClr val="080808"/>
                </a:solidFill>
                <a:latin typeface="Times New Roman" panose="02020603050405020304" pitchFamily="18" charset="0"/>
                <a:cs typeface="Times New Roman" panose="02020603050405020304" pitchFamily="18" charset="0"/>
              </a:rPr>
              <a:t>Candidate C</a:t>
            </a:r>
            <a:endParaRPr lang="zh-CN" altLang="en-US" sz="1380" dirty="0">
              <a:solidFill>
                <a:srgbClr val="080808"/>
              </a:solidFill>
              <a:latin typeface="Times New Roman" panose="02020603050405020304" pitchFamily="18" charset="0"/>
              <a:cs typeface="Times New Roman" panose="02020603050405020304" pitchFamily="18" charset="0"/>
            </a:endParaRPr>
          </a:p>
        </p:txBody>
      </p:sp>
      <p:sp>
        <p:nvSpPr>
          <p:cNvPr id="20" name="Candidate_Caption">
            <a:extLst>
              <a:ext uri="{FF2B5EF4-FFF2-40B4-BE49-F238E27FC236}">
                <a16:creationId xmlns:a16="http://schemas.microsoft.com/office/drawing/2014/main" id="{BA4A533F-CF0C-0B69-3C18-3BB3B5B4563F}"/>
              </a:ext>
            </a:extLst>
          </p:cNvPr>
          <p:cNvSpPr txBox="1"/>
          <p:nvPr/>
        </p:nvSpPr>
        <p:spPr>
          <a:xfrm>
            <a:off x="4330700" y="3886651"/>
            <a:ext cx="1384300" cy="1107611"/>
          </a:xfrm>
          <a:prstGeom prst="rect">
            <a:avLst/>
          </a:prstGeom>
          <a:noFill/>
        </p:spPr>
        <p:txBody>
          <a:bodyPr vert="horz" wrap="square" lIns="0" tIns="0" rIns="0" bIns="0" rtlCol="0" anchor="ctr">
            <a:noAutofit/>
          </a:bodyPr>
          <a:lstStyle/>
          <a:p>
            <a:pPr algn="ctr">
              <a:lnSpc>
                <a:spcPct val="92000"/>
              </a:lnSpc>
            </a:pPr>
            <a:r>
              <a:rPr lang="en-US" altLang="zh-CN" sz="1070" dirty="0">
                <a:solidFill>
                  <a:srgbClr val="646970"/>
                </a:solidFill>
                <a:latin typeface="Times New Roman" panose="02020603050405020304" pitchFamily="18" charset="0"/>
                <a:cs typeface="Times New Roman" panose="02020603050405020304" pitchFamily="18" charset="0"/>
              </a:rPr>
              <a:t>Plausible explanations</a:t>
            </a:r>
            <a:endParaRPr lang="zh-CN" altLang="en-US" sz="1070" dirty="0">
              <a:solidFill>
                <a:srgbClr val="646970"/>
              </a:solidFill>
              <a:latin typeface="Times New Roman" panose="02020603050405020304" pitchFamily="18" charset="0"/>
              <a:cs typeface="Times New Roman" panose="02020603050405020304" pitchFamily="18" charset="0"/>
            </a:endParaRPr>
          </a:p>
        </p:txBody>
      </p:sp>
      <p:sp>
        <p:nvSpPr>
          <p:cNvPr id="21" name="Arrow_Hypotheses_To_Sequence">
            <a:extLst>
              <a:ext uri="{FF2B5EF4-FFF2-40B4-BE49-F238E27FC236}">
                <a16:creationId xmlns:a16="http://schemas.microsoft.com/office/drawing/2014/main" id="{C31564B4-C581-F0B1-7FF1-712781877A00}"/>
              </a:ext>
            </a:extLst>
          </p:cNvPr>
          <p:cNvSpPr/>
          <p:nvPr/>
        </p:nvSpPr>
        <p:spPr>
          <a:xfrm>
            <a:off x="5842000" y="3340100"/>
            <a:ext cx="330200" cy="254000"/>
          </a:xfrm>
          <a:prstGeom prst="rightArrow">
            <a:avLst/>
          </a:prstGeom>
          <a:solidFill>
            <a:srgbClr val="00B5E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22" name="Executable_Card">
            <a:extLst>
              <a:ext uri="{FF2B5EF4-FFF2-40B4-BE49-F238E27FC236}">
                <a16:creationId xmlns:a16="http://schemas.microsoft.com/office/drawing/2014/main" id="{D1DE1CC3-D366-71B8-33BC-1F9714201860}"/>
              </a:ext>
            </a:extLst>
          </p:cNvPr>
          <p:cNvSpPr/>
          <p:nvPr/>
        </p:nvSpPr>
        <p:spPr>
          <a:xfrm>
            <a:off x="6172200" y="2565400"/>
            <a:ext cx="1651000" cy="2057400"/>
          </a:xfrm>
          <a:prstGeom prst="roundRect">
            <a:avLst>
              <a:gd name="adj" fmla="val 2500"/>
            </a:avLst>
          </a:prstGeom>
          <a:solidFill>
            <a:srgbClr val="FFFFFF"/>
          </a:solidFill>
          <a:ln w="13335">
            <a:solidFill>
              <a:srgbClr val="B1B5B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23" name="Executable_Title">
            <a:extLst>
              <a:ext uri="{FF2B5EF4-FFF2-40B4-BE49-F238E27FC236}">
                <a16:creationId xmlns:a16="http://schemas.microsoft.com/office/drawing/2014/main" id="{098C331B-75C1-D104-23C6-A105BBF5BA5B}"/>
              </a:ext>
            </a:extLst>
          </p:cNvPr>
          <p:cNvSpPr txBox="1"/>
          <p:nvPr/>
        </p:nvSpPr>
        <p:spPr>
          <a:xfrm>
            <a:off x="6324600" y="2743200"/>
            <a:ext cx="1346200" cy="1107611"/>
          </a:xfrm>
          <a:prstGeom prst="rect">
            <a:avLst/>
          </a:prstGeom>
          <a:noFill/>
        </p:spPr>
        <p:txBody>
          <a:bodyPr vert="horz" wrap="square" lIns="0" tIns="0" rIns="0" bIns="0" rtlCol="0" anchor="ctr">
            <a:noAutofit/>
          </a:bodyPr>
          <a:lstStyle/>
          <a:p>
            <a:pPr algn="ctr">
              <a:lnSpc>
                <a:spcPct val="92000"/>
              </a:lnSpc>
            </a:pPr>
            <a:r>
              <a:rPr lang="en-US" altLang="zh-CN" sz="1550" b="1">
                <a:solidFill>
                  <a:srgbClr val="080808"/>
                </a:solidFill>
                <a:latin typeface="Times New Roman" panose="02020603050405020304" pitchFamily="18" charset="0"/>
                <a:cs typeface="Times New Roman" panose="02020603050405020304" pitchFamily="18" charset="0"/>
              </a:rPr>
              <a:t>Executable</a:t>
            </a:r>
          </a:p>
          <a:p>
            <a:pPr algn="ctr">
              <a:lnSpc>
                <a:spcPct val="92000"/>
              </a:lnSpc>
            </a:pPr>
            <a:r>
              <a:rPr lang="en-US" altLang="zh-CN" sz="1550" b="1">
                <a:solidFill>
                  <a:srgbClr val="080808"/>
                </a:solidFill>
                <a:latin typeface="Times New Roman" panose="02020603050405020304" pitchFamily="18" charset="0"/>
                <a:cs typeface="Times New Roman" panose="02020603050405020304" pitchFamily="18" charset="0"/>
              </a:rPr>
              <a:t>sequence</a:t>
            </a:r>
            <a:endParaRPr lang="zh-CN" altLang="en-US" sz="1550" b="1">
              <a:solidFill>
                <a:srgbClr val="080808"/>
              </a:solidFill>
              <a:latin typeface="Times New Roman" panose="02020603050405020304" pitchFamily="18" charset="0"/>
              <a:cs typeface="Times New Roman" panose="02020603050405020304" pitchFamily="18" charset="0"/>
            </a:endParaRPr>
          </a:p>
        </p:txBody>
      </p:sp>
      <p:sp>
        <p:nvSpPr>
          <p:cNvPr id="24" name="Executable_Sketch">
            <a:extLst>
              <a:ext uri="{FF2B5EF4-FFF2-40B4-BE49-F238E27FC236}">
                <a16:creationId xmlns:a16="http://schemas.microsoft.com/office/drawing/2014/main" id="{41A61171-D985-17A5-64E5-4000BFE22FC5}"/>
              </a:ext>
            </a:extLst>
          </p:cNvPr>
          <p:cNvSpPr txBox="1"/>
          <p:nvPr/>
        </p:nvSpPr>
        <p:spPr>
          <a:xfrm>
            <a:off x="6451600" y="3416300"/>
            <a:ext cx="1092200" cy="369204"/>
          </a:xfrm>
          <a:prstGeom prst="rect">
            <a:avLst/>
          </a:prstGeom>
          <a:noFill/>
        </p:spPr>
        <p:txBody>
          <a:bodyPr vert="horz" wrap="square" lIns="0" tIns="0" rIns="0" bIns="0" rtlCol="0" anchor="ctr">
            <a:noAutofit/>
          </a:bodyPr>
          <a:lstStyle/>
          <a:p>
            <a:pPr algn="ctr">
              <a:lnSpc>
                <a:spcPct val="92000"/>
              </a:lnSpc>
            </a:pPr>
            <a:r>
              <a:rPr lang="en-US" altLang="zh-CN" sz="1350">
                <a:solidFill>
                  <a:srgbClr val="080808"/>
                </a:solidFill>
                <a:latin typeface="Times New Roman" panose="02020603050405020304" pitchFamily="18" charset="0"/>
                <a:cs typeface="Times New Roman" panose="02020603050405020304" pitchFamily="18" charset="0"/>
              </a:rPr>
              <a:t>Sketch</a:t>
            </a:r>
            <a:endParaRPr lang="zh-CN" altLang="en-US" sz="1350">
              <a:solidFill>
                <a:srgbClr val="080808"/>
              </a:solidFill>
              <a:latin typeface="Times New Roman" panose="02020603050405020304" pitchFamily="18" charset="0"/>
              <a:cs typeface="Times New Roman" panose="02020603050405020304" pitchFamily="18" charset="0"/>
            </a:endParaRPr>
          </a:p>
        </p:txBody>
      </p:sp>
      <p:sp>
        <p:nvSpPr>
          <p:cNvPr id="25" name="Executable_Down_Arrow">
            <a:extLst>
              <a:ext uri="{FF2B5EF4-FFF2-40B4-BE49-F238E27FC236}">
                <a16:creationId xmlns:a16="http://schemas.microsoft.com/office/drawing/2014/main" id="{974CB6B5-3170-6431-B8C3-F8F898FD459D}"/>
              </a:ext>
            </a:extLst>
          </p:cNvPr>
          <p:cNvSpPr/>
          <p:nvPr/>
        </p:nvSpPr>
        <p:spPr>
          <a:xfrm>
            <a:off x="6991267" y="3746500"/>
            <a:ext cx="63583" cy="228600"/>
          </a:xfrm>
          <a:prstGeom prst="downArrow">
            <a:avLst/>
          </a:prstGeom>
          <a:solidFill>
            <a:srgbClr val="08080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26" name="Executable_Extrude">
            <a:extLst>
              <a:ext uri="{FF2B5EF4-FFF2-40B4-BE49-F238E27FC236}">
                <a16:creationId xmlns:a16="http://schemas.microsoft.com/office/drawing/2014/main" id="{B45D2EB4-6696-4BE4-ACDB-615FE58ECD2F}"/>
              </a:ext>
            </a:extLst>
          </p:cNvPr>
          <p:cNvSpPr txBox="1"/>
          <p:nvPr/>
        </p:nvSpPr>
        <p:spPr>
          <a:xfrm>
            <a:off x="6413500" y="3924300"/>
            <a:ext cx="1168400" cy="369204"/>
          </a:xfrm>
          <a:prstGeom prst="rect">
            <a:avLst/>
          </a:prstGeom>
          <a:noFill/>
        </p:spPr>
        <p:txBody>
          <a:bodyPr vert="horz" wrap="square" lIns="0" tIns="0" rIns="0" bIns="0" rtlCol="0" anchor="ctr">
            <a:noAutofit/>
          </a:bodyPr>
          <a:lstStyle/>
          <a:p>
            <a:pPr algn="ctr">
              <a:lnSpc>
                <a:spcPct val="92000"/>
              </a:lnSpc>
            </a:pPr>
            <a:r>
              <a:rPr lang="en-US" altLang="zh-CN" sz="1350">
                <a:solidFill>
                  <a:srgbClr val="080808"/>
                </a:solidFill>
                <a:latin typeface="Times New Roman" panose="02020603050405020304" pitchFamily="18" charset="0"/>
                <a:cs typeface="Times New Roman" panose="02020603050405020304" pitchFamily="18" charset="0"/>
              </a:rPr>
              <a:t>Extrude</a:t>
            </a:r>
            <a:endParaRPr lang="zh-CN" altLang="en-US" sz="1350">
              <a:solidFill>
                <a:srgbClr val="080808"/>
              </a:solidFill>
              <a:latin typeface="Times New Roman" panose="02020603050405020304" pitchFamily="18" charset="0"/>
              <a:cs typeface="Times New Roman" panose="02020603050405020304" pitchFamily="18" charset="0"/>
            </a:endParaRPr>
          </a:p>
        </p:txBody>
      </p:sp>
      <p:sp>
        <p:nvSpPr>
          <p:cNvPr id="27" name="Executable_Caption">
            <a:extLst>
              <a:ext uri="{FF2B5EF4-FFF2-40B4-BE49-F238E27FC236}">
                <a16:creationId xmlns:a16="http://schemas.microsoft.com/office/drawing/2014/main" id="{AA1FA4F8-2EE3-A305-7A5E-1FB80A02D2B6}"/>
              </a:ext>
            </a:extLst>
          </p:cNvPr>
          <p:cNvSpPr txBox="1"/>
          <p:nvPr/>
        </p:nvSpPr>
        <p:spPr>
          <a:xfrm>
            <a:off x="6280150" y="4234984"/>
            <a:ext cx="1473200" cy="410943"/>
          </a:xfrm>
          <a:prstGeom prst="rect">
            <a:avLst/>
          </a:prstGeom>
          <a:noFill/>
        </p:spPr>
        <p:txBody>
          <a:bodyPr vert="horz" wrap="square" lIns="0" tIns="0" rIns="0" bIns="0" rtlCol="0" anchor="ctr">
            <a:noAutofit/>
          </a:bodyPr>
          <a:lstStyle/>
          <a:p>
            <a:pPr algn="ctr">
              <a:lnSpc>
                <a:spcPct val="92000"/>
              </a:lnSpc>
            </a:pPr>
            <a:r>
              <a:rPr lang="en-US" altLang="zh-CN" sz="1060" dirty="0" err="1">
                <a:solidFill>
                  <a:srgbClr val="646970"/>
                </a:solidFill>
                <a:latin typeface="Times New Roman" panose="02020603050405020304" pitchFamily="18" charset="0"/>
                <a:cs typeface="Times New Roman" panose="02020603050405020304" pitchFamily="18" charset="0"/>
              </a:rPr>
              <a:t>Replayable</a:t>
            </a:r>
            <a:r>
              <a:rPr lang="en-US" altLang="zh-CN" sz="1060" dirty="0">
                <a:solidFill>
                  <a:srgbClr val="646970"/>
                </a:solidFill>
                <a:latin typeface="Times New Roman" panose="02020603050405020304" pitchFamily="18" charset="0"/>
                <a:cs typeface="Times New Roman" panose="02020603050405020304" pitchFamily="18" charset="0"/>
              </a:rPr>
              <a:t> construction</a:t>
            </a:r>
            <a:endParaRPr lang="zh-CN" altLang="en-US" sz="1060" dirty="0">
              <a:solidFill>
                <a:srgbClr val="646970"/>
              </a:solidFill>
              <a:latin typeface="Times New Roman" panose="02020603050405020304" pitchFamily="18" charset="0"/>
              <a:cs typeface="Times New Roman" panose="02020603050405020304" pitchFamily="18" charset="0"/>
            </a:endParaRPr>
          </a:p>
        </p:txBody>
      </p:sp>
      <p:sp>
        <p:nvSpPr>
          <p:cNvPr id="28" name="Arrow_Sequence_To_Fusion">
            <a:extLst>
              <a:ext uri="{FF2B5EF4-FFF2-40B4-BE49-F238E27FC236}">
                <a16:creationId xmlns:a16="http://schemas.microsoft.com/office/drawing/2014/main" id="{A495C2C9-3868-A7D1-9D21-BC86C988EE64}"/>
              </a:ext>
            </a:extLst>
          </p:cNvPr>
          <p:cNvSpPr/>
          <p:nvPr/>
        </p:nvSpPr>
        <p:spPr>
          <a:xfrm>
            <a:off x="7823200" y="3340100"/>
            <a:ext cx="266929" cy="254000"/>
          </a:xfrm>
          <a:prstGeom prst="rightArrow">
            <a:avLst/>
          </a:prstGeom>
          <a:solidFill>
            <a:srgbClr val="00B5E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90" name="Fusion_Replay_Title">
            <a:extLst>
              <a:ext uri="{FF2B5EF4-FFF2-40B4-BE49-F238E27FC236}">
                <a16:creationId xmlns:a16="http://schemas.microsoft.com/office/drawing/2014/main" id="{824FCD3C-5CDD-3FCA-CA0E-62F15BA3ABCA}"/>
              </a:ext>
            </a:extLst>
          </p:cNvPr>
          <p:cNvSpPr txBox="1"/>
          <p:nvPr/>
        </p:nvSpPr>
        <p:spPr>
          <a:xfrm>
            <a:off x="8483600" y="4489449"/>
            <a:ext cx="1143000" cy="738407"/>
          </a:xfrm>
          <a:prstGeom prst="rect">
            <a:avLst/>
          </a:prstGeom>
          <a:noFill/>
        </p:spPr>
        <p:txBody>
          <a:bodyPr vert="horz" wrap="square" lIns="0" tIns="0" rIns="0" bIns="0" rtlCol="0" anchor="ctr">
            <a:noAutofit/>
          </a:bodyPr>
          <a:lstStyle/>
          <a:p>
            <a:pPr algn="ctr">
              <a:lnSpc>
                <a:spcPct val="92000"/>
              </a:lnSpc>
            </a:pPr>
            <a:r>
              <a:rPr lang="en-US" altLang="zh-CN" sz="1600" b="1" dirty="0">
                <a:solidFill>
                  <a:srgbClr val="080808"/>
                </a:solidFill>
                <a:latin typeface="Times New Roman" panose="02020603050405020304" pitchFamily="18" charset="0"/>
                <a:cs typeface="Times New Roman" panose="02020603050405020304" pitchFamily="18" charset="0"/>
              </a:rPr>
              <a:t>Fusion</a:t>
            </a:r>
          </a:p>
          <a:p>
            <a:pPr algn="ctr">
              <a:lnSpc>
                <a:spcPct val="92000"/>
              </a:lnSpc>
            </a:pPr>
            <a:r>
              <a:rPr lang="en-US" altLang="zh-CN" sz="1600" b="1" dirty="0">
                <a:solidFill>
                  <a:srgbClr val="080808"/>
                </a:solidFill>
                <a:latin typeface="Times New Roman" panose="02020603050405020304" pitchFamily="18" charset="0"/>
                <a:cs typeface="Times New Roman" panose="02020603050405020304" pitchFamily="18" charset="0"/>
              </a:rPr>
              <a:t>Replay</a:t>
            </a:r>
            <a:endParaRPr lang="zh-CN" altLang="en-US" sz="1600" b="1" dirty="0">
              <a:solidFill>
                <a:srgbClr val="080808"/>
              </a:solidFill>
              <a:latin typeface="Times New Roman" panose="02020603050405020304" pitchFamily="18" charset="0"/>
              <a:cs typeface="Times New Roman" panose="02020603050405020304" pitchFamily="18" charset="0"/>
            </a:endParaRPr>
          </a:p>
        </p:txBody>
      </p:sp>
      <p:sp>
        <p:nvSpPr>
          <p:cNvPr id="91" name="Fusion_Replay_Status">
            <a:extLst>
              <a:ext uri="{FF2B5EF4-FFF2-40B4-BE49-F238E27FC236}">
                <a16:creationId xmlns:a16="http://schemas.microsoft.com/office/drawing/2014/main" id="{0EC8C053-5B5F-E6AD-CD6A-96C5B7848A50}"/>
              </a:ext>
            </a:extLst>
          </p:cNvPr>
          <p:cNvSpPr txBox="1"/>
          <p:nvPr/>
        </p:nvSpPr>
        <p:spPr>
          <a:xfrm>
            <a:off x="7742797" y="4814204"/>
            <a:ext cx="2597150" cy="738407"/>
          </a:xfrm>
          <a:prstGeom prst="rect">
            <a:avLst/>
          </a:prstGeom>
          <a:noFill/>
        </p:spPr>
        <p:txBody>
          <a:bodyPr vert="horz" wrap="square" lIns="0" tIns="0" rIns="0" bIns="0" rtlCol="0" anchor="ctr">
            <a:noAutofit/>
          </a:bodyPr>
          <a:lstStyle/>
          <a:p>
            <a:pPr algn="ctr">
              <a:lnSpc>
                <a:spcPct val="92000"/>
              </a:lnSpc>
            </a:pPr>
            <a:r>
              <a:rPr lang="en-US" altLang="zh-CN" sz="1140" b="1" dirty="0">
                <a:solidFill>
                  <a:srgbClr val="04A642"/>
                </a:solidFill>
                <a:latin typeface="Times New Roman" panose="02020603050405020304" pitchFamily="18" charset="0"/>
                <a:cs typeface="Times New Roman" panose="02020603050405020304" pitchFamily="18" charset="0"/>
              </a:rPr>
              <a:t>Artifacts generated</a:t>
            </a:r>
            <a:endParaRPr lang="zh-CN" altLang="en-US" sz="1140" b="1" dirty="0">
              <a:solidFill>
                <a:srgbClr val="04A642"/>
              </a:solidFill>
              <a:latin typeface="Times New Roman" panose="02020603050405020304" pitchFamily="18" charset="0"/>
              <a:cs typeface="Times New Roman" panose="02020603050405020304" pitchFamily="18" charset="0"/>
            </a:endParaRPr>
          </a:p>
        </p:txBody>
      </p:sp>
      <p:sp>
        <p:nvSpPr>
          <p:cNvPr id="92" name="Arrow_Fusion_To_Validation">
            <a:extLst>
              <a:ext uri="{FF2B5EF4-FFF2-40B4-BE49-F238E27FC236}">
                <a16:creationId xmlns:a16="http://schemas.microsoft.com/office/drawing/2014/main" id="{305C7C49-C3F7-F164-E2AF-BAD50879906F}"/>
              </a:ext>
            </a:extLst>
          </p:cNvPr>
          <p:cNvSpPr/>
          <p:nvPr/>
        </p:nvSpPr>
        <p:spPr>
          <a:xfrm>
            <a:off x="10045700" y="3340100"/>
            <a:ext cx="241300" cy="254000"/>
          </a:xfrm>
          <a:prstGeom prst="rightArrow">
            <a:avLst/>
          </a:prstGeom>
          <a:solidFill>
            <a:srgbClr val="00B5E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93" name="Validation_Card">
            <a:extLst>
              <a:ext uri="{FF2B5EF4-FFF2-40B4-BE49-F238E27FC236}">
                <a16:creationId xmlns:a16="http://schemas.microsoft.com/office/drawing/2014/main" id="{3FF3F42D-0FE7-94EC-50C0-34673EF46CA5}"/>
              </a:ext>
            </a:extLst>
          </p:cNvPr>
          <p:cNvSpPr/>
          <p:nvPr/>
        </p:nvSpPr>
        <p:spPr>
          <a:xfrm>
            <a:off x="10287000" y="2349500"/>
            <a:ext cx="1778000" cy="2971800"/>
          </a:xfrm>
          <a:prstGeom prst="roundRect">
            <a:avLst>
              <a:gd name="adj" fmla="val 2500"/>
            </a:avLst>
          </a:prstGeom>
          <a:solidFill>
            <a:srgbClr val="FFFFFF"/>
          </a:solidFill>
          <a:ln w="13335">
            <a:solidFill>
              <a:srgbClr val="B1B5B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94" name="Validation_Title">
            <a:extLst>
              <a:ext uri="{FF2B5EF4-FFF2-40B4-BE49-F238E27FC236}">
                <a16:creationId xmlns:a16="http://schemas.microsoft.com/office/drawing/2014/main" id="{125CC4EE-D520-D9D1-7FD0-FDA38733F118}"/>
              </a:ext>
            </a:extLst>
          </p:cNvPr>
          <p:cNvSpPr txBox="1"/>
          <p:nvPr/>
        </p:nvSpPr>
        <p:spPr>
          <a:xfrm>
            <a:off x="10496779" y="2118189"/>
            <a:ext cx="1422400" cy="1107611"/>
          </a:xfrm>
          <a:prstGeom prst="rect">
            <a:avLst/>
          </a:prstGeom>
          <a:noFill/>
        </p:spPr>
        <p:txBody>
          <a:bodyPr vert="horz" wrap="square" lIns="0" tIns="0" rIns="0" bIns="0" rtlCol="0" anchor="ctr">
            <a:noAutofit/>
          </a:bodyPr>
          <a:lstStyle/>
          <a:p>
            <a:pPr algn="ctr">
              <a:lnSpc>
                <a:spcPct val="92000"/>
              </a:lnSpc>
            </a:pPr>
            <a:r>
              <a:rPr lang="en-US" altLang="zh-CN" sz="1540" b="1" dirty="0">
                <a:solidFill>
                  <a:srgbClr val="080808"/>
                </a:solidFill>
                <a:latin typeface="Times New Roman" panose="02020603050405020304" pitchFamily="18" charset="0"/>
                <a:cs typeface="Times New Roman" panose="02020603050405020304" pitchFamily="18" charset="0"/>
              </a:rPr>
              <a:t>Route-specific</a:t>
            </a:r>
          </a:p>
          <a:p>
            <a:pPr algn="ctr">
              <a:lnSpc>
                <a:spcPct val="92000"/>
              </a:lnSpc>
            </a:pPr>
            <a:r>
              <a:rPr lang="en-US" altLang="zh-CN" sz="1540" b="1" dirty="0">
                <a:solidFill>
                  <a:srgbClr val="080808"/>
                </a:solidFill>
                <a:latin typeface="Times New Roman" panose="02020603050405020304" pitchFamily="18" charset="0"/>
                <a:cs typeface="Times New Roman" panose="02020603050405020304" pitchFamily="18" charset="0"/>
              </a:rPr>
              <a:t>validation</a:t>
            </a:r>
            <a:endParaRPr lang="zh-CN" altLang="en-US" sz="1540" b="1" dirty="0">
              <a:solidFill>
                <a:srgbClr val="080808"/>
              </a:solidFill>
              <a:latin typeface="Times New Roman" panose="02020603050405020304" pitchFamily="18" charset="0"/>
              <a:cs typeface="Times New Roman" panose="02020603050405020304" pitchFamily="18" charset="0"/>
            </a:endParaRPr>
          </a:p>
        </p:txBody>
      </p:sp>
      <p:grpSp>
        <p:nvGrpSpPr>
          <p:cNvPr id="114" name="组合 113">
            <a:extLst>
              <a:ext uri="{FF2B5EF4-FFF2-40B4-BE49-F238E27FC236}">
                <a16:creationId xmlns:a16="http://schemas.microsoft.com/office/drawing/2014/main" id="{09E2FAD5-EE5F-12E2-EC8A-93E870AB1C1E}"/>
              </a:ext>
            </a:extLst>
          </p:cNvPr>
          <p:cNvGrpSpPr/>
          <p:nvPr/>
        </p:nvGrpSpPr>
        <p:grpSpPr>
          <a:xfrm>
            <a:off x="10439171" y="3048000"/>
            <a:ext cx="215900" cy="177038"/>
            <a:chOff x="10642600" y="3162300"/>
            <a:chExt cx="215900" cy="177038"/>
          </a:xfrm>
        </p:grpSpPr>
        <p:cxnSp>
          <p:nvCxnSpPr>
            <p:cNvPr id="95" name="Validation_Geometry_Check_Short">
              <a:extLst>
                <a:ext uri="{FF2B5EF4-FFF2-40B4-BE49-F238E27FC236}">
                  <a16:creationId xmlns:a16="http://schemas.microsoft.com/office/drawing/2014/main" id="{12A4F526-8A7E-69C0-D094-AAA9940FC11C}"/>
                </a:ext>
              </a:extLst>
            </p:cNvPr>
            <p:cNvCxnSpPr/>
            <p:nvPr/>
          </p:nvCxnSpPr>
          <p:spPr>
            <a:xfrm>
              <a:off x="10642600" y="3270250"/>
              <a:ext cx="75565" cy="69088"/>
            </a:xfrm>
            <a:prstGeom prst="line">
              <a:avLst/>
            </a:prstGeom>
            <a:ln w="35560">
              <a:solidFill>
                <a:srgbClr val="04A642"/>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96" name="Validation_Geometry_Check_Long">
              <a:extLst>
                <a:ext uri="{FF2B5EF4-FFF2-40B4-BE49-F238E27FC236}">
                  <a16:creationId xmlns:a16="http://schemas.microsoft.com/office/drawing/2014/main" id="{AC80393F-A9BB-650D-9511-580DFF6BAB45}"/>
                </a:ext>
              </a:extLst>
            </p:cNvPr>
            <p:cNvCxnSpPr/>
            <p:nvPr/>
          </p:nvCxnSpPr>
          <p:spPr>
            <a:xfrm flipV="1">
              <a:off x="10718165" y="3162300"/>
              <a:ext cx="140335" cy="177038"/>
            </a:xfrm>
            <a:prstGeom prst="line">
              <a:avLst/>
            </a:prstGeom>
            <a:ln w="35560">
              <a:solidFill>
                <a:srgbClr val="04A642"/>
              </a:solidFill>
              <a:prstDash val="solid"/>
              <a:headEnd type="none"/>
              <a:tailEnd type="none"/>
            </a:ln>
          </p:spPr>
          <p:style>
            <a:lnRef idx="1">
              <a:schemeClr val="accent1"/>
            </a:lnRef>
            <a:fillRef idx="0">
              <a:schemeClr val="accent1"/>
            </a:fillRef>
            <a:effectRef idx="0">
              <a:schemeClr val="accent1"/>
            </a:effectRef>
            <a:fontRef idx="minor">
              <a:schemeClr val="tx1"/>
            </a:fontRef>
          </p:style>
        </p:cxnSp>
      </p:grpSp>
      <p:sp>
        <p:nvSpPr>
          <p:cNvPr id="97" name="Validation_Geometry_Text">
            <a:extLst>
              <a:ext uri="{FF2B5EF4-FFF2-40B4-BE49-F238E27FC236}">
                <a16:creationId xmlns:a16="http://schemas.microsoft.com/office/drawing/2014/main" id="{0CDF1358-A03B-23B8-D3E2-6F247EBF7B09}"/>
              </a:ext>
            </a:extLst>
          </p:cNvPr>
          <p:cNvSpPr txBox="1"/>
          <p:nvPr/>
        </p:nvSpPr>
        <p:spPr>
          <a:xfrm>
            <a:off x="10922000" y="2765413"/>
            <a:ext cx="952500" cy="738407"/>
          </a:xfrm>
          <a:prstGeom prst="rect">
            <a:avLst/>
          </a:prstGeom>
          <a:noFill/>
        </p:spPr>
        <p:txBody>
          <a:bodyPr vert="horz" wrap="square" lIns="0" tIns="0" rIns="0" bIns="0" rtlCol="0" anchor="ctr">
            <a:noAutofit/>
          </a:bodyPr>
          <a:lstStyle/>
          <a:p>
            <a:pPr>
              <a:lnSpc>
                <a:spcPct val="92000"/>
              </a:lnSpc>
            </a:pPr>
            <a:r>
              <a:rPr lang="en-US" altLang="zh-CN" sz="1370" dirty="0">
                <a:solidFill>
                  <a:srgbClr val="262626"/>
                </a:solidFill>
                <a:latin typeface="Times New Roman" panose="02020603050405020304" pitchFamily="18" charset="0"/>
                <a:cs typeface="Times New Roman" panose="02020603050405020304" pitchFamily="18" charset="0"/>
              </a:rPr>
              <a:t>Geometry</a:t>
            </a:r>
            <a:endParaRPr lang="zh-CN" altLang="en-US" sz="1370" dirty="0">
              <a:solidFill>
                <a:srgbClr val="262626"/>
              </a:solidFill>
              <a:latin typeface="Times New Roman" panose="02020603050405020304" pitchFamily="18" charset="0"/>
              <a:cs typeface="Times New Roman" panose="02020603050405020304" pitchFamily="18" charset="0"/>
            </a:endParaRPr>
          </a:p>
        </p:txBody>
      </p:sp>
      <p:sp>
        <p:nvSpPr>
          <p:cNvPr id="100" name="Validation_Feature_Text">
            <a:extLst>
              <a:ext uri="{FF2B5EF4-FFF2-40B4-BE49-F238E27FC236}">
                <a16:creationId xmlns:a16="http://schemas.microsoft.com/office/drawing/2014/main" id="{81FE6D82-4A68-3AF8-78B3-601815DEAEC4}"/>
              </a:ext>
            </a:extLst>
          </p:cNvPr>
          <p:cNvSpPr txBox="1"/>
          <p:nvPr/>
        </p:nvSpPr>
        <p:spPr>
          <a:xfrm>
            <a:off x="10958760" y="3332370"/>
            <a:ext cx="640284" cy="342900"/>
          </a:xfrm>
          <a:prstGeom prst="rect">
            <a:avLst/>
          </a:prstGeom>
          <a:noFill/>
        </p:spPr>
        <p:txBody>
          <a:bodyPr vert="horz" wrap="square" lIns="0" tIns="0" rIns="0" bIns="0" rtlCol="0" anchor="ctr">
            <a:noAutofit/>
          </a:bodyPr>
          <a:lstStyle/>
          <a:p>
            <a:pPr>
              <a:lnSpc>
                <a:spcPct val="92000"/>
              </a:lnSpc>
            </a:pPr>
            <a:r>
              <a:rPr lang="en-US" altLang="zh-CN" sz="1370" dirty="0">
                <a:solidFill>
                  <a:srgbClr val="262626"/>
                </a:solidFill>
                <a:latin typeface="Times New Roman" panose="02020603050405020304" pitchFamily="18" charset="0"/>
                <a:cs typeface="Times New Roman" panose="02020603050405020304" pitchFamily="18" charset="0"/>
              </a:rPr>
              <a:t>Feature</a:t>
            </a:r>
            <a:endParaRPr lang="zh-CN" altLang="en-US" sz="1370" dirty="0">
              <a:solidFill>
                <a:srgbClr val="262626"/>
              </a:solidFill>
              <a:latin typeface="Times New Roman" panose="02020603050405020304" pitchFamily="18" charset="0"/>
              <a:cs typeface="Times New Roman" panose="02020603050405020304" pitchFamily="18" charset="0"/>
            </a:endParaRPr>
          </a:p>
        </p:txBody>
      </p:sp>
      <p:grpSp>
        <p:nvGrpSpPr>
          <p:cNvPr id="118" name="组合 117">
            <a:extLst>
              <a:ext uri="{FF2B5EF4-FFF2-40B4-BE49-F238E27FC236}">
                <a16:creationId xmlns:a16="http://schemas.microsoft.com/office/drawing/2014/main" id="{17505F39-16FB-FE7F-A830-511495930B92}"/>
              </a:ext>
            </a:extLst>
          </p:cNvPr>
          <p:cNvGrpSpPr/>
          <p:nvPr/>
        </p:nvGrpSpPr>
        <p:grpSpPr>
          <a:xfrm>
            <a:off x="10458221" y="3823081"/>
            <a:ext cx="215900" cy="177038"/>
            <a:chOff x="10642600" y="3771900"/>
            <a:chExt cx="215900" cy="177038"/>
          </a:xfrm>
        </p:grpSpPr>
        <p:cxnSp>
          <p:nvCxnSpPr>
            <p:cNvPr id="101" name="Validation_Package_Check_Short">
              <a:extLst>
                <a:ext uri="{FF2B5EF4-FFF2-40B4-BE49-F238E27FC236}">
                  <a16:creationId xmlns:a16="http://schemas.microsoft.com/office/drawing/2014/main" id="{42E84A2C-065E-9839-56A4-C91AAAAD25F6}"/>
                </a:ext>
              </a:extLst>
            </p:cNvPr>
            <p:cNvCxnSpPr/>
            <p:nvPr/>
          </p:nvCxnSpPr>
          <p:spPr>
            <a:xfrm>
              <a:off x="10642600" y="3879850"/>
              <a:ext cx="75565" cy="69088"/>
            </a:xfrm>
            <a:prstGeom prst="line">
              <a:avLst/>
            </a:prstGeom>
            <a:ln w="35560">
              <a:solidFill>
                <a:srgbClr val="04A642"/>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102" name="Validation_Package_Check_Long">
              <a:extLst>
                <a:ext uri="{FF2B5EF4-FFF2-40B4-BE49-F238E27FC236}">
                  <a16:creationId xmlns:a16="http://schemas.microsoft.com/office/drawing/2014/main" id="{F1030D6D-607B-0E9D-E4CE-9CB0D9BB0572}"/>
                </a:ext>
              </a:extLst>
            </p:cNvPr>
            <p:cNvCxnSpPr/>
            <p:nvPr/>
          </p:nvCxnSpPr>
          <p:spPr>
            <a:xfrm flipV="1">
              <a:off x="10718165" y="3771900"/>
              <a:ext cx="140335" cy="177038"/>
            </a:xfrm>
            <a:prstGeom prst="line">
              <a:avLst/>
            </a:prstGeom>
            <a:ln w="35560">
              <a:solidFill>
                <a:srgbClr val="04A642"/>
              </a:solidFill>
              <a:prstDash val="solid"/>
              <a:headEnd type="none"/>
              <a:tailEnd type="none"/>
            </a:ln>
          </p:spPr>
          <p:style>
            <a:lnRef idx="1">
              <a:schemeClr val="accent1"/>
            </a:lnRef>
            <a:fillRef idx="0">
              <a:schemeClr val="accent1"/>
            </a:fillRef>
            <a:effectRef idx="0">
              <a:schemeClr val="accent1"/>
            </a:effectRef>
            <a:fontRef idx="minor">
              <a:schemeClr val="tx1"/>
            </a:fontRef>
          </p:style>
        </p:cxnSp>
      </p:grpSp>
      <p:sp>
        <p:nvSpPr>
          <p:cNvPr id="103" name="Validation_Package_Text">
            <a:extLst>
              <a:ext uri="{FF2B5EF4-FFF2-40B4-BE49-F238E27FC236}">
                <a16:creationId xmlns:a16="http://schemas.microsoft.com/office/drawing/2014/main" id="{A1B280D9-2C30-EA74-9145-7E573A906284}"/>
              </a:ext>
            </a:extLst>
          </p:cNvPr>
          <p:cNvSpPr txBox="1"/>
          <p:nvPr/>
        </p:nvSpPr>
        <p:spPr>
          <a:xfrm>
            <a:off x="10967170" y="3743643"/>
            <a:ext cx="727124" cy="302662"/>
          </a:xfrm>
          <a:prstGeom prst="rect">
            <a:avLst/>
          </a:prstGeom>
          <a:noFill/>
        </p:spPr>
        <p:txBody>
          <a:bodyPr vert="horz" wrap="square" lIns="0" tIns="0" rIns="0" bIns="0" rtlCol="0" anchor="ctr">
            <a:noAutofit/>
          </a:bodyPr>
          <a:lstStyle/>
          <a:p>
            <a:pPr>
              <a:lnSpc>
                <a:spcPct val="92000"/>
              </a:lnSpc>
            </a:pPr>
            <a:r>
              <a:rPr lang="en-US" altLang="zh-CN" sz="1370" dirty="0">
                <a:solidFill>
                  <a:srgbClr val="262626"/>
                </a:solidFill>
                <a:latin typeface="Times New Roman" panose="02020603050405020304" pitchFamily="18" charset="0"/>
                <a:cs typeface="Times New Roman" panose="02020603050405020304" pitchFamily="18" charset="0"/>
              </a:rPr>
              <a:t>Package</a:t>
            </a:r>
            <a:endParaRPr lang="zh-CN" altLang="en-US" sz="1370" dirty="0">
              <a:solidFill>
                <a:srgbClr val="262626"/>
              </a:solidFill>
              <a:latin typeface="Times New Roman" panose="02020603050405020304" pitchFamily="18" charset="0"/>
              <a:cs typeface="Times New Roman" panose="02020603050405020304" pitchFamily="18" charset="0"/>
            </a:endParaRPr>
          </a:p>
        </p:txBody>
      </p:sp>
      <p:sp>
        <p:nvSpPr>
          <p:cNvPr id="107" name="Evidence_Package_Label">
            <a:extLst>
              <a:ext uri="{FF2B5EF4-FFF2-40B4-BE49-F238E27FC236}">
                <a16:creationId xmlns:a16="http://schemas.microsoft.com/office/drawing/2014/main" id="{53C3ADEA-465D-C876-153E-0765E38E7557}"/>
              </a:ext>
            </a:extLst>
          </p:cNvPr>
          <p:cNvSpPr txBox="1"/>
          <p:nvPr/>
        </p:nvSpPr>
        <p:spPr>
          <a:xfrm>
            <a:off x="10234984" y="4421405"/>
            <a:ext cx="1917700" cy="1107611"/>
          </a:xfrm>
          <a:prstGeom prst="rect">
            <a:avLst/>
          </a:prstGeom>
          <a:noFill/>
        </p:spPr>
        <p:txBody>
          <a:bodyPr vert="horz" wrap="square" lIns="0" tIns="0" rIns="0" bIns="0" rtlCol="0" anchor="ctr">
            <a:noAutofit/>
          </a:bodyPr>
          <a:lstStyle/>
          <a:p>
            <a:pPr algn="ctr">
              <a:lnSpc>
                <a:spcPct val="92000"/>
              </a:lnSpc>
            </a:pPr>
            <a:r>
              <a:rPr lang="en-US" altLang="zh-CN" sz="1420" b="1" dirty="0">
                <a:solidFill>
                  <a:srgbClr val="080808"/>
                </a:solidFill>
                <a:latin typeface="Times New Roman" panose="02020603050405020304" pitchFamily="18" charset="0"/>
                <a:cs typeface="Times New Roman" panose="02020603050405020304" pitchFamily="18" charset="0"/>
              </a:rPr>
              <a:t>Auditable</a:t>
            </a:r>
          </a:p>
          <a:p>
            <a:pPr algn="ctr">
              <a:lnSpc>
                <a:spcPct val="92000"/>
              </a:lnSpc>
            </a:pPr>
            <a:r>
              <a:rPr lang="en-US" altLang="zh-CN" sz="1420" b="1" dirty="0">
                <a:solidFill>
                  <a:srgbClr val="080808"/>
                </a:solidFill>
                <a:latin typeface="Times New Roman" panose="02020603050405020304" pitchFamily="18" charset="0"/>
                <a:cs typeface="Times New Roman" panose="02020603050405020304" pitchFamily="18" charset="0"/>
              </a:rPr>
              <a:t>evidence package</a:t>
            </a:r>
            <a:endParaRPr lang="zh-CN" altLang="en-US" sz="1420" b="1" dirty="0">
              <a:solidFill>
                <a:srgbClr val="080808"/>
              </a:solidFill>
              <a:latin typeface="Times New Roman" panose="02020603050405020304" pitchFamily="18" charset="0"/>
              <a:cs typeface="Times New Roman" panose="02020603050405020304" pitchFamily="18" charset="0"/>
            </a:endParaRPr>
          </a:p>
        </p:txBody>
      </p:sp>
      <p:sp>
        <p:nvSpPr>
          <p:cNvPr id="108" name="Evidence_Loop_Statement">
            <a:extLst>
              <a:ext uri="{FF2B5EF4-FFF2-40B4-BE49-F238E27FC236}">
                <a16:creationId xmlns:a16="http://schemas.microsoft.com/office/drawing/2014/main" id="{858DFA6E-7AE1-FF45-1436-F09E8D429362}"/>
              </a:ext>
            </a:extLst>
          </p:cNvPr>
          <p:cNvSpPr txBox="1"/>
          <p:nvPr/>
        </p:nvSpPr>
        <p:spPr>
          <a:xfrm>
            <a:off x="266700" y="6159500"/>
            <a:ext cx="11658600" cy="738407"/>
          </a:xfrm>
          <a:prstGeom prst="rect">
            <a:avLst/>
          </a:prstGeom>
          <a:noFill/>
        </p:spPr>
        <p:txBody>
          <a:bodyPr vert="horz" wrap="square" lIns="0" tIns="0" rIns="0" bIns="0" rtlCol="0" anchor="ctr">
            <a:noAutofit/>
          </a:bodyPr>
          <a:lstStyle/>
          <a:p>
            <a:pPr>
              <a:lnSpc>
                <a:spcPct val="92000"/>
              </a:lnSpc>
            </a:pPr>
            <a:r>
              <a:rPr lang="en-US" altLang="zh-CN" sz="2030" b="1" dirty="0">
                <a:solidFill>
                  <a:srgbClr val="021C63"/>
                </a:solidFill>
                <a:latin typeface="Times New Roman" panose="02020603050405020304" pitchFamily="18" charset="0"/>
                <a:cs typeface="Times New Roman" panose="02020603050405020304" pitchFamily="18" charset="0"/>
              </a:rPr>
              <a:t>Observed facts constrain hypotheses; only replay and validation close the evidence loop.</a:t>
            </a:r>
            <a:endParaRPr lang="zh-CN" altLang="en-US" sz="2030" b="1" dirty="0">
              <a:solidFill>
                <a:srgbClr val="021C63"/>
              </a:solidFill>
              <a:latin typeface="Times New Roman" panose="02020603050405020304" pitchFamily="18" charset="0"/>
              <a:cs typeface="Times New Roman" panose="02020603050405020304" pitchFamily="18" charset="0"/>
            </a:endParaRPr>
          </a:p>
        </p:txBody>
      </p:sp>
      <p:sp>
        <p:nvSpPr>
          <p:cNvPr id="109" name="13_Class01_Geometry_top">
            <a:extLst>
              <a:ext uri="{FF2B5EF4-FFF2-40B4-BE49-F238E27FC236}">
                <a16:creationId xmlns:a16="http://schemas.microsoft.com/office/drawing/2014/main" id="{4A7D8CB6-3203-8A4A-0262-291BE4010901}"/>
              </a:ext>
            </a:extLst>
          </p:cNvPr>
          <p:cNvSpPr/>
          <p:nvPr/>
        </p:nvSpPr>
        <p:spPr>
          <a:xfrm>
            <a:off x="371348" y="3289300"/>
            <a:ext cx="676656" cy="118872"/>
          </a:xfrm>
          <a:custGeom>
            <a:avLst/>
            <a:gdLst/>
            <a:ahLst/>
            <a:cxnLst/>
            <a:rect l="l" t="t" r="r" b="b"/>
            <a:pathLst>
              <a:path w="676656" h="118872">
                <a:moveTo>
                  <a:pt x="0" y="118872"/>
                </a:moveTo>
                <a:lnTo>
                  <a:pt x="530352" y="118872"/>
                </a:lnTo>
                <a:lnTo>
                  <a:pt x="676656" y="0"/>
                </a:lnTo>
                <a:lnTo>
                  <a:pt x="146304" y="0"/>
                </a:lnTo>
                <a:close/>
              </a:path>
            </a:pathLst>
          </a:custGeom>
          <a:solidFill>
            <a:srgbClr val="182C3B"/>
          </a:solidFill>
          <a:ln w="13335" cap="flat" cmpd="sng" algn="ctr">
            <a:solidFill>
              <a:srgbClr val="38C9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effectLst/>
              <a:uLnTx/>
              <a:uFillTx/>
              <a:latin typeface="Times New Roman" panose="02020603050405020304" pitchFamily="18" charset="0"/>
              <a:cs typeface="Times New Roman" panose="02020603050405020304" pitchFamily="18" charset="0"/>
            </a:endParaRPr>
          </a:p>
        </p:txBody>
      </p:sp>
      <p:sp>
        <p:nvSpPr>
          <p:cNvPr id="110" name="13_Class01_Geometry_side">
            <a:extLst>
              <a:ext uri="{FF2B5EF4-FFF2-40B4-BE49-F238E27FC236}">
                <a16:creationId xmlns:a16="http://schemas.microsoft.com/office/drawing/2014/main" id="{0C9D32E0-CBBD-F4E0-4108-568950CC7C8B}"/>
              </a:ext>
            </a:extLst>
          </p:cNvPr>
          <p:cNvSpPr/>
          <p:nvPr/>
        </p:nvSpPr>
        <p:spPr>
          <a:xfrm>
            <a:off x="901700" y="3289300"/>
            <a:ext cx="146304" cy="521208"/>
          </a:xfrm>
          <a:custGeom>
            <a:avLst/>
            <a:gdLst/>
            <a:ahLst/>
            <a:cxnLst/>
            <a:rect l="l" t="t" r="r" b="b"/>
            <a:pathLst>
              <a:path w="146304" h="521208">
                <a:moveTo>
                  <a:pt x="0" y="118872"/>
                </a:moveTo>
                <a:lnTo>
                  <a:pt x="146304" y="0"/>
                </a:lnTo>
                <a:lnTo>
                  <a:pt x="146304" y="402336"/>
                </a:lnTo>
                <a:lnTo>
                  <a:pt x="0" y="521208"/>
                </a:lnTo>
                <a:close/>
              </a:path>
            </a:pathLst>
          </a:custGeom>
          <a:solidFill>
            <a:srgbClr val="182C3B"/>
          </a:solidFill>
          <a:ln w="13335" cap="flat" cmpd="sng" algn="ctr">
            <a:solidFill>
              <a:srgbClr val="38C9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effectLst/>
              <a:uLnTx/>
              <a:uFillTx/>
              <a:latin typeface="Times New Roman" panose="02020603050405020304" pitchFamily="18" charset="0"/>
              <a:cs typeface="Times New Roman" panose="02020603050405020304" pitchFamily="18" charset="0"/>
            </a:endParaRPr>
          </a:p>
        </p:txBody>
      </p:sp>
      <p:sp>
        <p:nvSpPr>
          <p:cNvPr id="111" name="13_Class01_Geometry_front">
            <a:extLst>
              <a:ext uri="{FF2B5EF4-FFF2-40B4-BE49-F238E27FC236}">
                <a16:creationId xmlns:a16="http://schemas.microsoft.com/office/drawing/2014/main" id="{0E639675-F092-6403-D61E-E45EBE3D5524}"/>
              </a:ext>
            </a:extLst>
          </p:cNvPr>
          <p:cNvSpPr/>
          <p:nvPr/>
        </p:nvSpPr>
        <p:spPr>
          <a:xfrm>
            <a:off x="371348" y="3408172"/>
            <a:ext cx="530352" cy="402336"/>
          </a:xfrm>
          <a:prstGeom prst="rect">
            <a:avLst/>
          </a:prstGeom>
          <a:solidFill>
            <a:srgbClr val="112230"/>
          </a:solidFill>
          <a:ln w="13335" cap="flat" cmpd="sng" algn="ctr">
            <a:solidFill>
              <a:srgbClr val="38C9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effectLst/>
              <a:uLnTx/>
              <a:uFillTx/>
              <a:latin typeface="Times New Roman" panose="02020603050405020304" pitchFamily="18" charset="0"/>
              <a:cs typeface="Times New Roman" panose="02020603050405020304" pitchFamily="18" charset="0"/>
            </a:endParaRPr>
          </a:p>
        </p:txBody>
      </p:sp>
      <p:cxnSp>
        <p:nvCxnSpPr>
          <p:cNvPr id="112" name="13_Class01_Profile_Trace">
            <a:extLst>
              <a:ext uri="{FF2B5EF4-FFF2-40B4-BE49-F238E27FC236}">
                <a16:creationId xmlns:a16="http://schemas.microsoft.com/office/drawing/2014/main" id="{5E7BE77A-7295-F7F8-15CC-F773D38ED993}"/>
              </a:ext>
            </a:extLst>
          </p:cNvPr>
          <p:cNvCxnSpPr>
            <a:cxnSpLocks/>
          </p:cNvCxnSpPr>
          <p:nvPr/>
        </p:nvCxnSpPr>
        <p:spPr>
          <a:xfrm>
            <a:off x="462788" y="3444748"/>
            <a:ext cx="365760" cy="0"/>
          </a:xfrm>
          <a:prstGeom prst="line">
            <a:avLst/>
          </a:prstGeom>
          <a:noFill/>
          <a:ln w="6985" cap="flat" cmpd="sng" algn="ctr">
            <a:solidFill>
              <a:srgbClr val="A7B8C6"/>
            </a:solidFill>
            <a:prstDash val="solid"/>
            <a:miter lim="800000"/>
          </a:ln>
          <a:effectLst/>
        </p:spPr>
      </p:cxnSp>
      <p:grpSp>
        <p:nvGrpSpPr>
          <p:cNvPr id="115" name="组合 114">
            <a:extLst>
              <a:ext uri="{FF2B5EF4-FFF2-40B4-BE49-F238E27FC236}">
                <a16:creationId xmlns:a16="http://schemas.microsoft.com/office/drawing/2014/main" id="{C020D826-E115-2D71-3D57-49BCF10E382F}"/>
              </a:ext>
            </a:extLst>
          </p:cNvPr>
          <p:cNvGrpSpPr/>
          <p:nvPr/>
        </p:nvGrpSpPr>
        <p:grpSpPr>
          <a:xfrm>
            <a:off x="10451871" y="3416300"/>
            <a:ext cx="215900" cy="177038"/>
            <a:chOff x="10642600" y="3162300"/>
            <a:chExt cx="215900" cy="177038"/>
          </a:xfrm>
        </p:grpSpPr>
        <p:cxnSp>
          <p:nvCxnSpPr>
            <p:cNvPr id="116" name="Validation_Geometry_Check_Short">
              <a:extLst>
                <a:ext uri="{FF2B5EF4-FFF2-40B4-BE49-F238E27FC236}">
                  <a16:creationId xmlns:a16="http://schemas.microsoft.com/office/drawing/2014/main" id="{74D7DCCF-6EB8-9FB2-5AA9-AC49BF0E99A8}"/>
                </a:ext>
              </a:extLst>
            </p:cNvPr>
            <p:cNvCxnSpPr/>
            <p:nvPr/>
          </p:nvCxnSpPr>
          <p:spPr>
            <a:xfrm>
              <a:off x="10642600" y="3270250"/>
              <a:ext cx="75565" cy="69088"/>
            </a:xfrm>
            <a:prstGeom prst="line">
              <a:avLst/>
            </a:prstGeom>
            <a:ln w="35560">
              <a:solidFill>
                <a:srgbClr val="04A642"/>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117" name="Validation_Geometry_Check_Long">
              <a:extLst>
                <a:ext uri="{FF2B5EF4-FFF2-40B4-BE49-F238E27FC236}">
                  <a16:creationId xmlns:a16="http://schemas.microsoft.com/office/drawing/2014/main" id="{FA5DAF4C-901C-16CE-1856-D510B0855FC2}"/>
                </a:ext>
              </a:extLst>
            </p:cNvPr>
            <p:cNvCxnSpPr/>
            <p:nvPr/>
          </p:nvCxnSpPr>
          <p:spPr>
            <a:xfrm flipV="1">
              <a:off x="10718165" y="3162300"/>
              <a:ext cx="140335" cy="177038"/>
            </a:xfrm>
            <a:prstGeom prst="line">
              <a:avLst/>
            </a:prstGeom>
            <a:ln w="35560">
              <a:solidFill>
                <a:srgbClr val="04A642"/>
              </a:solidFill>
              <a:prstDash val="solid"/>
              <a:headEnd type="none"/>
              <a:tailEnd type="none"/>
            </a:ln>
          </p:spPr>
          <p:style>
            <a:lnRef idx="1">
              <a:schemeClr val="accent1"/>
            </a:lnRef>
            <a:fillRef idx="0">
              <a:schemeClr val="accent1"/>
            </a:fillRef>
            <a:effectRef idx="0">
              <a:schemeClr val="accent1"/>
            </a:effectRef>
            <a:fontRef idx="minor">
              <a:schemeClr val="tx1"/>
            </a:fontRef>
          </p:style>
        </p:cxnSp>
      </p:grpSp>
      <p:pic>
        <p:nvPicPr>
          <p:cNvPr id="120" name="图片 119">
            <a:extLst>
              <a:ext uri="{FF2B5EF4-FFF2-40B4-BE49-F238E27FC236}">
                <a16:creationId xmlns:a16="http://schemas.microsoft.com/office/drawing/2014/main" id="{A6A1BF0B-A660-0959-E6CC-38F7C8126C0D}"/>
              </a:ext>
            </a:extLst>
          </p:cNvPr>
          <p:cNvPicPr>
            <a:picLocks noChangeAspect="1"/>
          </p:cNvPicPr>
          <p:nvPr/>
        </p:nvPicPr>
        <p:blipFill>
          <a:blip r:embed="rId3"/>
          <a:stretch>
            <a:fillRect/>
          </a:stretch>
        </p:blipFill>
        <p:spPr>
          <a:xfrm>
            <a:off x="10848528" y="4046708"/>
            <a:ext cx="956797" cy="684994"/>
          </a:xfrm>
          <a:prstGeom prst="rect">
            <a:avLst/>
          </a:prstGeom>
        </p:spPr>
      </p:pic>
      <p:sp>
        <p:nvSpPr>
          <p:cNvPr id="6" name="04_Input_BRep_Icon_top">
            <a:extLst>
              <a:ext uri="{FF2B5EF4-FFF2-40B4-BE49-F238E27FC236}">
                <a16:creationId xmlns:a16="http://schemas.microsoft.com/office/drawing/2014/main" id="{671026F3-FD8D-C3D6-73C9-8EA65311AF25}"/>
              </a:ext>
            </a:extLst>
          </p:cNvPr>
          <p:cNvSpPr/>
          <p:nvPr/>
        </p:nvSpPr>
        <p:spPr>
          <a:xfrm>
            <a:off x="8840204" y="3140326"/>
            <a:ext cx="402336" cy="73152"/>
          </a:xfrm>
          <a:custGeom>
            <a:avLst/>
            <a:gdLst/>
            <a:ahLst/>
            <a:cxnLst/>
            <a:rect l="l" t="t" r="r" b="b"/>
            <a:pathLst>
              <a:path w="402336" h="73152">
                <a:moveTo>
                  <a:pt x="0" y="73152"/>
                </a:moveTo>
                <a:lnTo>
                  <a:pt x="310896" y="73152"/>
                </a:lnTo>
                <a:lnTo>
                  <a:pt x="402336" y="0"/>
                </a:lnTo>
                <a:lnTo>
                  <a:pt x="91440" y="0"/>
                </a:lnTo>
                <a:close/>
              </a:path>
            </a:pathLst>
          </a:custGeom>
          <a:solidFill>
            <a:srgbClr val="182C3B"/>
          </a:solidFill>
          <a:ln w="12700" cap="flat" cmpd="sng" algn="ctr">
            <a:solidFill>
              <a:srgbClr val="38C9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effectLst/>
              <a:uLnTx/>
              <a:uFillTx/>
              <a:latin typeface="Times New Roman" panose="02020603050405020304" pitchFamily="18" charset="0"/>
              <a:cs typeface="Times New Roman" panose="02020603050405020304" pitchFamily="18" charset="0"/>
            </a:endParaRPr>
          </a:p>
        </p:txBody>
      </p:sp>
      <p:sp>
        <p:nvSpPr>
          <p:cNvPr id="8" name="04_Input_BRep_Icon_side">
            <a:extLst>
              <a:ext uri="{FF2B5EF4-FFF2-40B4-BE49-F238E27FC236}">
                <a16:creationId xmlns:a16="http://schemas.microsoft.com/office/drawing/2014/main" id="{74F9597F-4F1C-97B7-74C1-6DFCCF54FC1B}"/>
              </a:ext>
            </a:extLst>
          </p:cNvPr>
          <p:cNvSpPr/>
          <p:nvPr/>
        </p:nvSpPr>
        <p:spPr>
          <a:xfrm>
            <a:off x="9151100" y="3140326"/>
            <a:ext cx="91440" cy="310895"/>
          </a:xfrm>
          <a:custGeom>
            <a:avLst/>
            <a:gdLst/>
            <a:ahLst/>
            <a:cxnLst/>
            <a:rect l="l" t="t" r="r" b="b"/>
            <a:pathLst>
              <a:path w="91440" h="310895">
                <a:moveTo>
                  <a:pt x="0" y="73152"/>
                </a:moveTo>
                <a:lnTo>
                  <a:pt x="91440" y="0"/>
                </a:lnTo>
                <a:lnTo>
                  <a:pt x="91440" y="237743"/>
                </a:lnTo>
                <a:lnTo>
                  <a:pt x="0" y="310895"/>
                </a:lnTo>
                <a:close/>
              </a:path>
            </a:pathLst>
          </a:custGeom>
          <a:solidFill>
            <a:srgbClr val="182C3B"/>
          </a:solidFill>
          <a:ln w="12700" cap="flat" cmpd="sng" algn="ctr">
            <a:solidFill>
              <a:srgbClr val="38C9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effectLst/>
              <a:uLnTx/>
              <a:uFillTx/>
              <a:latin typeface="Times New Roman" panose="02020603050405020304" pitchFamily="18" charset="0"/>
              <a:cs typeface="Times New Roman" panose="02020603050405020304" pitchFamily="18" charset="0"/>
            </a:endParaRPr>
          </a:p>
        </p:txBody>
      </p:sp>
      <p:sp>
        <p:nvSpPr>
          <p:cNvPr id="33" name="04_Input_BRep_Icon_front">
            <a:extLst>
              <a:ext uri="{FF2B5EF4-FFF2-40B4-BE49-F238E27FC236}">
                <a16:creationId xmlns:a16="http://schemas.microsoft.com/office/drawing/2014/main" id="{8551CA8A-9489-93BA-6EA8-ECEC430CF3BD}"/>
              </a:ext>
            </a:extLst>
          </p:cNvPr>
          <p:cNvSpPr/>
          <p:nvPr/>
        </p:nvSpPr>
        <p:spPr>
          <a:xfrm>
            <a:off x="8840204" y="3213478"/>
            <a:ext cx="310896" cy="237744"/>
          </a:xfrm>
          <a:prstGeom prst="rect">
            <a:avLst/>
          </a:prstGeom>
          <a:solidFill>
            <a:srgbClr val="112230"/>
          </a:solidFill>
          <a:ln w="12700" cap="flat" cmpd="sng" algn="ctr">
            <a:solidFill>
              <a:srgbClr val="38C9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effectLst/>
              <a:uLnTx/>
              <a:uFillTx/>
              <a:latin typeface="Times New Roman" panose="02020603050405020304" pitchFamily="18" charset="0"/>
              <a:cs typeface="Times New Roman" panose="02020603050405020304" pitchFamily="18" charset="0"/>
            </a:endParaRPr>
          </a:p>
        </p:txBody>
      </p:sp>
      <p:sp>
        <p:nvSpPr>
          <p:cNvPr id="34" name="文本框 33">
            <a:extLst>
              <a:ext uri="{FF2B5EF4-FFF2-40B4-BE49-F238E27FC236}">
                <a16:creationId xmlns:a16="http://schemas.microsoft.com/office/drawing/2014/main" id="{5114B4A5-A0ED-65AD-885B-64AEE6499795}"/>
              </a:ext>
            </a:extLst>
          </p:cNvPr>
          <p:cNvSpPr txBox="1"/>
          <p:nvPr/>
        </p:nvSpPr>
        <p:spPr>
          <a:xfrm>
            <a:off x="8572203" y="3537424"/>
            <a:ext cx="1226344" cy="276999"/>
          </a:xfrm>
          <a:prstGeom prst="rect">
            <a:avLst/>
          </a:prstGeom>
          <a:noFill/>
        </p:spPr>
        <p:txBody>
          <a:bodyPr wrap="square" rtlCol="0">
            <a:spAutoFit/>
          </a:bodyPr>
          <a:lstStyle/>
          <a:p>
            <a:r>
              <a:rPr lang="zh-CN" altLang="zh-CN" sz="1200" dirty="0">
                <a:latin typeface="Times New Roman" panose="02020603050405020304" pitchFamily="18" charset="0"/>
                <a:cs typeface="Times New Roman" panose="02020603050405020304" pitchFamily="18" charset="0"/>
              </a:rPr>
              <a:t> [CAD solid]</a:t>
            </a:r>
            <a:endParaRPr lang="zh-CN" altLang="en-US" sz="1200" dirty="0">
              <a:latin typeface="Times New Roman" panose="02020603050405020304" pitchFamily="18" charset="0"/>
              <a:cs typeface="Times New Roman" panose="02020603050405020304" pitchFamily="18" charset="0"/>
            </a:endParaRPr>
          </a:p>
        </p:txBody>
      </p:sp>
      <p:sp>
        <p:nvSpPr>
          <p:cNvPr id="35" name="等腰三角形 34">
            <a:extLst>
              <a:ext uri="{FF2B5EF4-FFF2-40B4-BE49-F238E27FC236}">
                <a16:creationId xmlns:a16="http://schemas.microsoft.com/office/drawing/2014/main" id="{B4B56D9E-6514-C40C-77FE-813E14BC375B}"/>
              </a:ext>
            </a:extLst>
          </p:cNvPr>
          <p:cNvSpPr/>
          <p:nvPr/>
        </p:nvSpPr>
        <p:spPr>
          <a:xfrm rot="5400000">
            <a:off x="9002698" y="3856686"/>
            <a:ext cx="210824" cy="259530"/>
          </a:xfrm>
          <a:prstGeom prst="triangl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36" name="文本框 35">
            <a:extLst>
              <a:ext uri="{FF2B5EF4-FFF2-40B4-BE49-F238E27FC236}">
                <a16:creationId xmlns:a16="http://schemas.microsoft.com/office/drawing/2014/main" id="{52EA9BD4-86F6-DF43-B944-486240D1201F}"/>
              </a:ext>
            </a:extLst>
          </p:cNvPr>
          <p:cNvSpPr txBox="1"/>
          <p:nvPr/>
        </p:nvSpPr>
        <p:spPr>
          <a:xfrm>
            <a:off x="8248206" y="4186920"/>
            <a:ext cx="1917699" cy="461665"/>
          </a:xfrm>
          <a:prstGeom prst="rect">
            <a:avLst/>
          </a:prstGeom>
          <a:noFill/>
        </p:spPr>
        <p:txBody>
          <a:bodyPr wrap="square" rtlCol="0">
            <a:spAutoFit/>
          </a:bodyPr>
          <a:lstStyle/>
          <a:p>
            <a:r>
              <a:rPr lang="zh-CN" altLang="zh-CN" sz="1200" dirty="0">
                <a:latin typeface="Times New Roman" panose="02020603050405020304" pitchFamily="18" charset="0"/>
                <a:cs typeface="Times New Roman" panose="02020603050405020304" pitchFamily="18" charset="0"/>
              </a:rPr>
              <a:t>.F3D    .STEP    LOG</a:t>
            </a:r>
          </a:p>
          <a:p>
            <a:endParaRPr lang="zh-CN" altLang="en-US" sz="1200" dirty="0">
              <a:latin typeface="Times New Roman" panose="02020603050405020304" pitchFamily="18" charset="0"/>
              <a:cs typeface="Times New Roman" panose="02020603050405020304" pitchFamily="18" charset="0"/>
            </a:endParaRPr>
          </a:p>
        </p:txBody>
      </p:sp>
      <p:sp>
        <p:nvSpPr>
          <p:cNvPr id="37" name="文本框 36">
            <a:extLst>
              <a:ext uri="{FF2B5EF4-FFF2-40B4-BE49-F238E27FC236}">
                <a16:creationId xmlns:a16="http://schemas.microsoft.com/office/drawing/2014/main" id="{B8FFCF16-4F7E-2F5F-26A6-732DB64F256D}"/>
              </a:ext>
            </a:extLst>
          </p:cNvPr>
          <p:cNvSpPr txBox="1"/>
          <p:nvPr/>
        </p:nvSpPr>
        <p:spPr>
          <a:xfrm>
            <a:off x="8270546" y="2654780"/>
            <a:ext cx="1736226" cy="276999"/>
          </a:xfrm>
          <a:prstGeom prst="rect">
            <a:avLst/>
          </a:prstGeom>
          <a:noFill/>
        </p:spPr>
        <p:txBody>
          <a:bodyPr wrap="square" rtlCol="0">
            <a:spAutoFit/>
          </a:bodyPr>
          <a:lstStyle/>
          <a:p>
            <a:r>
              <a:rPr lang="zh-CN" altLang="zh-CN" sz="1200" dirty="0">
                <a:latin typeface="Times New Roman" panose="02020603050405020304" pitchFamily="18" charset="0"/>
                <a:cs typeface="Times New Roman" panose="02020603050405020304" pitchFamily="18" charset="0"/>
              </a:rPr>
              <a:t>FROZEN EXECUTOR</a:t>
            </a:r>
          </a:p>
        </p:txBody>
      </p:sp>
    </p:spTree>
    <p:extLst>
      <p:ext uri="{BB962C8B-B14F-4D97-AF65-F5344CB8AC3E}">
        <p14:creationId xmlns:p14="http://schemas.microsoft.com/office/powerpoint/2010/main" val="2389546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865FE-1884-A040-88D7-6F2E5DA2E1A3}"/>
            </a:ext>
          </a:extLst>
        </p:cNvPr>
        <p:cNvGrpSpPr/>
        <p:nvPr/>
      </p:nvGrpSpPr>
      <p:grpSpPr>
        <a:xfrm>
          <a:off x="0" y="0"/>
          <a:ext cx="0" cy="0"/>
          <a:chOff x="0" y="0"/>
          <a:chExt cx="0" cy="0"/>
        </a:xfrm>
      </p:grpSpPr>
      <p:sp>
        <p:nvSpPr>
          <p:cNvPr id="32" name="矩形 31">
            <a:extLst>
              <a:ext uri="{FF2B5EF4-FFF2-40B4-BE49-F238E27FC236}">
                <a16:creationId xmlns:a16="http://schemas.microsoft.com/office/drawing/2014/main" id="{38B3474D-1D0E-03C6-10F1-B168A6ED3135}"/>
              </a:ext>
            </a:extLst>
          </p:cNvPr>
          <p:cNvSpPr/>
          <p:nvPr/>
        </p:nvSpPr>
        <p:spPr>
          <a:xfrm>
            <a:off x="92842" y="620688"/>
            <a:ext cx="6904941" cy="107184"/>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kumimoji="1" lang="zh-CN" altLang="en-US" dirty="0">
              <a:solidFill>
                <a:schemeClr val="tx1"/>
              </a:solidFill>
            </a:endParaRPr>
          </a:p>
        </p:txBody>
      </p:sp>
      <p:sp>
        <p:nvSpPr>
          <p:cNvPr id="3" name="标题 2">
            <a:extLst>
              <a:ext uri="{FF2B5EF4-FFF2-40B4-BE49-F238E27FC236}">
                <a16:creationId xmlns:a16="http://schemas.microsoft.com/office/drawing/2014/main" id="{68350843-EDA4-F67F-FA0A-CE1E2D64FFA8}"/>
              </a:ext>
            </a:extLst>
          </p:cNvPr>
          <p:cNvSpPr>
            <a:spLocks noGrp="1"/>
          </p:cNvSpPr>
          <p:nvPr>
            <p:ph type="title"/>
          </p:nvPr>
        </p:nvSpPr>
        <p:spPr>
          <a:xfrm>
            <a:off x="119336" y="76228"/>
            <a:ext cx="9695205" cy="531544"/>
          </a:xfrm>
        </p:spPr>
        <p:txBody>
          <a:bodyPr/>
          <a:lstStyle/>
          <a:p>
            <a:r>
              <a:rPr lang="en-US" altLang="zh-CN" dirty="0"/>
              <a:t>Benchmark and Evaluation Boundary</a:t>
            </a:r>
            <a:endParaRPr lang="zh-CN" altLang="en-US" dirty="0"/>
          </a:p>
        </p:txBody>
      </p:sp>
      <p:sp>
        <p:nvSpPr>
          <p:cNvPr id="4" name="Text 2">
            <a:extLst>
              <a:ext uri="{FF2B5EF4-FFF2-40B4-BE49-F238E27FC236}">
                <a16:creationId xmlns:a16="http://schemas.microsoft.com/office/drawing/2014/main" id="{148E5C88-4910-7063-37B9-1414B396142F}"/>
              </a:ext>
            </a:extLst>
          </p:cNvPr>
          <p:cNvSpPr/>
          <p:nvPr/>
        </p:nvSpPr>
        <p:spPr>
          <a:xfrm>
            <a:off x="5477256" y="1024128"/>
            <a:ext cx="1234440" cy="512064"/>
          </a:xfrm>
          <a:prstGeom prst="rect">
            <a:avLst/>
          </a:prstGeom>
          <a:noFill/>
          <a:ln/>
        </p:spPr>
        <p:txBody>
          <a:bodyPr wrap="square" lIns="0" tIns="0" rIns="0" bIns="0" rtlCol="0" anchor="ctr">
            <a:normAutofit fontScale="92500" lnSpcReduction="20000"/>
          </a:bodyPr>
          <a:lstStyle/>
          <a:p>
            <a:pPr marL="0" indent="0" algn="ctr">
              <a:buNone/>
            </a:pPr>
            <a:r>
              <a:rPr lang="en-US" sz="4400" b="1" dirty="0">
                <a:solidFill>
                  <a:srgbClr val="071A55"/>
                </a:solidFill>
                <a:latin typeface="Times New Roman" panose="02020603050405020304" pitchFamily="18" charset="0"/>
                <a:ea typeface="Aptos Display" pitchFamily="34" charset="-122"/>
                <a:cs typeface="Times New Roman" panose="02020603050405020304" pitchFamily="18" charset="0"/>
              </a:rPr>
              <a:t>30</a:t>
            </a:r>
            <a:endParaRPr lang="en-US" sz="4400" dirty="0">
              <a:latin typeface="Times New Roman" panose="02020603050405020304" pitchFamily="18" charset="0"/>
              <a:cs typeface="Times New Roman" panose="02020603050405020304" pitchFamily="18" charset="0"/>
            </a:endParaRPr>
          </a:p>
        </p:txBody>
      </p:sp>
      <p:sp>
        <p:nvSpPr>
          <p:cNvPr id="6" name="Text 3">
            <a:extLst>
              <a:ext uri="{FF2B5EF4-FFF2-40B4-BE49-F238E27FC236}">
                <a16:creationId xmlns:a16="http://schemas.microsoft.com/office/drawing/2014/main" id="{143F9BE0-FC83-AE4A-A1A0-8E656D839883}"/>
              </a:ext>
            </a:extLst>
          </p:cNvPr>
          <p:cNvSpPr/>
          <p:nvPr/>
        </p:nvSpPr>
        <p:spPr>
          <a:xfrm>
            <a:off x="4633784" y="1674835"/>
            <a:ext cx="3230056" cy="237744"/>
          </a:xfrm>
          <a:prstGeom prst="rect">
            <a:avLst/>
          </a:prstGeom>
          <a:noFill/>
          <a:ln/>
        </p:spPr>
        <p:txBody>
          <a:bodyPr wrap="square" lIns="0" tIns="0" rIns="0" bIns="0" rtlCol="0" anchor="ctr">
            <a:noAutofit/>
          </a:bodyPr>
          <a:lstStyle/>
          <a:p>
            <a:pPr marL="0" indent="0" algn="ctr">
              <a:buNone/>
            </a:pPr>
            <a:r>
              <a:rPr lang="en-US" sz="1800" b="1" dirty="0">
                <a:solidFill>
                  <a:srgbClr val="111111"/>
                </a:solidFill>
                <a:latin typeface="Times New Roman" panose="02020603050405020304" pitchFamily="18" charset="0"/>
                <a:ea typeface="Aptos" pitchFamily="34" charset="-122"/>
                <a:cs typeface="Times New Roman" panose="02020603050405020304" pitchFamily="18" charset="0"/>
              </a:rPr>
              <a:t>curated controlled cases</a:t>
            </a:r>
            <a:endParaRPr lang="en-US" sz="1800" dirty="0">
              <a:latin typeface="Times New Roman" panose="02020603050405020304" pitchFamily="18" charset="0"/>
              <a:cs typeface="Times New Roman" panose="02020603050405020304" pitchFamily="18" charset="0"/>
            </a:endParaRPr>
          </a:p>
        </p:txBody>
      </p:sp>
      <p:sp>
        <p:nvSpPr>
          <p:cNvPr id="8" name="Text 4">
            <a:extLst>
              <a:ext uri="{FF2B5EF4-FFF2-40B4-BE49-F238E27FC236}">
                <a16:creationId xmlns:a16="http://schemas.microsoft.com/office/drawing/2014/main" id="{29F1015B-89BB-76BC-C391-73B0CB75D57E}"/>
              </a:ext>
            </a:extLst>
          </p:cNvPr>
          <p:cNvSpPr/>
          <p:nvPr/>
        </p:nvSpPr>
        <p:spPr>
          <a:xfrm>
            <a:off x="4114800" y="2057400"/>
            <a:ext cx="3931920" cy="182880"/>
          </a:xfrm>
          <a:prstGeom prst="rect">
            <a:avLst/>
          </a:prstGeom>
          <a:noFill/>
          <a:ln/>
        </p:spPr>
        <p:txBody>
          <a:bodyPr wrap="square" lIns="0" tIns="0" rIns="0" bIns="0" rtlCol="0" anchor="ctr">
            <a:noAutofit/>
          </a:bodyPr>
          <a:lstStyle/>
          <a:p>
            <a:pPr marL="0" indent="0" algn="ctr">
              <a:buNone/>
            </a:pPr>
            <a:r>
              <a:rPr lang="en-US" sz="1200" dirty="0">
                <a:solidFill>
                  <a:srgbClr val="666666"/>
                </a:solidFill>
                <a:latin typeface="Times New Roman" panose="02020603050405020304" pitchFamily="18" charset="0"/>
                <a:ea typeface="Aptos" pitchFamily="34" charset="-122"/>
                <a:cs typeface="Times New Roman" panose="02020603050405020304" pitchFamily="18" charset="0"/>
              </a:rPr>
              <a:t>Fixed benchmark roles for development and held-out evaluation</a:t>
            </a:r>
            <a:endParaRPr lang="en-US" sz="1200" dirty="0">
              <a:latin typeface="Times New Roman" panose="02020603050405020304" pitchFamily="18" charset="0"/>
              <a:cs typeface="Times New Roman" panose="02020603050405020304" pitchFamily="18" charset="0"/>
            </a:endParaRPr>
          </a:p>
        </p:txBody>
      </p:sp>
      <p:sp>
        <p:nvSpPr>
          <p:cNvPr id="10" name="Text 5">
            <a:extLst>
              <a:ext uri="{FF2B5EF4-FFF2-40B4-BE49-F238E27FC236}">
                <a16:creationId xmlns:a16="http://schemas.microsoft.com/office/drawing/2014/main" id="{658300E1-FE1B-1F8C-593D-A547A974E4C1}"/>
              </a:ext>
            </a:extLst>
          </p:cNvPr>
          <p:cNvSpPr/>
          <p:nvPr/>
        </p:nvSpPr>
        <p:spPr>
          <a:xfrm>
            <a:off x="1965960" y="2596896"/>
            <a:ext cx="3931920" cy="146304"/>
          </a:xfrm>
          <a:prstGeom prst="rect">
            <a:avLst/>
          </a:prstGeom>
          <a:noFill/>
          <a:ln/>
        </p:spPr>
        <p:txBody>
          <a:bodyPr wrap="square" lIns="0" tIns="0" rIns="0" bIns="0" rtlCol="0" anchor="ctr">
            <a:noAutofit/>
          </a:bodyPr>
          <a:lstStyle/>
          <a:p>
            <a:pPr marL="0" indent="0" algn="ctr">
              <a:buNone/>
            </a:pPr>
            <a:r>
              <a:rPr lang="en-US" sz="1100" b="1" dirty="0">
                <a:solidFill>
                  <a:srgbClr val="00A9E6"/>
                </a:solidFill>
                <a:latin typeface="Times New Roman" panose="02020603050405020304" pitchFamily="18" charset="0"/>
                <a:ea typeface="Aptos" pitchFamily="34" charset="-122"/>
                <a:cs typeface="Times New Roman" panose="02020603050405020304" pitchFamily="18" charset="0"/>
              </a:rPr>
              <a:t>DEVELOPMENT</a:t>
            </a:r>
            <a:endParaRPr lang="en-US" sz="1100" dirty="0">
              <a:latin typeface="Times New Roman" panose="02020603050405020304" pitchFamily="18" charset="0"/>
              <a:cs typeface="Times New Roman" panose="02020603050405020304" pitchFamily="18" charset="0"/>
            </a:endParaRPr>
          </a:p>
        </p:txBody>
      </p:sp>
      <p:sp>
        <p:nvSpPr>
          <p:cNvPr id="12" name="Text 6">
            <a:extLst>
              <a:ext uri="{FF2B5EF4-FFF2-40B4-BE49-F238E27FC236}">
                <a16:creationId xmlns:a16="http://schemas.microsoft.com/office/drawing/2014/main" id="{F89D5EAC-5984-C981-A44A-31E1B42513AC}"/>
              </a:ext>
            </a:extLst>
          </p:cNvPr>
          <p:cNvSpPr/>
          <p:nvPr/>
        </p:nvSpPr>
        <p:spPr>
          <a:xfrm>
            <a:off x="3072384" y="2834640"/>
            <a:ext cx="1828800" cy="292608"/>
          </a:xfrm>
          <a:prstGeom prst="rect">
            <a:avLst/>
          </a:prstGeom>
          <a:noFill/>
          <a:ln/>
        </p:spPr>
        <p:txBody>
          <a:bodyPr wrap="square" lIns="0" tIns="0" rIns="0" bIns="0" rtlCol="0" anchor="ctr">
            <a:normAutofit fontScale="77500" lnSpcReduction="20000"/>
          </a:bodyPr>
          <a:lstStyle/>
          <a:p>
            <a:pPr marL="0" indent="0" algn="ctr">
              <a:buNone/>
            </a:pPr>
            <a:r>
              <a:rPr lang="en-US" sz="3100" b="1" dirty="0">
                <a:solidFill>
                  <a:srgbClr val="111111"/>
                </a:solidFill>
                <a:latin typeface="Times New Roman" panose="02020603050405020304" pitchFamily="18" charset="0"/>
                <a:ea typeface="Aptos Display" pitchFamily="34" charset="-122"/>
                <a:cs typeface="Times New Roman" panose="02020603050405020304" pitchFamily="18" charset="0"/>
              </a:rPr>
              <a:t>15</a:t>
            </a:r>
            <a:endParaRPr lang="en-US" sz="3100" dirty="0">
              <a:latin typeface="Times New Roman" panose="02020603050405020304" pitchFamily="18" charset="0"/>
              <a:cs typeface="Times New Roman" panose="02020603050405020304" pitchFamily="18" charset="0"/>
            </a:endParaRPr>
          </a:p>
        </p:txBody>
      </p:sp>
      <p:sp>
        <p:nvSpPr>
          <p:cNvPr id="14" name="Text 7">
            <a:extLst>
              <a:ext uri="{FF2B5EF4-FFF2-40B4-BE49-F238E27FC236}">
                <a16:creationId xmlns:a16="http://schemas.microsoft.com/office/drawing/2014/main" id="{1F237E23-AD72-1ECB-C87F-F72B2FDC0D98}"/>
              </a:ext>
            </a:extLst>
          </p:cNvPr>
          <p:cNvSpPr/>
          <p:nvPr/>
        </p:nvSpPr>
        <p:spPr>
          <a:xfrm>
            <a:off x="6400800" y="2596896"/>
            <a:ext cx="3657600" cy="146304"/>
          </a:xfrm>
          <a:prstGeom prst="rect">
            <a:avLst/>
          </a:prstGeom>
          <a:noFill/>
          <a:ln/>
        </p:spPr>
        <p:txBody>
          <a:bodyPr wrap="square" lIns="0" tIns="0" rIns="0" bIns="0" rtlCol="0" anchor="ctr">
            <a:normAutofit fontScale="92500" lnSpcReduction="10000"/>
          </a:bodyPr>
          <a:lstStyle/>
          <a:p>
            <a:pPr marL="0" indent="0" algn="ctr">
              <a:buNone/>
            </a:pPr>
            <a:r>
              <a:rPr lang="en-US" sz="1100" b="1" dirty="0">
                <a:solidFill>
                  <a:srgbClr val="071A55"/>
                </a:solidFill>
                <a:latin typeface="Times New Roman" panose="02020603050405020304" pitchFamily="18" charset="0"/>
                <a:ea typeface="Aptos" pitchFamily="34" charset="-122"/>
                <a:cs typeface="Times New Roman" panose="02020603050405020304" pitchFamily="18" charset="0"/>
              </a:rPr>
              <a:t>FROZEN HELD-OUT</a:t>
            </a:r>
            <a:endParaRPr lang="en-US" sz="1100" dirty="0">
              <a:latin typeface="Times New Roman" panose="02020603050405020304" pitchFamily="18" charset="0"/>
              <a:cs typeface="Times New Roman" panose="02020603050405020304" pitchFamily="18" charset="0"/>
            </a:endParaRPr>
          </a:p>
        </p:txBody>
      </p:sp>
      <p:sp>
        <p:nvSpPr>
          <p:cNvPr id="16" name="Text 8">
            <a:extLst>
              <a:ext uri="{FF2B5EF4-FFF2-40B4-BE49-F238E27FC236}">
                <a16:creationId xmlns:a16="http://schemas.microsoft.com/office/drawing/2014/main" id="{AE640C1F-2F78-4281-44F7-88C8604D8195}"/>
              </a:ext>
            </a:extLst>
          </p:cNvPr>
          <p:cNvSpPr/>
          <p:nvPr/>
        </p:nvSpPr>
        <p:spPr>
          <a:xfrm>
            <a:off x="7306056" y="2834640"/>
            <a:ext cx="1828800" cy="292608"/>
          </a:xfrm>
          <a:prstGeom prst="rect">
            <a:avLst/>
          </a:prstGeom>
          <a:noFill/>
          <a:ln/>
        </p:spPr>
        <p:txBody>
          <a:bodyPr wrap="square" lIns="0" tIns="0" rIns="0" bIns="0" rtlCol="0" anchor="ctr">
            <a:normAutofit fontScale="77500" lnSpcReduction="20000"/>
          </a:bodyPr>
          <a:lstStyle/>
          <a:p>
            <a:pPr marL="0" indent="0" algn="ctr">
              <a:buNone/>
            </a:pPr>
            <a:r>
              <a:rPr lang="en-US" sz="3100" b="1" dirty="0">
                <a:solidFill>
                  <a:srgbClr val="111111"/>
                </a:solidFill>
                <a:latin typeface="Times New Roman" panose="02020603050405020304" pitchFamily="18" charset="0"/>
                <a:ea typeface="Aptos Display" pitchFamily="34" charset="-122"/>
                <a:cs typeface="Times New Roman" panose="02020603050405020304" pitchFamily="18" charset="0"/>
              </a:rPr>
              <a:t>15</a:t>
            </a:r>
            <a:endParaRPr lang="en-US" sz="3100" dirty="0">
              <a:latin typeface="Times New Roman" panose="02020603050405020304" pitchFamily="18" charset="0"/>
              <a:cs typeface="Times New Roman" panose="02020603050405020304" pitchFamily="18" charset="0"/>
            </a:endParaRPr>
          </a:p>
        </p:txBody>
      </p:sp>
      <p:sp>
        <p:nvSpPr>
          <p:cNvPr id="18" name="Shape 9">
            <a:extLst>
              <a:ext uri="{FF2B5EF4-FFF2-40B4-BE49-F238E27FC236}">
                <a16:creationId xmlns:a16="http://schemas.microsoft.com/office/drawing/2014/main" id="{83414808-257F-72E6-CF6A-BDF70B57A363}"/>
              </a:ext>
            </a:extLst>
          </p:cNvPr>
          <p:cNvSpPr/>
          <p:nvPr/>
        </p:nvSpPr>
        <p:spPr>
          <a:xfrm>
            <a:off x="1874520" y="3255264"/>
            <a:ext cx="4229100" cy="274320"/>
          </a:xfrm>
          <a:prstGeom prst="rect">
            <a:avLst/>
          </a:prstGeom>
          <a:solidFill>
            <a:srgbClr val="00BFFF"/>
          </a:solidFill>
          <a:ln w="12700">
            <a:solidFill>
              <a:srgbClr val="00BFFF">
                <a:alpha val="0"/>
              </a:srgbClr>
            </a:solidFill>
            <a:prstDash val="solid"/>
          </a:ln>
        </p:spPr>
        <p:txBody>
          <a:bodyPr/>
          <a:lstStyle/>
          <a:p>
            <a:endParaRPr lang="zh-CN" altLang="en-US"/>
          </a:p>
        </p:txBody>
      </p:sp>
      <p:sp>
        <p:nvSpPr>
          <p:cNvPr id="20" name="Shape 10">
            <a:extLst>
              <a:ext uri="{FF2B5EF4-FFF2-40B4-BE49-F238E27FC236}">
                <a16:creationId xmlns:a16="http://schemas.microsoft.com/office/drawing/2014/main" id="{352120ED-F791-90D7-AB82-3B226AB484F9}"/>
              </a:ext>
            </a:extLst>
          </p:cNvPr>
          <p:cNvSpPr/>
          <p:nvPr/>
        </p:nvSpPr>
        <p:spPr>
          <a:xfrm>
            <a:off x="6103620" y="3255264"/>
            <a:ext cx="4229100" cy="274320"/>
          </a:xfrm>
          <a:prstGeom prst="rect">
            <a:avLst/>
          </a:prstGeom>
          <a:solidFill>
            <a:srgbClr val="071A55"/>
          </a:solidFill>
          <a:ln w="12700">
            <a:solidFill>
              <a:srgbClr val="071A55">
                <a:alpha val="0"/>
              </a:srgbClr>
            </a:solidFill>
            <a:prstDash val="solid"/>
          </a:ln>
        </p:spPr>
        <p:txBody>
          <a:bodyPr/>
          <a:lstStyle/>
          <a:p>
            <a:endParaRPr lang="zh-CN" altLang="en-US"/>
          </a:p>
        </p:txBody>
      </p:sp>
      <p:sp>
        <p:nvSpPr>
          <p:cNvPr id="22" name="Shape 11">
            <a:extLst>
              <a:ext uri="{FF2B5EF4-FFF2-40B4-BE49-F238E27FC236}">
                <a16:creationId xmlns:a16="http://schemas.microsoft.com/office/drawing/2014/main" id="{D18818FE-FC89-6BA3-2EF2-48B870687139}"/>
              </a:ext>
            </a:extLst>
          </p:cNvPr>
          <p:cNvSpPr/>
          <p:nvPr/>
        </p:nvSpPr>
        <p:spPr>
          <a:xfrm>
            <a:off x="6103620" y="3200400"/>
            <a:ext cx="0" cy="365760"/>
          </a:xfrm>
          <a:prstGeom prst="line">
            <a:avLst/>
          </a:prstGeom>
          <a:noFill/>
          <a:ln w="12700">
            <a:solidFill>
              <a:srgbClr val="FFFFFF"/>
            </a:solidFill>
            <a:prstDash val="solid"/>
          </a:ln>
        </p:spPr>
        <p:txBody>
          <a:bodyPr/>
          <a:lstStyle/>
          <a:p>
            <a:endParaRPr lang="zh-CN" altLang="en-US"/>
          </a:p>
        </p:txBody>
      </p:sp>
      <p:sp>
        <p:nvSpPr>
          <p:cNvPr id="24" name="Text 12">
            <a:extLst>
              <a:ext uri="{FF2B5EF4-FFF2-40B4-BE49-F238E27FC236}">
                <a16:creationId xmlns:a16="http://schemas.microsoft.com/office/drawing/2014/main" id="{3F76236C-F35A-FAB4-1228-8E29F717D370}"/>
              </a:ext>
            </a:extLst>
          </p:cNvPr>
          <p:cNvSpPr/>
          <p:nvPr/>
        </p:nvSpPr>
        <p:spPr>
          <a:xfrm>
            <a:off x="4361585" y="3771251"/>
            <a:ext cx="3355032" cy="280679"/>
          </a:xfrm>
          <a:prstGeom prst="rect">
            <a:avLst/>
          </a:prstGeom>
          <a:noFill/>
          <a:ln/>
        </p:spPr>
        <p:txBody>
          <a:bodyPr wrap="square" lIns="0" tIns="0" rIns="0" bIns="0" rtlCol="0" anchor="ctr">
            <a:normAutofit/>
          </a:bodyPr>
          <a:lstStyle/>
          <a:p>
            <a:pPr marL="0" indent="0" algn="ctr">
              <a:buNone/>
            </a:pPr>
            <a:r>
              <a:rPr lang="en-US" sz="1600" dirty="0">
                <a:solidFill>
                  <a:srgbClr val="666666"/>
                </a:solidFill>
                <a:latin typeface="Times New Roman" panose="02020603050405020304" pitchFamily="18" charset="0"/>
                <a:ea typeface="Aptos" pitchFamily="34" charset="-122"/>
                <a:cs typeface="Times New Roman" panose="02020603050405020304" pitchFamily="18" charset="0"/>
              </a:rPr>
              <a:t>No post-freeze semantic tuning</a:t>
            </a:r>
            <a:endParaRPr lang="en-US" sz="1600" dirty="0">
              <a:latin typeface="Times New Roman" panose="02020603050405020304" pitchFamily="18" charset="0"/>
              <a:cs typeface="Times New Roman" panose="02020603050405020304" pitchFamily="18" charset="0"/>
            </a:endParaRPr>
          </a:p>
        </p:txBody>
      </p:sp>
      <p:sp>
        <p:nvSpPr>
          <p:cNvPr id="26" name="Text 13">
            <a:extLst>
              <a:ext uri="{FF2B5EF4-FFF2-40B4-BE49-F238E27FC236}">
                <a16:creationId xmlns:a16="http://schemas.microsoft.com/office/drawing/2014/main" id="{B6AF48F1-8DD6-40E5-F773-721B45C87647}"/>
              </a:ext>
            </a:extLst>
          </p:cNvPr>
          <p:cNvSpPr/>
          <p:nvPr/>
        </p:nvSpPr>
        <p:spPr>
          <a:xfrm>
            <a:off x="3429000" y="3591862"/>
            <a:ext cx="5303520" cy="201168"/>
          </a:xfrm>
          <a:prstGeom prst="rect">
            <a:avLst/>
          </a:prstGeom>
          <a:noFill/>
          <a:ln/>
        </p:spPr>
        <p:txBody>
          <a:bodyPr wrap="square" lIns="0" tIns="0" rIns="0" bIns="0" rtlCol="0" anchor="ctr">
            <a:normAutofit fontScale="92500" lnSpcReduction="20000"/>
          </a:bodyPr>
          <a:lstStyle/>
          <a:p>
            <a:pPr marL="0" indent="0" algn="ctr">
              <a:buNone/>
            </a:pPr>
            <a:r>
              <a:rPr lang="en-US" sz="1600" b="1" dirty="0">
                <a:solidFill>
                  <a:srgbClr val="071A55"/>
                </a:solidFill>
                <a:latin typeface="Times New Roman" panose="02020603050405020304" pitchFamily="18" charset="0"/>
                <a:ea typeface="Aptos" pitchFamily="34" charset="-122"/>
                <a:cs typeface="Times New Roman" panose="02020603050405020304" pitchFamily="18" charset="0"/>
              </a:rPr>
              <a:t>Same frozen evaluation system across both splits</a:t>
            </a:r>
            <a:endParaRPr lang="en-US" sz="1600" dirty="0">
              <a:latin typeface="Times New Roman" panose="02020603050405020304" pitchFamily="18" charset="0"/>
              <a:cs typeface="Times New Roman" panose="02020603050405020304" pitchFamily="18" charset="0"/>
            </a:endParaRPr>
          </a:p>
        </p:txBody>
      </p:sp>
      <p:sp>
        <p:nvSpPr>
          <p:cNvPr id="28" name="Text 14">
            <a:extLst>
              <a:ext uri="{FF2B5EF4-FFF2-40B4-BE49-F238E27FC236}">
                <a16:creationId xmlns:a16="http://schemas.microsoft.com/office/drawing/2014/main" id="{734DCFE5-B3C4-8498-C989-C9C7D7F40E4C}"/>
              </a:ext>
            </a:extLst>
          </p:cNvPr>
          <p:cNvSpPr/>
          <p:nvPr/>
        </p:nvSpPr>
        <p:spPr>
          <a:xfrm>
            <a:off x="266720" y="4122368"/>
            <a:ext cx="2011680" cy="228600"/>
          </a:xfrm>
          <a:prstGeom prst="rect">
            <a:avLst/>
          </a:prstGeom>
          <a:noFill/>
          <a:ln/>
        </p:spPr>
        <p:txBody>
          <a:bodyPr wrap="square" lIns="0" tIns="0" rIns="0" bIns="0" rtlCol="0" anchor="ctr">
            <a:normAutofit/>
          </a:bodyPr>
          <a:lstStyle/>
          <a:p>
            <a:pPr marL="0" indent="0" algn="l">
              <a:buNone/>
            </a:pPr>
            <a:r>
              <a:rPr lang="en-US" sz="1400" b="1" dirty="0">
                <a:solidFill>
                  <a:srgbClr val="071A55"/>
                </a:solidFill>
                <a:latin typeface="Times New Roman" panose="02020603050405020304" pitchFamily="18" charset="0"/>
                <a:ea typeface="Aptos" pitchFamily="34" charset="-122"/>
                <a:cs typeface="Times New Roman" panose="02020603050405020304" pitchFamily="18" charset="0"/>
              </a:rPr>
              <a:t>EVALUATION ORDER</a:t>
            </a:r>
            <a:endParaRPr lang="en-US" sz="1400" dirty="0">
              <a:latin typeface="Times New Roman" panose="02020603050405020304" pitchFamily="18" charset="0"/>
              <a:cs typeface="Times New Roman" panose="02020603050405020304" pitchFamily="18" charset="0"/>
            </a:endParaRPr>
          </a:p>
        </p:txBody>
      </p:sp>
      <p:sp>
        <p:nvSpPr>
          <p:cNvPr id="30" name="Text 15">
            <a:extLst>
              <a:ext uri="{FF2B5EF4-FFF2-40B4-BE49-F238E27FC236}">
                <a16:creationId xmlns:a16="http://schemas.microsoft.com/office/drawing/2014/main" id="{DE154C59-57D4-A759-A7AC-1D877988766C}"/>
              </a:ext>
            </a:extLst>
          </p:cNvPr>
          <p:cNvSpPr/>
          <p:nvPr/>
        </p:nvSpPr>
        <p:spPr>
          <a:xfrm>
            <a:off x="1545026" y="4409199"/>
            <a:ext cx="556653" cy="228600"/>
          </a:xfrm>
          <a:prstGeom prst="rect">
            <a:avLst/>
          </a:prstGeom>
          <a:noFill/>
          <a:ln/>
        </p:spPr>
        <p:txBody>
          <a:bodyPr wrap="square" lIns="0" tIns="0" rIns="0" bIns="0" rtlCol="0" anchor="ctr">
            <a:normAutofit/>
          </a:bodyPr>
          <a:lstStyle/>
          <a:p>
            <a:pPr marL="0" indent="0" algn="l">
              <a:buNone/>
            </a:pPr>
            <a:r>
              <a:rPr lang="en-US" sz="1200" dirty="0">
                <a:solidFill>
                  <a:srgbClr val="00BFFF"/>
                </a:solidFill>
                <a:latin typeface="Times New Roman" panose="02020603050405020304" pitchFamily="18" charset="0"/>
                <a:ea typeface="Consolas" pitchFamily="34" charset="-122"/>
                <a:cs typeface="Times New Roman" panose="02020603050405020304" pitchFamily="18" charset="0"/>
              </a:rPr>
              <a:t>01</a:t>
            </a:r>
            <a:endParaRPr lang="en-US" sz="1200" dirty="0">
              <a:latin typeface="Times New Roman" panose="02020603050405020304" pitchFamily="18" charset="0"/>
              <a:cs typeface="Times New Roman" panose="02020603050405020304" pitchFamily="18" charset="0"/>
            </a:endParaRPr>
          </a:p>
        </p:txBody>
      </p:sp>
      <p:sp>
        <p:nvSpPr>
          <p:cNvPr id="33" name="Text 16">
            <a:extLst>
              <a:ext uri="{FF2B5EF4-FFF2-40B4-BE49-F238E27FC236}">
                <a16:creationId xmlns:a16="http://schemas.microsoft.com/office/drawing/2014/main" id="{4AE3B09C-E976-3065-55CA-1196E4F187E0}"/>
              </a:ext>
            </a:extLst>
          </p:cNvPr>
          <p:cNvSpPr/>
          <p:nvPr/>
        </p:nvSpPr>
        <p:spPr>
          <a:xfrm>
            <a:off x="1526855" y="4686732"/>
            <a:ext cx="2481012" cy="219456"/>
          </a:xfrm>
          <a:prstGeom prst="rect">
            <a:avLst/>
          </a:prstGeom>
          <a:noFill/>
          <a:ln/>
        </p:spPr>
        <p:txBody>
          <a:bodyPr wrap="square" lIns="0" tIns="0" rIns="0" bIns="0" rtlCol="0" anchor="ctr">
            <a:noAutofit/>
          </a:bodyPr>
          <a:lstStyle/>
          <a:p>
            <a:pPr marL="0" indent="0" algn="l">
              <a:buNone/>
            </a:pPr>
            <a:r>
              <a:rPr lang="en-US" sz="2000" b="1" dirty="0">
                <a:solidFill>
                  <a:srgbClr val="111111"/>
                </a:solidFill>
                <a:latin typeface="Times New Roman" panose="02020603050405020304" pitchFamily="18" charset="0"/>
                <a:ea typeface="Aptos" pitchFamily="34" charset="-122"/>
                <a:cs typeface="Times New Roman" panose="02020603050405020304" pitchFamily="18" charset="0"/>
              </a:rPr>
              <a:t>Freeze system</a:t>
            </a:r>
            <a:endParaRPr lang="en-US" sz="2000" dirty="0">
              <a:latin typeface="Times New Roman" panose="02020603050405020304" pitchFamily="18" charset="0"/>
              <a:cs typeface="Times New Roman" panose="02020603050405020304" pitchFamily="18" charset="0"/>
            </a:endParaRPr>
          </a:p>
        </p:txBody>
      </p:sp>
      <p:sp>
        <p:nvSpPr>
          <p:cNvPr id="35" name="Text 17">
            <a:extLst>
              <a:ext uri="{FF2B5EF4-FFF2-40B4-BE49-F238E27FC236}">
                <a16:creationId xmlns:a16="http://schemas.microsoft.com/office/drawing/2014/main" id="{90F702F8-9DED-751A-C9B1-4111548690C8}"/>
              </a:ext>
            </a:extLst>
          </p:cNvPr>
          <p:cNvSpPr/>
          <p:nvPr/>
        </p:nvSpPr>
        <p:spPr>
          <a:xfrm>
            <a:off x="1526855" y="4942764"/>
            <a:ext cx="2481012" cy="292608"/>
          </a:xfrm>
          <a:prstGeom prst="rect">
            <a:avLst/>
          </a:prstGeom>
          <a:noFill/>
          <a:ln/>
        </p:spPr>
        <p:txBody>
          <a:bodyPr wrap="square" lIns="0" tIns="0" rIns="0" bIns="0" rtlCol="0" anchor="ctr">
            <a:noAutofit/>
          </a:bodyPr>
          <a:lstStyle/>
          <a:p>
            <a:pPr marL="0" indent="0" algn="l">
              <a:buNone/>
            </a:pPr>
            <a:r>
              <a:rPr lang="en-US" sz="1400" dirty="0">
                <a:solidFill>
                  <a:srgbClr val="666666"/>
                </a:solidFill>
                <a:latin typeface="Times New Roman" panose="02020603050405020304" pitchFamily="18" charset="0"/>
                <a:ea typeface="Aptos" pitchFamily="34" charset="-122"/>
                <a:cs typeface="Times New Roman" panose="02020603050405020304" pitchFamily="18" charset="0"/>
              </a:rPr>
              <a:t>implementation + protocols</a:t>
            </a:r>
            <a:endParaRPr lang="en-US" sz="1400" dirty="0">
              <a:latin typeface="Times New Roman" panose="02020603050405020304" pitchFamily="18" charset="0"/>
              <a:cs typeface="Times New Roman" panose="02020603050405020304" pitchFamily="18" charset="0"/>
            </a:endParaRPr>
          </a:p>
        </p:txBody>
      </p:sp>
      <p:sp>
        <p:nvSpPr>
          <p:cNvPr id="37" name="Text 18">
            <a:extLst>
              <a:ext uri="{FF2B5EF4-FFF2-40B4-BE49-F238E27FC236}">
                <a16:creationId xmlns:a16="http://schemas.microsoft.com/office/drawing/2014/main" id="{2C8F8376-DA4D-BD83-8129-1E113AA94684}"/>
              </a:ext>
            </a:extLst>
          </p:cNvPr>
          <p:cNvSpPr/>
          <p:nvPr/>
        </p:nvSpPr>
        <p:spPr>
          <a:xfrm>
            <a:off x="4276494" y="4407407"/>
            <a:ext cx="556652" cy="270119"/>
          </a:xfrm>
          <a:prstGeom prst="rect">
            <a:avLst/>
          </a:prstGeom>
          <a:noFill/>
          <a:ln/>
        </p:spPr>
        <p:txBody>
          <a:bodyPr wrap="square" lIns="0" tIns="0" rIns="0" bIns="0" rtlCol="0" anchor="ctr">
            <a:normAutofit/>
          </a:bodyPr>
          <a:lstStyle/>
          <a:p>
            <a:pPr marL="0" indent="0" algn="l">
              <a:buNone/>
            </a:pPr>
            <a:r>
              <a:rPr lang="en-US" sz="1200" dirty="0">
                <a:solidFill>
                  <a:srgbClr val="00BFFF"/>
                </a:solidFill>
                <a:latin typeface="Times New Roman" panose="02020603050405020304" pitchFamily="18" charset="0"/>
                <a:ea typeface="Consolas" pitchFamily="34" charset="-122"/>
                <a:cs typeface="Times New Roman" panose="02020603050405020304" pitchFamily="18" charset="0"/>
              </a:rPr>
              <a:t>02</a:t>
            </a:r>
            <a:endParaRPr lang="en-US" sz="1200" dirty="0">
              <a:latin typeface="Times New Roman" panose="02020603050405020304" pitchFamily="18" charset="0"/>
              <a:cs typeface="Times New Roman" panose="02020603050405020304" pitchFamily="18" charset="0"/>
            </a:endParaRPr>
          </a:p>
        </p:txBody>
      </p:sp>
      <p:sp>
        <p:nvSpPr>
          <p:cNvPr id="39" name="Text 19">
            <a:extLst>
              <a:ext uri="{FF2B5EF4-FFF2-40B4-BE49-F238E27FC236}">
                <a16:creationId xmlns:a16="http://schemas.microsoft.com/office/drawing/2014/main" id="{60B65364-15A5-930E-9B39-318D33524E0D}"/>
              </a:ext>
            </a:extLst>
          </p:cNvPr>
          <p:cNvSpPr/>
          <p:nvPr/>
        </p:nvSpPr>
        <p:spPr>
          <a:xfrm>
            <a:off x="4290412" y="4708974"/>
            <a:ext cx="1874520" cy="219456"/>
          </a:xfrm>
          <a:prstGeom prst="rect">
            <a:avLst/>
          </a:prstGeom>
          <a:noFill/>
          <a:ln/>
        </p:spPr>
        <p:txBody>
          <a:bodyPr wrap="square" lIns="0" tIns="0" rIns="0" bIns="0" rtlCol="0" anchor="ctr">
            <a:noAutofit/>
          </a:bodyPr>
          <a:lstStyle/>
          <a:p>
            <a:pPr marL="0" indent="0" algn="l">
              <a:buNone/>
            </a:pPr>
            <a:r>
              <a:rPr lang="en-US" sz="1600" b="1" dirty="0">
                <a:solidFill>
                  <a:srgbClr val="111111"/>
                </a:solidFill>
                <a:latin typeface="Times New Roman" panose="02020603050405020304" pitchFamily="18" charset="0"/>
                <a:ea typeface="Aptos" pitchFamily="34" charset="-122"/>
                <a:cs typeface="Times New Roman" panose="02020603050405020304" pitchFamily="18" charset="0"/>
              </a:rPr>
              <a:t>Run both splits</a:t>
            </a:r>
            <a:endParaRPr lang="en-US" sz="1600" dirty="0">
              <a:latin typeface="Times New Roman" panose="02020603050405020304" pitchFamily="18" charset="0"/>
              <a:cs typeface="Times New Roman" panose="02020603050405020304" pitchFamily="18" charset="0"/>
            </a:endParaRPr>
          </a:p>
        </p:txBody>
      </p:sp>
      <p:sp>
        <p:nvSpPr>
          <p:cNvPr id="41" name="Text 20">
            <a:extLst>
              <a:ext uri="{FF2B5EF4-FFF2-40B4-BE49-F238E27FC236}">
                <a16:creationId xmlns:a16="http://schemas.microsoft.com/office/drawing/2014/main" id="{CE3DDED0-C3F1-ED5E-DECD-E743316EDFA2}"/>
              </a:ext>
            </a:extLst>
          </p:cNvPr>
          <p:cNvSpPr/>
          <p:nvPr/>
        </p:nvSpPr>
        <p:spPr>
          <a:xfrm>
            <a:off x="4290412" y="4965006"/>
            <a:ext cx="1874520" cy="292608"/>
          </a:xfrm>
          <a:prstGeom prst="rect">
            <a:avLst/>
          </a:prstGeom>
          <a:noFill/>
          <a:ln/>
        </p:spPr>
        <p:txBody>
          <a:bodyPr wrap="square" lIns="0" tIns="0" rIns="0" bIns="0" rtlCol="0" anchor="ctr">
            <a:normAutofit/>
          </a:bodyPr>
          <a:lstStyle/>
          <a:p>
            <a:pPr marL="0" indent="0" algn="l">
              <a:buNone/>
            </a:pPr>
            <a:r>
              <a:rPr lang="en-US" sz="1100" dirty="0">
                <a:solidFill>
                  <a:srgbClr val="666666"/>
                </a:solidFill>
                <a:latin typeface="Times New Roman" panose="02020603050405020304" pitchFamily="18" charset="0"/>
                <a:ea typeface="Aptos" pitchFamily="34" charset="-122"/>
                <a:cs typeface="Times New Roman" panose="02020603050405020304" pitchFamily="18" charset="0"/>
              </a:rPr>
              <a:t>development + held-out</a:t>
            </a:r>
            <a:endParaRPr lang="en-US" sz="1100" dirty="0">
              <a:latin typeface="Times New Roman" panose="02020603050405020304" pitchFamily="18" charset="0"/>
              <a:cs typeface="Times New Roman" panose="02020603050405020304" pitchFamily="18" charset="0"/>
            </a:endParaRPr>
          </a:p>
        </p:txBody>
      </p:sp>
      <p:sp>
        <p:nvSpPr>
          <p:cNvPr id="43" name="Text 21">
            <a:extLst>
              <a:ext uri="{FF2B5EF4-FFF2-40B4-BE49-F238E27FC236}">
                <a16:creationId xmlns:a16="http://schemas.microsoft.com/office/drawing/2014/main" id="{2573F399-06F5-1A99-5442-5FC79D50E442}"/>
              </a:ext>
            </a:extLst>
          </p:cNvPr>
          <p:cNvSpPr/>
          <p:nvPr/>
        </p:nvSpPr>
        <p:spPr>
          <a:xfrm>
            <a:off x="6902403" y="4510648"/>
            <a:ext cx="320040" cy="146304"/>
          </a:xfrm>
          <a:prstGeom prst="rect">
            <a:avLst/>
          </a:prstGeom>
          <a:noFill/>
          <a:ln/>
        </p:spPr>
        <p:txBody>
          <a:bodyPr wrap="square" lIns="0" tIns="0" rIns="0" bIns="0" rtlCol="0" anchor="ctr">
            <a:noAutofit/>
          </a:bodyPr>
          <a:lstStyle/>
          <a:p>
            <a:pPr marL="0" indent="0" algn="l">
              <a:buNone/>
            </a:pPr>
            <a:r>
              <a:rPr lang="en-US" sz="1200" dirty="0">
                <a:solidFill>
                  <a:srgbClr val="00BFFF"/>
                </a:solidFill>
                <a:latin typeface="Times New Roman" panose="02020603050405020304" pitchFamily="18" charset="0"/>
                <a:ea typeface="Consolas" pitchFamily="34" charset="-122"/>
                <a:cs typeface="Times New Roman" panose="02020603050405020304" pitchFamily="18" charset="0"/>
              </a:rPr>
              <a:t>03</a:t>
            </a:r>
            <a:endParaRPr lang="en-US" sz="1200" dirty="0">
              <a:latin typeface="Times New Roman" panose="02020603050405020304" pitchFamily="18" charset="0"/>
              <a:cs typeface="Times New Roman" panose="02020603050405020304" pitchFamily="18" charset="0"/>
            </a:endParaRPr>
          </a:p>
        </p:txBody>
      </p:sp>
      <p:sp>
        <p:nvSpPr>
          <p:cNvPr id="45" name="Text 22">
            <a:extLst>
              <a:ext uri="{FF2B5EF4-FFF2-40B4-BE49-F238E27FC236}">
                <a16:creationId xmlns:a16="http://schemas.microsoft.com/office/drawing/2014/main" id="{4F14CDA6-16A6-88E0-701D-710329451D61}"/>
              </a:ext>
            </a:extLst>
          </p:cNvPr>
          <p:cNvSpPr/>
          <p:nvPr/>
        </p:nvSpPr>
        <p:spPr>
          <a:xfrm>
            <a:off x="6909199" y="4708974"/>
            <a:ext cx="1874520" cy="240091"/>
          </a:xfrm>
          <a:prstGeom prst="rect">
            <a:avLst/>
          </a:prstGeom>
          <a:noFill/>
          <a:ln/>
        </p:spPr>
        <p:txBody>
          <a:bodyPr wrap="square" lIns="0" tIns="0" rIns="0" bIns="0" rtlCol="0" anchor="ctr">
            <a:normAutofit lnSpcReduction="10000"/>
          </a:bodyPr>
          <a:lstStyle/>
          <a:p>
            <a:pPr marL="0" indent="0" algn="l">
              <a:buNone/>
            </a:pPr>
            <a:r>
              <a:rPr lang="en-US" sz="1600" b="1" dirty="0">
                <a:solidFill>
                  <a:srgbClr val="111111"/>
                </a:solidFill>
                <a:latin typeface="Times New Roman" panose="02020603050405020304" pitchFamily="18" charset="0"/>
                <a:ea typeface="Aptos" pitchFamily="34" charset="-122"/>
                <a:cs typeface="Times New Roman" panose="02020603050405020304" pitchFamily="18" charset="0"/>
              </a:rPr>
              <a:t>Seal raw evidence</a:t>
            </a:r>
            <a:endParaRPr lang="en-US" sz="1600" dirty="0">
              <a:latin typeface="Times New Roman" panose="02020603050405020304" pitchFamily="18" charset="0"/>
              <a:cs typeface="Times New Roman" panose="02020603050405020304" pitchFamily="18" charset="0"/>
            </a:endParaRPr>
          </a:p>
        </p:txBody>
      </p:sp>
      <p:sp>
        <p:nvSpPr>
          <p:cNvPr id="47" name="Text 23">
            <a:extLst>
              <a:ext uri="{FF2B5EF4-FFF2-40B4-BE49-F238E27FC236}">
                <a16:creationId xmlns:a16="http://schemas.microsoft.com/office/drawing/2014/main" id="{20F2C798-76B1-F452-7723-5A8D97B716AC}"/>
              </a:ext>
            </a:extLst>
          </p:cNvPr>
          <p:cNvSpPr/>
          <p:nvPr/>
        </p:nvSpPr>
        <p:spPr>
          <a:xfrm>
            <a:off x="6942172" y="4940416"/>
            <a:ext cx="1874520" cy="292608"/>
          </a:xfrm>
          <a:prstGeom prst="rect">
            <a:avLst/>
          </a:prstGeom>
          <a:noFill/>
          <a:ln/>
        </p:spPr>
        <p:txBody>
          <a:bodyPr wrap="square" lIns="0" tIns="0" rIns="0" bIns="0" rtlCol="0" anchor="ctr">
            <a:normAutofit/>
          </a:bodyPr>
          <a:lstStyle/>
          <a:p>
            <a:pPr marL="0" indent="0" algn="l">
              <a:buNone/>
            </a:pPr>
            <a:r>
              <a:rPr lang="en-US" sz="1100" dirty="0">
                <a:solidFill>
                  <a:srgbClr val="666666"/>
                </a:solidFill>
                <a:latin typeface="Times New Roman" panose="02020603050405020304" pitchFamily="18" charset="0"/>
                <a:ea typeface="Aptos" pitchFamily="34" charset="-122"/>
                <a:cs typeface="Times New Roman" panose="02020603050405020304" pitchFamily="18" charset="0"/>
              </a:rPr>
              <a:t>formal run artifacts</a:t>
            </a:r>
            <a:endParaRPr lang="en-US" sz="1100" dirty="0">
              <a:latin typeface="Times New Roman" panose="02020603050405020304" pitchFamily="18" charset="0"/>
              <a:cs typeface="Times New Roman" panose="02020603050405020304" pitchFamily="18" charset="0"/>
            </a:endParaRPr>
          </a:p>
        </p:txBody>
      </p:sp>
      <p:sp>
        <p:nvSpPr>
          <p:cNvPr id="49" name="Text 24">
            <a:extLst>
              <a:ext uri="{FF2B5EF4-FFF2-40B4-BE49-F238E27FC236}">
                <a16:creationId xmlns:a16="http://schemas.microsoft.com/office/drawing/2014/main" id="{B21CD27A-AD4A-3B8E-C9FB-F26E0188F46B}"/>
              </a:ext>
            </a:extLst>
          </p:cNvPr>
          <p:cNvSpPr/>
          <p:nvPr/>
        </p:nvSpPr>
        <p:spPr>
          <a:xfrm>
            <a:off x="9375395" y="4433048"/>
            <a:ext cx="457200" cy="292608"/>
          </a:xfrm>
          <a:prstGeom prst="rect">
            <a:avLst/>
          </a:prstGeom>
          <a:noFill/>
          <a:ln/>
        </p:spPr>
        <p:txBody>
          <a:bodyPr wrap="square" lIns="0" tIns="0" rIns="0" bIns="0" rtlCol="0" anchor="ctr">
            <a:normAutofit/>
          </a:bodyPr>
          <a:lstStyle/>
          <a:p>
            <a:pPr marL="0" indent="0" algn="l">
              <a:buNone/>
            </a:pPr>
            <a:r>
              <a:rPr lang="en-US" sz="1200" dirty="0">
                <a:solidFill>
                  <a:srgbClr val="00BFFF"/>
                </a:solidFill>
                <a:latin typeface="Times New Roman" panose="02020603050405020304" pitchFamily="18" charset="0"/>
                <a:ea typeface="Consolas" pitchFamily="34" charset="-122"/>
                <a:cs typeface="Times New Roman" panose="02020603050405020304" pitchFamily="18" charset="0"/>
              </a:rPr>
              <a:t>04</a:t>
            </a:r>
            <a:endParaRPr lang="en-US" sz="1200" dirty="0">
              <a:latin typeface="Times New Roman" panose="02020603050405020304" pitchFamily="18" charset="0"/>
              <a:cs typeface="Times New Roman" panose="02020603050405020304" pitchFamily="18" charset="0"/>
            </a:endParaRPr>
          </a:p>
        </p:txBody>
      </p:sp>
      <p:sp>
        <p:nvSpPr>
          <p:cNvPr id="51" name="Text 25">
            <a:extLst>
              <a:ext uri="{FF2B5EF4-FFF2-40B4-BE49-F238E27FC236}">
                <a16:creationId xmlns:a16="http://schemas.microsoft.com/office/drawing/2014/main" id="{7C9BDFC6-E682-CAA8-2BB1-286E7371915A}"/>
              </a:ext>
            </a:extLst>
          </p:cNvPr>
          <p:cNvSpPr/>
          <p:nvPr/>
        </p:nvSpPr>
        <p:spPr>
          <a:xfrm>
            <a:off x="9408368" y="4672522"/>
            <a:ext cx="2645216" cy="289148"/>
          </a:xfrm>
          <a:prstGeom prst="rect">
            <a:avLst/>
          </a:prstGeom>
          <a:noFill/>
          <a:ln/>
        </p:spPr>
        <p:txBody>
          <a:bodyPr wrap="square" lIns="0" tIns="0" rIns="0" bIns="0" rtlCol="0" anchor="ctr">
            <a:normAutofit/>
          </a:bodyPr>
          <a:lstStyle/>
          <a:p>
            <a:pPr marL="0" indent="0" algn="l">
              <a:buNone/>
            </a:pPr>
            <a:r>
              <a:rPr lang="en-US" sz="1600" b="1" dirty="0">
                <a:solidFill>
                  <a:srgbClr val="111111"/>
                </a:solidFill>
                <a:latin typeface="Times New Roman" panose="02020603050405020304" pitchFamily="18" charset="0"/>
                <a:ea typeface="Aptos" pitchFamily="34" charset="-122"/>
                <a:cs typeface="Times New Roman" panose="02020603050405020304" pitchFamily="18" charset="0"/>
              </a:rPr>
              <a:t>Evaluate outcomes</a:t>
            </a:r>
            <a:endParaRPr lang="en-US" sz="1600" dirty="0">
              <a:latin typeface="Times New Roman" panose="02020603050405020304" pitchFamily="18" charset="0"/>
              <a:cs typeface="Times New Roman" panose="02020603050405020304" pitchFamily="18" charset="0"/>
            </a:endParaRPr>
          </a:p>
        </p:txBody>
      </p:sp>
      <p:sp>
        <p:nvSpPr>
          <p:cNvPr id="53" name="Text 26">
            <a:extLst>
              <a:ext uri="{FF2B5EF4-FFF2-40B4-BE49-F238E27FC236}">
                <a16:creationId xmlns:a16="http://schemas.microsoft.com/office/drawing/2014/main" id="{3599E2C7-72CF-23D8-07C6-FC4EAD0A7893}"/>
              </a:ext>
            </a:extLst>
          </p:cNvPr>
          <p:cNvSpPr/>
          <p:nvPr/>
        </p:nvSpPr>
        <p:spPr>
          <a:xfrm>
            <a:off x="9387434" y="4932136"/>
            <a:ext cx="2645216" cy="344631"/>
          </a:xfrm>
          <a:prstGeom prst="rect">
            <a:avLst/>
          </a:prstGeom>
          <a:noFill/>
          <a:ln/>
        </p:spPr>
        <p:txBody>
          <a:bodyPr wrap="square" lIns="0" tIns="0" rIns="0" bIns="0" rtlCol="0" anchor="ctr">
            <a:normAutofit/>
          </a:bodyPr>
          <a:lstStyle/>
          <a:p>
            <a:pPr marL="0" indent="0" algn="l">
              <a:buNone/>
            </a:pPr>
            <a:r>
              <a:rPr lang="en-US" sz="1100" dirty="0">
                <a:solidFill>
                  <a:srgbClr val="666666"/>
                </a:solidFill>
                <a:latin typeface="Times New Roman" panose="02020603050405020304" pitchFamily="18" charset="0"/>
                <a:ea typeface="Aptos" pitchFamily="34" charset="-122"/>
                <a:cs typeface="Times New Roman" panose="02020603050405020304" pitchFamily="18" charset="0"/>
              </a:rPr>
              <a:t>expected labels used</a:t>
            </a:r>
          </a:p>
          <a:p>
            <a:pPr marL="0" indent="0" algn="l">
              <a:buNone/>
            </a:pPr>
            <a:r>
              <a:rPr lang="en-US" sz="1100" dirty="0">
                <a:solidFill>
                  <a:srgbClr val="666666"/>
                </a:solidFill>
                <a:latin typeface="Times New Roman" panose="02020603050405020304" pitchFamily="18" charset="0"/>
                <a:ea typeface="Aptos" pitchFamily="34" charset="-122"/>
                <a:cs typeface="Times New Roman" panose="02020603050405020304" pitchFamily="18" charset="0"/>
              </a:rPr>
              <a:t>only for statistics</a:t>
            </a:r>
            <a:endParaRPr lang="en-US" sz="1100" dirty="0">
              <a:latin typeface="Times New Roman" panose="02020603050405020304" pitchFamily="18" charset="0"/>
              <a:cs typeface="Times New Roman" panose="02020603050405020304" pitchFamily="18" charset="0"/>
            </a:endParaRPr>
          </a:p>
        </p:txBody>
      </p:sp>
      <p:sp>
        <p:nvSpPr>
          <p:cNvPr id="55" name="Shape 27">
            <a:extLst>
              <a:ext uri="{FF2B5EF4-FFF2-40B4-BE49-F238E27FC236}">
                <a16:creationId xmlns:a16="http://schemas.microsoft.com/office/drawing/2014/main" id="{92E38F37-F903-F895-42D4-A0D5DFB2CA70}"/>
              </a:ext>
            </a:extLst>
          </p:cNvPr>
          <p:cNvSpPr/>
          <p:nvPr/>
        </p:nvSpPr>
        <p:spPr>
          <a:xfrm>
            <a:off x="3614675" y="4842180"/>
            <a:ext cx="393192" cy="0"/>
          </a:xfrm>
          <a:prstGeom prst="line">
            <a:avLst/>
          </a:prstGeom>
          <a:noFill/>
          <a:ln w="19050">
            <a:solidFill>
              <a:srgbClr val="00BFFF"/>
            </a:solidFill>
            <a:prstDash val="solid"/>
            <a:headEnd type="none"/>
            <a:tailEnd type="triangle"/>
          </a:ln>
        </p:spPr>
        <p:txBody>
          <a:bodyPr/>
          <a:lstStyle/>
          <a:p>
            <a:endParaRPr lang="zh-CN" altLang="en-US"/>
          </a:p>
        </p:txBody>
      </p:sp>
      <p:sp>
        <p:nvSpPr>
          <p:cNvPr id="57" name="Shape 28">
            <a:extLst>
              <a:ext uri="{FF2B5EF4-FFF2-40B4-BE49-F238E27FC236}">
                <a16:creationId xmlns:a16="http://schemas.microsoft.com/office/drawing/2014/main" id="{C2B4CFA9-4AE8-1A44-2685-CBD526C3663F}"/>
              </a:ext>
            </a:extLst>
          </p:cNvPr>
          <p:cNvSpPr/>
          <p:nvPr/>
        </p:nvSpPr>
        <p:spPr>
          <a:xfrm>
            <a:off x="5971939" y="4842180"/>
            <a:ext cx="347472" cy="0"/>
          </a:xfrm>
          <a:prstGeom prst="line">
            <a:avLst/>
          </a:prstGeom>
          <a:noFill/>
          <a:ln w="19050">
            <a:solidFill>
              <a:srgbClr val="00BFFF"/>
            </a:solidFill>
            <a:prstDash val="solid"/>
            <a:headEnd type="none"/>
            <a:tailEnd type="triangle"/>
          </a:ln>
        </p:spPr>
        <p:txBody>
          <a:bodyPr/>
          <a:lstStyle/>
          <a:p>
            <a:endParaRPr lang="zh-CN" altLang="en-US"/>
          </a:p>
        </p:txBody>
      </p:sp>
      <p:sp>
        <p:nvSpPr>
          <p:cNvPr id="59" name="Shape 29">
            <a:extLst>
              <a:ext uri="{FF2B5EF4-FFF2-40B4-BE49-F238E27FC236}">
                <a16:creationId xmlns:a16="http://schemas.microsoft.com/office/drawing/2014/main" id="{EEF16BF9-D02E-C69F-A95F-00094E8F12DD}"/>
              </a:ext>
            </a:extLst>
          </p:cNvPr>
          <p:cNvSpPr/>
          <p:nvPr/>
        </p:nvSpPr>
        <p:spPr>
          <a:xfrm>
            <a:off x="8963915" y="4842180"/>
            <a:ext cx="301752" cy="0"/>
          </a:xfrm>
          <a:prstGeom prst="line">
            <a:avLst/>
          </a:prstGeom>
          <a:noFill/>
          <a:ln w="19050">
            <a:solidFill>
              <a:srgbClr val="00BFFF"/>
            </a:solidFill>
            <a:prstDash val="solid"/>
            <a:headEnd type="none"/>
            <a:tailEnd type="triangle"/>
          </a:ln>
        </p:spPr>
        <p:txBody>
          <a:bodyPr/>
          <a:lstStyle/>
          <a:p>
            <a:endParaRPr lang="zh-CN" altLang="en-US"/>
          </a:p>
        </p:txBody>
      </p:sp>
      <p:sp>
        <p:nvSpPr>
          <p:cNvPr id="65" name="Text 32">
            <a:extLst>
              <a:ext uri="{FF2B5EF4-FFF2-40B4-BE49-F238E27FC236}">
                <a16:creationId xmlns:a16="http://schemas.microsoft.com/office/drawing/2014/main" id="{56F6CEB9-06AD-ACD8-E325-F870DA3F890E}"/>
              </a:ext>
            </a:extLst>
          </p:cNvPr>
          <p:cNvSpPr/>
          <p:nvPr/>
        </p:nvSpPr>
        <p:spPr>
          <a:xfrm>
            <a:off x="2057400" y="5393230"/>
            <a:ext cx="8001000" cy="256032"/>
          </a:xfrm>
          <a:prstGeom prst="rect">
            <a:avLst/>
          </a:prstGeom>
          <a:noFill/>
          <a:ln/>
        </p:spPr>
        <p:txBody>
          <a:bodyPr wrap="square" lIns="0" tIns="0" rIns="0" bIns="0" rtlCol="0" anchor="ctr">
            <a:normAutofit/>
          </a:bodyPr>
          <a:lstStyle/>
          <a:p>
            <a:pPr marL="0" indent="0" algn="ctr">
              <a:buNone/>
            </a:pPr>
            <a:r>
              <a:rPr lang="en-US" sz="1400" dirty="0">
                <a:solidFill>
                  <a:srgbClr val="666666"/>
                </a:solidFill>
                <a:latin typeface="Times New Roman" panose="02020603050405020304" pitchFamily="18" charset="0"/>
                <a:ea typeface="Aptos" pitchFamily="34" charset="-122"/>
                <a:cs typeface="Times New Roman" panose="02020603050405020304" pitchFamily="18" charset="0"/>
              </a:rPr>
              <a:t>Expected labels were not available to semantic inference.</a:t>
            </a:r>
            <a:endParaRPr lang="en-US" sz="1400" dirty="0">
              <a:latin typeface="Times New Roman" panose="02020603050405020304" pitchFamily="18" charset="0"/>
              <a:cs typeface="Times New Roman" panose="02020603050405020304" pitchFamily="18" charset="0"/>
            </a:endParaRPr>
          </a:p>
        </p:txBody>
      </p:sp>
      <p:sp>
        <p:nvSpPr>
          <p:cNvPr id="67" name="Shape 33">
            <a:extLst>
              <a:ext uri="{FF2B5EF4-FFF2-40B4-BE49-F238E27FC236}">
                <a16:creationId xmlns:a16="http://schemas.microsoft.com/office/drawing/2014/main" id="{E8E1025B-A642-CA23-445A-97791DCDC09D}"/>
              </a:ext>
            </a:extLst>
          </p:cNvPr>
          <p:cNvSpPr/>
          <p:nvPr/>
        </p:nvSpPr>
        <p:spPr>
          <a:xfrm>
            <a:off x="502920" y="5870448"/>
            <a:ext cx="11018520" cy="0"/>
          </a:xfrm>
          <a:prstGeom prst="line">
            <a:avLst/>
          </a:prstGeom>
          <a:noFill/>
          <a:ln w="8890">
            <a:solidFill>
              <a:srgbClr val="9EAEBB"/>
            </a:solidFill>
            <a:prstDash val="solid"/>
          </a:ln>
        </p:spPr>
        <p:txBody>
          <a:bodyPr/>
          <a:lstStyle/>
          <a:p>
            <a:endParaRPr lang="zh-CN" altLang="en-US"/>
          </a:p>
        </p:txBody>
      </p:sp>
      <p:sp>
        <p:nvSpPr>
          <p:cNvPr id="69" name="Text 34">
            <a:extLst>
              <a:ext uri="{FF2B5EF4-FFF2-40B4-BE49-F238E27FC236}">
                <a16:creationId xmlns:a16="http://schemas.microsoft.com/office/drawing/2014/main" id="{F8D1F4FC-E322-D243-BB01-8D9BC2EC2081}"/>
              </a:ext>
            </a:extLst>
          </p:cNvPr>
          <p:cNvSpPr/>
          <p:nvPr/>
        </p:nvSpPr>
        <p:spPr>
          <a:xfrm>
            <a:off x="502920" y="6053328"/>
            <a:ext cx="6629400" cy="256032"/>
          </a:xfrm>
          <a:prstGeom prst="rect">
            <a:avLst/>
          </a:prstGeom>
          <a:noFill/>
          <a:ln/>
        </p:spPr>
        <p:txBody>
          <a:bodyPr wrap="square" lIns="0" tIns="0" rIns="0" bIns="0" rtlCol="0" anchor="ctr">
            <a:normAutofit/>
          </a:bodyPr>
          <a:lstStyle/>
          <a:p>
            <a:pPr marL="0" indent="0" algn="l">
              <a:buNone/>
            </a:pPr>
            <a:r>
              <a:rPr lang="en-US" sz="1400" b="1" dirty="0">
                <a:solidFill>
                  <a:srgbClr val="111111"/>
                </a:solidFill>
                <a:latin typeface="Times New Roman" panose="02020603050405020304" pitchFamily="18" charset="0"/>
                <a:ea typeface="Aptos" pitchFamily="34" charset="-122"/>
                <a:cs typeface="Times New Roman" panose="02020603050405020304" pitchFamily="18" charset="0"/>
              </a:rPr>
              <a:t>27 </a:t>
            </a:r>
            <a:r>
              <a:rPr lang="en-US" sz="1400" b="1" dirty="0" err="1">
                <a:solidFill>
                  <a:srgbClr val="111111"/>
                </a:solidFill>
                <a:latin typeface="Times New Roman" panose="02020603050405020304" pitchFamily="18" charset="0"/>
                <a:ea typeface="Aptos" pitchFamily="34" charset="-122"/>
                <a:cs typeface="Times New Roman" panose="02020603050405020304" pitchFamily="18" charset="0"/>
              </a:rPr>
              <a:t>CadQuery</a:t>
            </a:r>
            <a:r>
              <a:rPr lang="en-US" sz="1400" b="1" dirty="0">
                <a:solidFill>
                  <a:srgbClr val="111111"/>
                </a:solidFill>
                <a:latin typeface="Times New Roman" panose="02020603050405020304" pitchFamily="18" charset="0"/>
                <a:ea typeface="Aptos" pitchFamily="34" charset="-122"/>
                <a:cs typeface="Times New Roman" panose="02020603050405020304" pitchFamily="18" charset="0"/>
              </a:rPr>
              <a:t>-generated models</a:t>
            </a:r>
            <a:r>
              <a:rPr lang="en-US" sz="1400" dirty="0">
                <a:solidFill>
                  <a:srgbClr val="111111"/>
                </a:solidFill>
                <a:latin typeface="Times New Roman" panose="02020603050405020304" pitchFamily="18" charset="0"/>
                <a:ea typeface="Aptos" pitchFamily="34" charset="-122"/>
                <a:cs typeface="Times New Roman" panose="02020603050405020304" pitchFamily="18" charset="0"/>
              </a:rPr>
              <a:t>·  </a:t>
            </a:r>
            <a:r>
              <a:rPr lang="en-US" sz="1400" b="1" dirty="0">
                <a:solidFill>
                  <a:srgbClr val="111111"/>
                </a:solidFill>
                <a:latin typeface="Times New Roman" panose="02020603050405020304" pitchFamily="18" charset="0"/>
                <a:ea typeface="Aptos" pitchFamily="34" charset="-122"/>
                <a:cs typeface="Times New Roman" panose="02020603050405020304" pitchFamily="18" charset="0"/>
              </a:rPr>
              <a:t>3 manually modelled in Fusion</a:t>
            </a:r>
            <a:endParaRPr lang="en-US" sz="1400" dirty="0">
              <a:latin typeface="Times New Roman" panose="02020603050405020304" pitchFamily="18" charset="0"/>
              <a:cs typeface="Times New Roman" panose="02020603050405020304" pitchFamily="18" charset="0"/>
            </a:endParaRPr>
          </a:p>
        </p:txBody>
      </p:sp>
      <p:sp>
        <p:nvSpPr>
          <p:cNvPr id="71" name="Text 35">
            <a:extLst>
              <a:ext uri="{FF2B5EF4-FFF2-40B4-BE49-F238E27FC236}">
                <a16:creationId xmlns:a16="http://schemas.microsoft.com/office/drawing/2014/main" id="{33834742-9C2D-BFE4-5D20-CCAF29A1308C}"/>
              </a:ext>
            </a:extLst>
          </p:cNvPr>
          <p:cNvSpPr/>
          <p:nvPr/>
        </p:nvSpPr>
        <p:spPr>
          <a:xfrm>
            <a:off x="7498080" y="6053328"/>
            <a:ext cx="3794760" cy="256032"/>
          </a:xfrm>
          <a:prstGeom prst="rect">
            <a:avLst/>
          </a:prstGeom>
          <a:noFill/>
          <a:ln/>
        </p:spPr>
        <p:txBody>
          <a:bodyPr wrap="square" lIns="0" tIns="0" rIns="0" bIns="0" rtlCol="0" anchor="ctr">
            <a:normAutofit/>
          </a:bodyPr>
          <a:lstStyle/>
          <a:p>
            <a:pPr marL="0" indent="0" algn="r">
              <a:buNone/>
            </a:pPr>
            <a:r>
              <a:rPr lang="en-US" sz="1400" i="1" dirty="0">
                <a:solidFill>
                  <a:srgbClr val="666666"/>
                </a:solidFill>
                <a:latin typeface="Times New Roman" panose="02020603050405020304" pitchFamily="18" charset="0"/>
                <a:ea typeface="Aptos" pitchFamily="34" charset="-122"/>
                <a:cs typeface="Times New Roman" panose="02020603050405020304" pitchFamily="18" charset="0"/>
              </a:rPr>
              <a:t>Not a representative industrial sample.</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2819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A90C8-5DBD-A85A-9AC5-7B2A919648BE}"/>
            </a:ext>
          </a:extLst>
        </p:cNvPr>
        <p:cNvGrpSpPr/>
        <p:nvPr/>
      </p:nvGrpSpPr>
      <p:grpSpPr>
        <a:xfrm>
          <a:off x="0" y="0"/>
          <a:ext cx="0" cy="0"/>
          <a:chOff x="0" y="0"/>
          <a:chExt cx="0" cy="0"/>
        </a:xfrm>
      </p:grpSpPr>
      <p:sp>
        <p:nvSpPr>
          <p:cNvPr id="32" name="矩形 31">
            <a:extLst>
              <a:ext uri="{FF2B5EF4-FFF2-40B4-BE49-F238E27FC236}">
                <a16:creationId xmlns:a16="http://schemas.microsoft.com/office/drawing/2014/main" id="{4AD8D779-01FF-98FE-F839-3F50FABE0E4A}"/>
              </a:ext>
            </a:extLst>
          </p:cNvPr>
          <p:cNvSpPr/>
          <p:nvPr/>
        </p:nvSpPr>
        <p:spPr>
          <a:xfrm>
            <a:off x="92842" y="620688"/>
            <a:ext cx="6904941" cy="107184"/>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kumimoji="1" lang="zh-CN" altLang="en-US" dirty="0">
              <a:solidFill>
                <a:schemeClr val="tx1"/>
              </a:solidFill>
            </a:endParaRPr>
          </a:p>
        </p:txBody>
      </p:sp>
      <p:sp>
        <p:nvSpPr>
          <p:cNvPr id="3" name="标题 2">
            <a:extLst>
              <a:ext uri="{FF2B5EF4-FFF2-40B4-BE49-F238E27FC236}">
                <a16:creationId xmlns:a16="http://schemas.microsoft.com/office/drawing/2014/main" id="{4639BF14-7CD2-0E4F-216C-1DC9A8E1E321}"/>
              </a:ext>
            </a:extLst>
          </p:cNvPr>
          <p:cNvSpPr>
            <a:spLocks noGrp="1"/>
          </p:cNvSpPr>
          <p:nvPr>
            <p:ph type="title"/>
          </p:nvPr>
        </p:nvSpPr>
        <p:spPr>
          <a:xfrm>
            <a:off x="119336" y="76228"/>
            <a:ext cx="9695205" cy="531544"/>
          </a:xfrm>
        </p:spPr>
        <p:txBody>
          <a:bodyPr/>
          <a:lstStyle/>
          <a:p>
            <a:r>
              <a:rPr lang="en-US" altLang="zh-CN" dirty="0"/>
              <a:t>Frozen Gate 4 Observations</a:t>
            </a:r>
          </a:p>
        </p:txBody>
      </p:sp>
      <p:sp>
        <p:nvSpPr>
          <p:cNvPr id="5" name="Shape 2">
            <a:extLst>
              <a:ext uri="{FF2B5EF4-FFF2-40B4-BE49-F238E27FC236}">
                <a16:creationId xmlns:a16="http://schemas.microsoft.com/office/drawing/2014/main" id="{83E6D0C7-EB5C-7C20-DA5F-6A8B7B27B3EF}"/>
              </a:ext>
            </a:extLst>
          </p:cNvPr>
          <p:cNvSpPr/>
          <p:nvPr/>
        </p:nvSpPr>
        <p:spPr>
          <a:xfrm>
            <a:off x="355493" y="1225296"/>
            <a:ext cx="0" cy="146304"/>
          </a:xfrm>
          <a:prstGeom prst="line">
            <a:avLst/>
          </a:prstGeom>
          <a:noFill/>
          <a:ln w="31750">
            <a:solidFill>
              <a:srgbClr val="00BFFF"/>
            </a:solidFill>
            <a:prstDash val="solid"/>
          </a:ln>
        </p:spPr>
        <p:txBody>
          <a:bodyPr/>
          <a:lstStyle/>
          <a:p>
            <a:endParaRPr lang="zh-CN" altLang="en-US"/>
          </a:p>
        </p:txBody>
      </p:sp>
      <p:sp>
        <p:nvSpPr>
          <p:cNvPr id="9" name="Text 3">
            <a:extLst>
              <a:ext uri="{FF2B5EF4-FFF2-40B4-BE49-F238E27FC236}">
                <a16:creationId xmlns:a16="http://schemas.microsoft.com/office/drawing/2014/main" id="{01C0EF44-C471-BF41-CD17-6C23D365714F}"/>
              </a:ext>
            </a:extLst>
          </p:cNvPr>
          <p:cNvSpPr/>
          <p:nvPr/>
        </p:nvSpPr>
        <p:spPr>
          <a:xfrm>
            <a:off x="474365" y="1161288"/>
            <a:ext cx="2926080" cy="256032"/>
          </a:xfrm>
          <a:prstGeom prst="rect">
            <a:avLst/>
          </a:prstGeom>
          <a:noFill/>
          <a:ln/>
        </p:spPr>
        <p:txBody>
          <a:bodyPr wrap="square" lIns="0" tIns="0" rIns="0" bIns="0" rtlCol="0" anchor="ctr">
            <a:normAutofit/>
          </a:bodyPr>
          <a:lstStyle/>
          <a:p>
            <a:pPr marL="0" indent="0" algn="l">
              <a:buNone/>
            </a:pPr>
            <a:r>
              <a:rPr lang="en-US" sz="1400" b="1" dirty="0">
                <a:solidFill>
                  <a:srgbClr val="071A55"/>
                </a:solidFill>
                <a:latin typeface="Times New Roman" panose="02020603050405020304" pitchFamily="18" charset="0"/>
                <a:ea typeface="Aptos" pitchFamily="34" charset="-122"/>
                <a:cs typeface="Times New Roman" panose="02020603050405020304" pitchFamily="18" charset="0"/>
              </a:rPr>
              <a:t>EVIDENCE INTEGRITY</a:t>
            </a:r>
            <a:endParaRPr lang="en-US" sz="1400" dirty="0">
              <a:latin typeface="Times New Roman" panose="02020603050405020304" pitchFamily="18" charset="0"/>
              <a:cs typeface="Times New Roman" panose="02020603050405020304" pitchFamily="18" charset="0"/>
            </a:endParaRPr>
          </a:p>
        </p:txBody>
      </p:sp>
      <p:sp>
        <p:nvSpPr>
          <p:cNvPr id="13" name="Text 4">
            <a:extLst>
              <a:ext uri="{FF2B5EF4-FFF2-40B4-BE49-F238E27FC236}">
                <a16:creationId xmlns:a16="http://schemas.microsoft.com/office/drawing/2014/main" id="{74662B75-45B0-6C2C-94A7-196550FB621D}"/>
              </a:ext>
            </a:extLst>
          </p:cNvPr>
          <p:cNvSpPr/>
          <p:nvPr/>
        </p:nvSpPr>
        <p:spPr>
          <a:xfrm>
            <a:off x="977285" y="1545336"/>
            <a:ext cx="1874520" cy="457200"/>
          </a:xfrm>
          <a:prstGeom prst="rect">
            <a:avLst/>
          </a:prstGeom>
          <a:noFill/>
          <a:ln/>
        </p:spPr>
        <p:txBody>
          <a:bodyPr wrap="square" lIns="0" tIns="0" rIns="0" bIns="0" rtlCol="0" anchor="ctr">
            <a:noAutofit/>
          </a:bodyPr>
          <a:lstStyle/>
          <a:p>
            <a:pPr marL="0" indent="0" algn="l">
              <a:buNone/>
            </a:pPr>
            <a:r>
              <a:rPr lang="en-US" sz="4000" b="1" dirty="0">
                <a:solidFill>
                  <a:srgbClr val="071A55"/>
                </a:solidFill>
                <a:latin typeface="Times New Roman" panose="02020603050405020304" pitchFamily="18" charset="0"/>
                <a:ea typeface="Aptos Display" pitchFamily="34" charset="-122"/>
                <a:cs typeface="Times New Roman" panose="02020603050405020304" pitchFamily="18" charset="0"/>
              </a:rPr>
              <a:t>30/30</a:t>
            </a:r>
            <a:endParaRPr lang="en-US" sz="4000" dirty="0">
              <a:latin typeface="Times New Roman" panose="02020603050405020304" pitchFamily="18" charset="0"/>
              <a:cs typeface="Times New Roman" panose="02020603050405020304" pitchFamily="18" charset="0"/>
            </a:endParaRPr>
          </a:p>
        </p:txBody>
      </p:sp>
      <p:sp>
        <p:nvSpPr>
          <p:cNvPr id="17" name="Text 5">
            <a:extLst>
              <a:ext uri="{FF2B5EF4-FFF2-40B4-BE49-F238E27FC236}">
                <a16:creationId xmlns:a16="http://schemas.microsoft.com/office/drawing/2014/main" id="{1C4D88F4-1A20-E61B-0C93-7127EC44360C}"/>
              </a:ext>
            </a:extLst>
          </p:cNvPr>
          <p:cNvSpPr/>
          <p:nvPr/>
        </p:nvSpPr>
        <p:spPr>
          <a:xfrm>
            <a:off x="955090" y="2185044"/>
            <a:ext cx="4468891" cy="365760"/>
          </a:xfrm>
          <a:prstGeom prst="rect">
            <a:avLst/>
          </a:prstGeom>
          <a:noFill/>
          <a:ln/>
        </p:spPr>
        <p:txBody>
          <a:bodyPr wrap="square" lIns="0" tIns="0" rIns="0" bIns="0" rtlCol="0" anchor="t">
            <a:noAutofit/>
          </a:bodyPr>
          <a:lstStyle/>
          <a:p>
            <a:pPr marL="0" indent="0" algn="l">
              <a:buNone/>
            </a:pPr>
            <a:r>
              <a:rPr lang="en-US" sz="2400" b="1" dirty="0">
                <a:solidFill>
                  <a:srgbClr val="111111"/>
                </a:solidFill>
                <a:latin typeface="Times New Roman" panose="02020603050405020304" pitchFamily="18" charset="0"/>
                <a:ea typeface="Aptos" pitchFamily="34" charset="-122"/>
                <a:cs typeface="Times New Roman" panose="02020603050405020304" pitchFamily="18" charset="0"/>
              </a:rPr>
              <a:t>complete result packages</a:t>
            </a:r>
            <a:endParaRPr lang="en-US" sz="2400" dirty="0">
              <a:latin typeface="Times New Roman" panose="02020603050405020304" pitchFamily="18" charset="0"/>
              <a:cs typeface="Times New Roman" panose="02020603050405020304" pitchFamily="18" charset="0"/>
            </a:endParaRPr>
          </a:p>
        </p:txBody>
      </p:sp>
      <p:sp>
        <p:nvSpPr>
          <p:cNvPr id="21" name="Text 6">
            <a:extLst>
              <a:ext uri="{FF2B5EF4-FFF2-40B4-BE49-F238E27FC236}">
                <a16:creationId xmlns:a16="http://schemas.microsoft.com/office/drawing/2014/main" id="{347F6C57-D6F3-A848-C047-D9FF20A45D79}"/>
              </a:ext>
            </a:extLst>
          </p:cNvPr>
          <p:cNvSpPr/>
          <p:nvPr/>
        </p:nvSpPr>
        <p:spPr>
          <a:xfrm>
            <a:off x="986008" y="2711674"/>
            <a:ext cx="3566160" cy="228600"/>
          </a:xfrm>
          <a:prstGeom prst="rect">
            <a:avLst/>
          </a:prstGeom>
          <a:noFill/>
          <a:ln/>
        </p:spPr>
        <p:txBody>
          <a:bodyPr wrap="square" lIns="0" tIns="0" rIns="0" bIns="0" rtlCol="0" anchor="t">
            <a:noAutofit/>
          </a:bodyPr>
          <a:lstStyle/>
          <a:p>
            <a:pPr marL="0" indent="0" algn="l">
              <a:buNone/>
            </a:pPr>
            <a:r>
              <a:rPr lang="en-US" sz="1400" dirty="0">
                <a:solidFill>
                  <a:srgbClr val="666666"/>
                </a:solidFill>
                <a:latin typeface="Times New Roman" panose="02020603050405020304" pitchFamily="18" charset="0"/>
                <a:ea typeface="Aptos" pitchFamily="34" charset="-122"/>
                <a:cs typeface="Times New Roman" panose="02020603050405020304" pitchFamily="18" charset="0"/>
              </a:rPr>
              <a:t>Package completeness is not recovery success</a:t>
            </a:r>
            <a:endParaRPr lang="en-US" sz="1400" dirty="0">
              <a:latin typeface="Times New Roman" panose="02020603050405020304" pitchFamily="18" charset="0"/>
              <a:cs typeface="Times New Roman" panose="02020603050405020304" pitchFamily="18" charset="0"/>
            </a:endParaRPr>
          </a:p>
        </p:txBody>
      </p:sp>
      <p:sp>
        <p:nvSpPr>
          <p:cNvPr id="25" name="Text 7">
            <a:extLst>
              <a:ext uri="{FF2B5EF4-FFF2-40B4-BE49-F238E27FC236}">
                <a16:creationId xmlns:a16="http://schemas.microsoft.com/office/drawing/2014/main" id="{2F1A218E-C174-6D16-677E-04D8E9A7FE22}"/>
              </a:ext>
            </a:extLst>
          </p:cNvPr>
          <p:cNvSpPr/>
          <p:nvPr/>
        </p:nvSpPr>
        <p:spPr>
          <a:xfrm>
            <a:off x="6463685" y="1545336"/>
            <a:ext cx="1874520" cy="457200"/>
          </a:xfrm>
          <a:prstGeom prst="rect">
            <a:avLst/>
          </a:prstGeom>
          <a:noFill/>
          <a:ln/>
        </p:spPr>
        <p:txBody>
          <a:bodyPr wrap="square" lIns="0" tIns="0" rIns="0" bIns="0" rtlCol="0" anchor="ctr">
            <a:noAutofit/>
          </a:bodyPr>
          <a:lstStyle/>
          <a:p>
            <a:pPr marL="0" indent="0" algn="l">
              <a:buNone/>
            </a:pPr>
            <a:r>
              <a:rPr lang="en-US" sz="4000" b="1" dirty="0">
                <a:solidFill>
                  <a:srgbClr val="071A55"/>
                </a:solidFill>
                <a:latin typeface="Times New Roman" panose="02020603050405020304" pitchFamily="18" charset="0"/>
                <a:ea typeface="Aptos Display" pitchFamily="34" charset="-122"/>
                <a:cs typeface="Times New Roman" panose="02020603050405020304" pitchFamily="18" charset="0"/>
              </a:rPr>
              <a:t>27/27</a:t>
            </a:r>
            <a:endParaRPr lang="en-US" sz="4000" dirty="0">
              <a:latin typeface="Times New Roman" panose="02020603050405020304" pitchFamily="18" charset="0"/>
              <a:cs typeface="Times New Roman" panose="02020603050405020304" pitchFamily="18" charset="0"/>
            </a:endParaRPr>
          </a:p>
        </p:txBody>
      </p:sp>
      <p:sp>
        <p:nvSpPr>
          <p:cNvPr id="29" name="Text 8">
            <a:extLst>
              <a:ext uri="{FF2B5EF4-FFF2-40B4-BE49-F238E27FC236}">
                <a16:creationId xmlns:a16="http://schemas.microsoft.com/office/drawing/2014/main" id="{43211A60-2E83-5D90-ED4E-3972FC6C19BC}"/>
              </a:ext>
            </a:extLst>
          </p:cNvPr>
          <p:cNvSpPr/>
          <p:nvPr/>
        </p:nvSpPr>
        <p:spPr>
          <a:xfrm>
            <a:off x="6498622" y="2181421"/>
            <a:ext cx="3886200" cy="502920"/>
          </a:xfrm>
          <a:prstGeom prst="rect">
            <a:avLst/>
          </a:prstGeom>
          <a:noFill/>
          <a:ln/>
        </p:spPr>
        <p:txBody>
          <a:bodyPr wrap="square" lIns="0" tIns="0" rIns="0" bIns="0" rtlCol="0" anchor="t">
            <a:noAutofit/>
          </a:bodyPr>
          <a:lstStyle/>
          <a:p>
            <a:pPr marL="0" indent="0" algn="l">
              <a:buNone/>
            </a:pPr>
            <a:r>
              <a:rPr lang="en-US" sz="2400" b="1" dirty="0">
                <a:solidFill>
                  <a:srgbClr val="111111"/>
                </a:solidFill>
                <a:latin typeface="Times New Roman" panose="02020603050405020304" pitchFamily="18" charset="0"/>
                <a:ea typeface="Aptos" pitchFamily="34" charset="-122"/>
                <a:cs typeface="Times New Roman" panose="02020603050405020304" pitchFamily="18" charset="0"/>
              </a:rPr>
              <a:t>validated geometry passes</a:t>
            </a:r>
            <a:endParaRPr lang="en-US" sz="2400" dirty="0">
              <a:latin typeface="Times New Roman" panose="02020603050405020304" pitchFamily="18" charset="0"/>
              <a:cs typeface="Times New Roman" panose="02020603050405020304" pitchFamily="18" charset="0"/>
            </a:endParaRPr>
          </a:p>
        </p:txBody>
      </p:sp>
      <p:sp>
        <p:nvSpPr>
          <p:cNvPr id="34" name="Text 9">
            <a:extLst>
              <a:ext uri="{FF2B5EF4-FFF2-40B4-BE49-F238E27FC236}">
                <a16:creationId xmlns:a16="http://schemas.microsoft.com/office/drawing/2014/main" id="{8457E5CA-F627-5586-4FD1-A1BAAB0E52AE}"/>
              </a:ext>
            </a:extLst>
          </p:cNvPr>
          <p:cNvSpPr/>
          <p:nvPr/>
        </p:nvSpPr>
        <p:spPr>
          <a:xfrm>
            <a:off x="6506410" y="2650668"/>
            <a:ext cx="3886200" cy="228600"/>
          </a:xfrm>
          <a:prstGeom prst="rect">
            <a:avLst/>
          </a:prstGeom>
          <a:noFill/>
          <a:ln/>
        </p:spPr>
        <p:txBody>
          <a:bodyPr wrap="square" lIns="0" tIns="0" rIns="0" bIns="0" rtlCol="0" anchor="t">
            <a:normAutofit/>
          </a:bodyPr>
          <a:lstStyle/>
          <a:p>
            <a:pPr marL="0" indent="0" algn="l">
              <a:buNone/>
            </a:pPr>
            <a:r>
              <a:rPr lang="en-US" sz="1400" dirty="0">
                <a:solidFill>
                  <a:srgbClr val="666666"/>
                </a:solidFill>
                <a:latin typeface="Times New Roman" panose="02020603050405020304" pitchFamily="18" charset="0"/>
                <a:ea typeface="Aptos" pitchFamily="34" charset="-122"/>
                <a:cs typeface="Times New Roman" panose="02020603050405020304" pitchFamily="18" charset="0"/>
              </a:rPr>
              <a:t>Among cases with trusted replay evidence</a:t>
            </a:r>
            <a:endParaRPr lang="en-US" sz="1400" dirty="0">
              <a:latin typeface="Times New Roman" panose="02020603050405020304" pitchFamily="18" charset="0"/>
              <a:cs typeface="Times New Roman" panose="02020603050405020304" pitchFamily="18" charset="0"/>
            </a:endParaRPr>
          </a:p>
        </p:txBody>
      </p:sp>
      <p:sp>
        <p:nvSpPr>
          <p:cNvPr id="38" name="Text 10">
            <a:extLst>
              <a:ext uri="{FF2B5EF4-FFF2-40B4-BE49-F238E27FC236}">
                <a16:creationId xmlns:a16="http://schemas.microsoft.com/office/drawing/2014/main" id="{4A74CCFE-4E99-976D-D1F3-501A524E4B56}"/>
              </a:ext>
            </a:extLst>
          </p:cNvPr>
          <p:cNvSpPr/>
          <p:nvPr/>
        </p:nvSpPr>
        <p:spPr>
          <a:xfrm>
            <a:off x="6216797" y="2194560"/>
            <a:ext cx="219456" cy="219456"/>
          </a:xfrm>
          <a:prstGeom prst="rect">
            <a:avLst/>
          </a:prstGeom>
          <a:noFill/>
          <a:ln/>
        </p:spPr>
        <p:txBody>
          <a:bodyPr wrap="square" lIns="0" tIns="0" rIns="0" bIns="0" rtlCol="0" anchor="ctr">
            <a:noAutofit/>
          </a:bodyPr>
          <a:lstStyle/>
          <a:p>
            <a:pPr marL="0" indent="0" algn="ctr">
              <a:buNone/>
            </a:pPr>
            <a:r>
              <a:rPr lang="en-US" sz="2000" b="1" dirty="0">
                <a:solidFill>
                  <a:srgbClr val="20A060"/>
                </a:solidFill>
                <a:latin typeface="Times New Roman" panose="02020603050405020304" pitchFamily="18" charset="0"/>
                <a:ea typeface="Aptos"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42" name="Shape 11">
            <a:extLst>
              <a:ext uri="{FF2B5EF4-FFF2-40B4-BE49-F238E27FC236}">
                <a16:creationId xmlns:a16="http://schemas.microsoft.com/office/drawing/2014/main" id="{3DFB1844-6744-B2AD-A9D9-AD6117DFA5C5}"/>
              </a:ext>
            </a:extLst>
          </p:cNvPr>
          <p:cNvSpPr/>
          <p:nvPr/>
        </p:nvSpPr>
        <p:spPr>
          <a:xfrm>
            <a:off x="5713877" y="1545336"/>
            <a:ext cx="0" cy="1307592"/>
          </a:xfrm>
          <a:prstGeom prst="line">
            <a:avLst/>
          </a:prstGeom>
          <a:noFill/>
          <a:ln w="8890">
            <a:solidFill>
              <a:srgbClr val="D9DEE3"/>
            </a:solidFill>
            <a:prstDash val="solid"/>
            <a:headEnd type="none"/>
            <a:tailEnd type="none"/>
          </a:ln>
        </p:spPr>
        <p:txBody>
          <a:bodyPr/>
          <a:lstStyle/>
          <a:p>
            <a:endParaRPr lang="zh-CN" altLang="en-US"/>
          </a:p>
        </p:txBody>
      </p:sp>
      <p:sp>
        <p:nvSpPr>
          <p:cNvPr id="46" name="Shape 12">
            <a:extLst>
              <a:ext uri="{FF2B5EF4-FFF2-40B4-BE49-F238E27FC236}">
                <a16:creationId xmlns:a16="http://schemas.microsoft.com/office/drawing/2014/main" id="{DC58B069-262F-CF42-081C-8550B237801D}"/>
              </a:ext>
            </a:extLst>
          </p:cNvPr>
          <p:cNvSpPr/>
          <p:nvPr/>
        </p:nvSpPr>
        <p:spPr>
          <a:xfrm>
            <a:off x="474365" y="3212976"/>
            <a:ext cx="10927080" cy="0"/>
          </a:xfrm>
          <a:prstGeom prst="line">
            <a:avLst/>
          </a:prstGeom>
          <a:noFill/>
          <a:ln w="8890">
            <a:solidFill>
              <a:srgbClr val="D9DEE3"/>
            </a:solidFill>
            <a:prstDash val="solid"/>
            <a:headEnd type="none"/>
            <a:tailEnd type="none"/>
          </a:ln>
        </p:spPr>
        <p:txBody>
          <a:bodyPr/>
          <a:lstStyle/>
          <a:p>
            <a:endParaRPr lang="zh-CN" altLang="en-US"/>
          </a:p>
        </p:txBody>
      </p:sp>
      <p:sp>
        <p:nvSpPr>
          <p:cNvPr id="50" name="Shape 13">
            <a:extLst>
              <a:ext uri="{FF2B5EF4-FFF2-40B4-BE49-F238E27FC236}">
                <a16:creationId xmlns:a16="http://schemas.microsoft.com/office/drawing/2014/main" id="{41CCDF07-D2E2-C197-2CBA-26BB6E8FE3D5}"/>
              </a:ext>
            </a:extLst>
          </p:cNvPr>
          <p:cNvSpPr/>
          <p:nvPr/>
        </p:nvSpPr>
        <p:spPr>
          <a:xfrm>
            <a:off x="355493" y="3374136"/>
            <a:ext cx="0" cy="146304"/>
          </a:xfrm>
          <a:prstGeom prst="line">
            <a:avLst/>
          </a:prstGeom>
          <a:noFill/>
          <a:ln w="31750">
            <a:solidFill>
              <a:srgbClr val="00BFFF"/>
            </a:solidFill>
            <a:prstDash val="solid"/>
          </a:ln>
        </p:spPr>
        <p:txBody>
          <a:bodyPr/>
          <a:lstStyle/>
          <a:p>
            <a:endParaRPr lang="zh-CN" altLang="en-US"/>
          </a:p>
        </p:txBody>
      </p:sp>
      <p:sp>
        <p:nvSpPr>
          <p:cNvPr id="54" name="Text 14">
            <a:extLst>
              <a:ext uri="{FF2B5EF4-FFF2-40B4-BE49-F238E27FC236}">
                <a16:creationId xmlns:a16="http://schemas.microsoft.com/office/drawing/2014/main" id="{3C4E369A-269A-8022-BF8D-D8F7D91BDD27}"/>
              </a:ext>
            </a:extLst>
          </p:cNvPr>
          <p:cNvSpPr/>
          <p:nvPr/>
        </p:nvSpPr>
        <p:spPr>
          <a:xfrm>
            <a:off x="474365" y="3310128"/>
            <a:ext cx="2926080" cy="256032"/>
          </a:xfrm>
          <a:prstGeom prst="rect">
            <a:avLst/>
          </a:prstGeom>
          <a:noFill/>
          <a:ln/>
        </p:spPr>
        <p:txBody>
          <a:bodyPr wrap="square" lIns="0" tIns="0" rIns="0" bIns="0" rtlCol="0" anchor="ctr">
            <a:normAutofit/>
          </a:bodyPr>
          <a:lstStyle/>
          <a:p>
            <a:pPr marL="0" indent="0" algn="l">
              <a:buNone/>
            </a:pPr>
            <a:r>
              <a:rPr lang="en-US" sz="1400" b="1" dirty="0">
                <a:solidFill>
                  <a:srgbClr val="071A55"/>
                </a:solidFill>
                <a:latin typeface="Times New Roman" panose="02020603050405020304" pitchFamily="18" charset="0"/>
                <a:ea typeface="Aptos" pitchFamily="34" charset="-122"/>
                <a:cs typeface="Times New Roman" panose="02020603050405020304" pitchFamily="18" charset="0"/>
              </a:rPr>
              <a:t>OBSERVED OUTCOMES</a:t>
            </a:r>
            <a:endParaRPr lang="en-US" sz="1400" dirty="0">
              <a:latin typeface="Times New Roman" panose="02020603050405020304" pitchFamily="18" charset="0"/>
              <a:cs typeface="Times New Roman" panose="02020603050405020304" pitchFamily="18" charset="0"/>
            </a:endParaRPr>
          </a:p>
        </p:txBody>
      </p:sp>
      <p:sp>
        <p:nvSpPr>
          <p:cNvPr id="58" name="Text 15">
            <a:extLst>
              <a:ext uri="{FF2B5EF4-FFF2-40B4-BE49-F238E27FC236}">
                <a16:creationId xmlns:a16="http://schemas.microsoft.com/office/drawing/2014/main" id="{F0F6C92B-89E8-EFA0-A66C-FBA9D7E2E787}"/>
              </a:ext>
            </a:extLst>
          </p:cNvPr>
          <p:cNvSpPr/>
          <p:nvPr/>
        </p:nvSpPr>
        <p:spPr>
          <a:xfrm>
            <a:off x="794405" y="3767328"/>
            <a:ext cx="1874520" cy="457200"/>
          </a:xfrm>
          <a:prstGeom prst="rect">
            <a:avLst/>
          </a:prstGeom>
          <a:noFill/>
          <a:ln/>
        </p:spPr>
        <p:txBody>
          <a:bodyPr wrap="square" lIns="0" tIns="0" rIns="0" bIns="0" rtlCol="0" anchor="ctr">
            <a:noAutofit/>
          </a:bodyPr>
          <a:lstStyle/>
          <a:p>
            <a:pPr marL="0" indent="0" algn="l">
              <a:buNone/>
            </a:pPr>
            <a:r>
              <a:rPr lang="en-US" sz="3600" b="1" dirty="0">
                <a:solidFill>
                  <a:srgbClr val="071A55"/>
                </a:solidFill>
                <a:latin typeface="Times New Roman" panose="02020603050405020304" pitchFamily="18" charset="0"/>
                <a:ea typeface="Aptos Display" pitchFamily="34" charset="-122"/>
                <a:cs typeface="Times New Roman" panose="02020603050405020304" pitchFamily="18" charset="0"/>
              </a:rPr>
              <a:t>27/30</a:t>
            </a:r>
            <a:endParaRPr lang="en-US" sz="3600" dirty="0">
              <a:latin typeface="Times New Roman" panose="02020603050405020304" pitchFamily="18" charset="0"/>
              <a:cs typeface="Times New Roman" panose="02020603050405020304" pitchFamily="18" charset="0"/>
            </a:endParaRPr>
          </a:p>
        </p:txBody>
      </p:sp>
      <p:sp>
        <p:nvSpPr>
          <p:cNvPr id="61" name="Text 16">
            <a:extLst>
              <a:ext uri="{FF2B5EF4-FFF2-40B4-BE49-F238E27FC236}">
                <a16:creationId xmlns:a16="http://schemas.microsoft.com/office/drawing/2014/main" id="{0DB53C7A-5781-088A-39BE-756A6F44FA79}"/>
              </a:ext>
            </a:extLst>
          </p:cNvPr>
          <p:cNvSpPr/>
          <p:nvPr/>
        </p:nvSpPr>
        <p:spPr>
          <a:xfrm>
            <a:off x="812693" y="4425696"/>
            <a:ext cx="3063240" cy="420624"/>
          </a:xfrm>
          <a:prstGeom prst="rect">
            <a:avLst/>
          </a:prstGeom>
          <a:noFill/>
          <a:ln/>
        </p:spPr>
        <p:txBody>
          <a:bodyPr wrap="square" lIns="0" tIns="0" rIns="0" bIns="0" rtlCol="0" anchor="t">
            <a:noAutofit/>
          </a:bodyPr>
          <a:lstStyle/>
          <a:p>
            <a:pPr marL="0" indent="0" algn="l">
              <a:buNone/>
            </a:pPr>
            <a:r>
              <a:rPr lang="en-US" sz="1800" b="1" dirty="0">
                <a:solidFill>
                  <a:srgbClr val="111111"/>
                </a:solidFill>
                <a:latin typeface="Times New Roman" panose="02020603050405020304" pitchFamily="18" charset="0"/>
                <a:ea typeface="Aptos" pitchFamily="34" charset="-122"/>
                <a:cs typeface="Times New Roman" panose="02020603050405020304" pitchFamily="18" charset="0"/>
              </a:rPr>
              <a:t>terminal automatic</a:t>
            </a:r>
            <a:endParaRPr lang="en-US" sz="1800" dirty="0">
              <a:latin typeface="Times New Roman" panose="02020603050405020304" pitchFamily="18" charset="0"/>
              <a:cs typeface="Times New Roman" panose="02020603050405020304" pitchFamily="18" charset="0"/>
            </a:endParaRPr>
          </a:p>
          <a:p>
            <a:pPr marL="0" indent="0" algn="l">
              <a:buNone/>
            </a:pPr>
            <a:r>
              <a:rPr lang="en-US" sz="1800" b="1" dirty="0">
                <a:solidFill>
                  <a:srgbClr val="111111"/>
                </a:solidFill>
                <a:latin typeface="Times New Roman" panose="02020603050405020304" pitchFamily="18" charset="0"/>
                <a:ea typeface="Aptos" pitchFamily="34" charset="-122"/>
                <a:cs typeface="Times New Roman" panose="02020603050405020304" pitchFamily="18" charset="0"/>
              </a:rPr>
              <a:t>success</a:t>
            </a:r>
            <a:endParaRPr lang="en-US" sz="1800" dirty="0">
              <a:latin typeface="Times New Roman" panose="02020603050405020304" pitchFamily="18" charset="0"/>
              <a:cs typeface="Times New Roman" panose="02020603050405020304" pitchFamily="18" charset="0"/>
            </a:endParaRPr>
          </a:p>
        </p:txBody>
      </p:sp>
      <p:sp>
        <p:nvSpPr>
          <p:cNvPr id="63" name="Text 17">
            <a:extLst>
              <a:ext uri="{FF2B5EF4-FFF2-40B4-BE49-F238E27FC236}">
                <a16:creationId xmlns:a16="http://schemas.microsoft.com/office/drawing/2014/main" id="{6E1DF92B-6173-471B-A4FF-DAEB4303F662}"/>
              </a:ext>
            </a:extLst>
          </p:cNvPr>
          <p:cNvSpPr/>
          <p:nvPr/>
        </p:nvSpPr>
        <p:spPr>
          <a:xfrm>
            <a:off x="817265" y="4983479"/>
            <a:ext cx="3063240" cy="210312"/>
          </a:xfrm>
          <a:prstGeom prst="rect">
            <a:avLst/>
          </a:prstGeom>
          <a:noFill/>
          <a:ln/>
        </p:spPr>
        <p:txBody>
          <a:bodyPr wrap="square" lIns="0" tIns="0" rIns="0" bIns="0" rtlCol="0" anchor="t">
            <a:normAutofit/>
          </a:bodyPr>
          <a:lstStyle/>
          <a:p>
            <a:pPr marL="0" indent="0" algn="l">
              <a:buNone/>
            </a:pPr>
            <a:r>
              <a:rPr lang="en-US" sz="1200" dirty="0">
                <a:solidFill>
                  <a:srgbClr val="666666"/>
                </a:solidFill>
                <a:latin typeface="Times New Roman" panose="02020603050405020304" pitchFamily="18" charset="0"/>
                <a:ea typeface="Aptos" pitchFamily="34" charset="-122"/>
                <a:cs typeface="Times New Roman" panose="02020603050405020304" pitchFamily="18" charset="0"/>
              </a:rPr>
              <a:t>benchmark-level terminal outcome</a:t>
            </a:r>
            <a:endParaRPr lang="en-US" sz="1200" dirty="0">
              <a:latin typeface="Times New Roman" panose="02020603050405020304" pitchFamily="18" charset="0"/>
              <a:cs typeface="Times New Roman" panose="02020603050405020304" pitchFamily="18" charset="0"/>
            </a:endParaRPr>
          </a:p>
        </p:txBody>
      </p:sp>
      <p:sp>
        <p:nvSpPr>
          <p:cNvPr id="66" name="Text 18">
            <a:extLst>
              <a:ext uri="{FF2B5EF4-FFF2-40B4-BE49-F238E27FC236}">
                <a16:creationId xmlns:a16="http://schemas.microsoft.com/office/drawing/2014/main" id="{81FEAA40-16A7-4248-36E5-0E312681ED6E}"/>
              </a:ext>
            </a:extLst>
          </p:cNvPr>
          <p:cNvSpPr/>
          <p:nvPr/>
        </p:nvSpPr>
        <p:spPr>
          <a:xfrm>
            <a:off x="4314845" y="3767328"/>
            <a:ext cx="1874520" cy="457200"/>
          </a:xfrm>
          <a:prstGeom prst="rect">
            <a:avLst/>
          </a:prstGeom>
          <a:noFill/>
          <a:ln/>
        </p:spPr>
        <p:txBody>
          <a:bodyPr wrap="square" lIns="0" tIns="0" rIns="0" bIns="0" rtlCol="0" anchor="ctr">
            <a:noAutofit/>
          </a:bodyPr>
          <a:lstStyle/>
          <a:p>
            <a:pPr marL="0" indent="0" algn="l">
              <a:buNone/>
            </a:pPr>
            <a:r>
              <a:rPr lang="en-US" sz="3600" b="1" dirty="0">
                <a:solidFill>
                  <a:srgbClr val="071A55"/>
                </a:solidFill>
                <a:latin typeface="Times New Roman" panose="02020603050405020304" pitchFamily="18" charset="0"/>
                <a:ea typeface="Aptos Display" pitchFamily="34" charset="-122"/>
                <a:cs typeface="Times New Roman" panose="02020603050405020304" pitchFamily="18" charset="0"/>
              </a:rPr>
              <a:t>26/27</a:t>
            </a:r>
            <a:endParaRPr lang="en-US" sz="3600" dirty="0">
              <a:latin typeface="Times New Roman" panose="02020603050405020304" pitchFamily="18" charset="0"/>
              <a:cs typeface="Times New Roman" panose="02020603050405020304" pitchFamily="18" charset="0"/>
            </a:endParaRPr>
          </a:p>
        </p:txBody>
      </p:sp>
      <p:sp>
        <p:nvSpPr>
          <p:cNvPr id="70" name="Text 19">
            <a:extLst>
              <a:ext uri="{FF2B5EF4-FFF2-40B4-BE49-F238E27FC236}">
                <a16:creationId xmlns:a16="http://schemas.microsoft.com/office/drawing/2014/main" id="{664D909B-74BC-5897-7BC8-FB2E452D0547}"/>
              </a:ext>
            </a:extLst>
          </p:cNvPr>
          <p:cNvSpPr/>
          <p:nvPr/>
        </p:nvSpPr>
        <p:spPr>
          <a:xfrm>
            <a:off x="4333133" y="4425696"/>
            <a:ext cx="3063240" cy="420624"/>
          </a:xfrm>
          <a:prstGeom prst="rect">
            <a:avLst/>
          </a:prstGeom>
          <a:noFill/>
          <a:ln/>
        </p:spPr>
        <p:txBody>
          <a:bodyPr wrap="square" lIns="0" tIns="0" rIns="0" bIns="0" rtlCol="0" anchor="t">
            <a:noAutofit/>
          </a:bodyPr>
          <a:lstStyle/>
          <a:p>
            <a:pPr marL="0" indent="0" algn="l">
              <a:buNone/>
            </a:pPr>
            <a:r>
              <a:rPr lang="en-US" sz="1800" b="1" dirty="0">
                <a:solidFill>
                  <a:srgbClr val="111111"/>
                </a:solidFill>
                <a:latin typeface="Times New Roman" panose="02020603050405020304" pitchFamily="18" charset="0"/>
                <a:ea typeface="Aptos" pitchFamily="34" charset="-122"/>
                <a:cs typeface="Times New Roman" panose="02020603050405020304" pitchFamily="18" charset="0"/>
              </a:rPr>
              <a:t>supported automatic recovery</a:t>
            </a:r>
            <a:endParaRPr lang="en-US" sz="1800" dirty="0">
              <a:latin typeface="Times New Roman" panose="02020603050405020304" pitchFamily="18" charset="0"/>
              <a:cs typeface="Times New Roman" panose="02020603050405020304" pitchFamily="18" charset="0"/>
            </a:endParaRPr>
          </a:p>
        </p:txBody>
      </p:sp>
      <p:sp>
        <p:nvSpPr>
          <p:cNvPr id="73" name="Text 20">
            <a:extLst>
              <a:ext uri="{FF2B5EF4-FFF2-40B4-BE49-F238E27FC236}">
                <a16:creationId xmlns:a16="http://schemas.microsoft.com/office/drawing/2014/main" id="{9AEDCA7E-B9FF-55C2-8491-3CFAE51CD080}"/>
              </a:ext>
            </a:extLst>
          </p:cNvPr>
          <p:cNvSpPr/>
          <p:nvPr/>
        </p:nvSpPr>
        <p:spPr>
          <a:xfrm>
            <a:off x="4324225" y="4983479"/>
            <a:ext cx="3063240" cy="210312"/>
          </a:xfrm>
          <a:prstGeom prst="rect">
            <a:avLst/>
          </a:prstGeom>
          <a:noFill/>
          <a:ln/>
        </p:spPr>
        <p:txBody>
          <a:bodyPr wrap="square" lIns="0" tIns="0" rIns="0" bIns="0" rtlCol="0" anchor="t">
            <a:normAutofit/>
          </a:bodyPr>
          <a:lstStyle/>
          <a:p>
            <a:pPr marL="0" indent="0" algn="l">
              <a:buNone/>
            </a:pPr>
            <a:r>
              <a:rPr lang="en-US" sz="1200" dirty="0">
                <a:solidFill>
                  <a:srgbClr val="666666"/>
                </a:solidFill>
                <a:latin typeface="Times New Roman" panose="02020603050405020304" pitchFamily="18" charset="0"/>
                <a:ea typeface="Aptos" pitchFamily="34" charset="-122"/>
                <a:cs typeface="Times New Roman" panose="02020603050405020304" pitchFamily="18" charset="0"/>
              </a:rPr>
              <a:t>supported cases only</a:t>
            </a:r>
            <a:endParaRPr lang="en-US" sz="1200" dirty="0">
              <a:latin typeface="Times New Roman" panose="02020603050405020304" pitchFamily="18" charset="0"/>
              <a:cs typeface="Times New Roman" panose="02020603050405020304" pitchFamily="18" charset="0"/>
            </a:endParaRPr>
          </a:p>
        </p:txBody>
      </p:sp>
      <p:sp>
        <p:nvSpPr>
          <p:cNvPr id="75" name="Text 21">
            <a:extLst>
              <a:ext uri="{FF2B5EF4-FFF2-40B4-BE49-F238E27FC236}">
                <a16:creationId xmlns:a16="http://schemas.microsoft.com/office/drawing/2014/main" id="{7391CF46-55A3-F57F-0F40-F578EA662D28}"/>
              </a:ext>
            </a:extLst>
          </p:cNvPr>
          <p:cNvSpPr/>
          <p:nvPr/>
        </p:nvSpPr>
        <p:spPr>
          <a:xfrm>
            <a:off x="7835285" y="3767328"/>
            <a:ext cx="1874520" cy="457200"/>
          </a:xfrm>
          <a:prstGeom prst="rect">
            <a:avLst/>
          </a:prstGeom>
          <a:noFill/>
          <a:ln/>
        </p:spPr>
        <p:txBody>
          <a:bodyPr wrap="square" lIns="0" tIns="0" rIns="0" bIns="0" rtlCol="0" anchor="ctr">
            <a:noAutofit/>
          </a:bodyPr>
          <a:lstStyle/>
          <a:p>
            <a:pPr marL="0" indent="0" algn="l">
              <a:buNone/>
            </a:pPr>
            <a:r>
              <a:rPr lang="en-US" sz="3600" b="1" dirty="0">
                <a:solidFill>
                  <a:srgbClr val="071A55"/>
                </a:solidFill>
                <a:latin typeface="Times New Roman" panose="02020603050405020304" pitchFamily="18" charset="0"/>
                <a:ea typeface="Aptos Display" pitchFamily="34" charset="-122"/>
                <a:cs typeface="Times New Roman" panose="02020603050405020304" pitchFamily="18" charset="0"/>
              </a:rPr>
              <a:t>2/2</a:t>
            </a:r>
            <a:endParaRPr lang="en-US" sz="3600" dirty="0">
              <a:latin typeface="Times New Roman" panose="02020603050405020304" pitchFamily="18" charset="0"/>
              <a:cs typeface="Times New Roman" panose="02020603050405020304" pitchFamily="18" charset="0"/>
            </a:endParaRPr>
          </a:p>
        </p:txBody>
      </p:sp>
      <p:sp>
        <p:nvSpPr>
          <p:cNvPr id="77" name="Text 22">
            <a:extLst>
              <a:ext uri="{FF2B5EF4-FFF2-40B4-BE49-F238E27FC236}">
                <a16:creationId xmlns:a16="http://schemas.microsoft.com/office/drawing/2014/main" id="{1F9AB497-C661-7488-3CA1-A3FA526BE5E3}"/>
              </a:ext>
            </a:extLst>
          </p:cNvPr>
          <p:cNvSpPr/>
          <p:nvPr/>
        </p:nvSpPr>
        <p:spPr>
          <a:xfrm>
            <a:off x="7853573" y="4425696"/>
            <a:ext cx="3063240" cy="420624"/>
          </a:xfrm>
          <a:prstGeom prst="rect">
            <a:avLst/>
          </a:prstGeom>
          <a:noFill/>
          <a:ln/>
        </p:spPr>
        <p:txBody>
          <a:bodyPr wrap="square" lIns="0" tIns="0" rIns="0" bIns="0" rtlCol="0" anchor="t">
            <a:noAutofit/>
          </a:bodyPr>
          <a:lstStyle/>
          <a:p>
            <a:pPr marL="0" indent="0" algn="l">
              <a:buNone/>
            </a:pPr>
            <a:r>
              <a:rPr lang="en-US" sz="1800" b="1" dirty="0">
                <a:solidFill>
                  <a:srgbClr val="111111"/>
                </a:solidFill>
                <a:latin typeface="Times New Roman" panose="02020603050405020304" pitchFamily="18" charset="0"/>
                <a:ea typeface="Aptos" pitchFamily="34" charset="-122"/>
                <a:cs typeface="Times New Roman" panose="02020603050405020304" pitchFamily="18" charset="0"/>
              </a:rPr>
              <a:t>unsupported</a:t>
            </a:r>
            <a:endParaRPr lang="en-US" sz="1800" dirty="0">
              <a:latin typeface="Times New Roman" panose="02020603050405020304" pitchFamily="18" charset="0"/>
              <a:cs typeface="Times New Roman" panose="02020603050405020304" pitchFamily="18" charset="0"/>
            </a:endParaRPr>
          </a:p>
          <a:p>
            <a:pPr marL="0" indent="0" algn="l">
              <a:buNone/>
            </a:pPr>
            <a:r>
              <a:rPr lang="en-US" sz="1800" b="1" dirty="0">
                <a:solidFill>
                  <a:srgbClr val="111111"/>
                </a:solidFill>
                <a:latin typeface="Times New Roman" panose="02020603050405020304" pitchFamily="18" charset="0"/>
                <a:ea typeface="Aptos" pitchFamily="34" charset="-122"/>
                <a:cs typeface="Times New Roman" panose="02020603050405020304" pitchFamily="18" charset="0"/>
              </a:rPr>
              <a:t>correct rejection</a:t>
            </a:r>
            <a:endParaRPr lang="en-US" sz="1800" dirty="0">
              <a:latin typeface="Times New Roman" panose="02020603050405020304" pitchFamily="18" charset="0"/>
              <a:cs typeface="Times New Roman" panose="02020603050405020304" pitchFamily="18" charset="0"/>
            </a:endParaRPr>
          </a:p>
        </p:txBody>
      </p:sp>
      <p:sp>
        <p:nvSpPr>
          <p:cNvPr id="79" name="Text 23">
            <a:extLst>
              <a:ext uri="{FF2B5EF4-FFF2-40B4-BE49-F238E27FC236}">
                <a16:creationId xmlns:a16="http://schemas.microsoft.com/office/drawing/2014/main" id="{3647EA84-22E2-C4CC-B958-103275E865ED}"/>
              </a:ext>
            </a:extLst>
          </p:cNvPr>
          <p:cNvSpPr/>
          <p:nvPr/>
        </p:nvSpPr>
        <p:spPr>
          <a:xfrm>
            <a:off x="7853573" y="4978908"/>
            <a:ext cx="3063240" cy="210312"/>
          </a:xfrm>
          <a:prstGeom prst="rect">
            <a:avLst/>
          </a:prstGeom>
          <a:noFill/>
          <a:ln/>
        </p:spPr>
        <p:txBody>
          <a:bodyPr wrap="square" lIns="0" tIns="0" rIns="0" bIns="0" rtlCol="0" anchor="t">
            <a:normAutofit/>
          </a:bodyPr>
          <a:lstStyle/>
          <a:p>
            <a:pPr marL="0" indent="0" algn="l">
              <a:buNone/>
            </a:pPr>
            <a:r>
              <a:rPr lang="en-US" sz="1200" dirty="0">
                <a:solidFill>
                  <a:srgbClr val="666666"/>
                </a:solidFill>
                <a:latin typeface="Times New Roman" panose="02020603050405020304" pitchFamily="18" charset="0"/>
                <a:ea typeface="Aptos" pitchFamily="34" charset="-122"/>
                <a:cs typeface="Times New Roman" panose="02020603050405020304" pitchFamily="18" charset="0"/>
              </a:rPr>
              <a:t>unsupported controls</a:t>
            </a:r>
            <a:endParaRPr lang="en-US" sz="1200" dirty="0">
              <a:latin typeface="Times New Roman" panose="02020603050405020304" pitchFamily="18" charset="0"/>
              <a:cs typeface="Times New Roman" panose="02020603050405020304" pitchFamily="18" charset="0"/>
            </a:endParaRPr>
          </a:p>
        </p:txBody>
      </p:sp>
      <p:sp>
        <p:nvSpPr>
          <p:cNvPr id="81" name="Text 24">
            <a:extLst>
              <a:ext uri="{FF2B5EF4-FFF2-40B4-BE49-F238E27FC236}">
                <a16:creationId xmlns:a16="http://schemas.microsoft.com/office/drawing/2014/main" id="{B225A4F7-FBA5-8019-BCE5-18A53FCD2E8C}"/>
              </a:ext>
            </a:extLst>
          </p:cNvPr>
          <p:cNvSpPr/>
          <p:nvPr/>
        </p:nvSpPr>
        <p:spPr>
          <a:xfrm>
            <a:off x="9984125" y="4471416"/>
            <a:ext cx="182880" cy="182880"/>
          </a:xfrm>
          <a:prstGeom prst="rect">
            <a:avLst/>
          </a:prstGeom>
          <a:noFill/>
          <a:ln/>
        </p:spPr>
        <p:txBody>
          <a:bodyPr wrap="square" lIns="0" tIns="0" rIns="0" bIns="0" rtlCol="0" anchor="ctr">
            <a:noAutofit/>
          </a:bodyPr>
          <a:lstStyle/>
          <a:p>
            <a:pPr marL="0" indent="0" algn="ctr">
              <a:buNone/>
            </a:pPr>
            <a:r>
              <a:rPr lang="en-US" sz="1800" b="1" dirty="0">
                <a:solidFill>
                  <a:srgbClr val="20A060"/>
                </a:solidFill>
                <a:latin typeface="Times New Roman" panose="02020603050405020304" pitchFamily="18" charset="0"/>
                <a:ea typeface="Aptos" pitchFamily="34" charset="-122"/>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83" name="Shape 25">
            <a:extLst>
              <a:ext uri="{FF2B5EF4-FFF2-40B4-BE49-F238E27FC236}">
                <a16:creationId xmlns:a16="http://schemas.microsoft.com/office/drawing/2014/main" id="{32F049E3-5818-4026-5521-18E95643539A}"/>
              </a:ext>
            </a:extLst>
          </p:cNvPr>
          <p:cNvSpPr/>
          <p:nvPr/>
        </p:nvSpPr>
        <p:spPr>
          <a:xfrm>
            <a:off x="4040525" y="3767328"/>
            <a:ext cx="0" cy="1097280"/>
          </a:xfrm>
          <a:prstGeom prst="line">
            <a:avLst/>
          </a:prstGeom>
          <a:noFill/>
          <a:ln w="8255">
            <a:solidFill>
              <a:srgbClr val="D9DEE3"/>
            </a:solidFill>
            <a:prstDash val="solid"/>
            <a:headEnd type="none"/>
            <a:tailEnd type="none"/>
          </a:ln>
        </p:spPr>
        <p:txBody>
          <a:bodyPr/>
          <a:lstStyle/>
          <a:p>
            <a:endParaRPr lang="zh-CN" altLang="en-US"/>
          </a:p>
        </p:txBody>
      </p:sp>
      <p:sp>
        <p:nvSpPr>
          <p:cNvPr id="85" name="Shape 26">
            <a:extLst>
              <a:ext uri="{FF2B5EF4-FFF2-40B4-BE49-F238E27FC236}">
                <a16:creationId xmlns:a16="http://schemas.microsoft.com/office/drawing/2014/main" id="{66EB8CD5-9750-7A13-39CA-58FF95ECB0C7}"/>
              </a:ext>
            </a:extLst>
          </p:cNvPr>
          <p:cNvSpPr/>
          <p:nvPr/>
        </p:nvSpPr>
        <p:spPr>
          <a:xfrm>
            <a:off x="7560965" y="3767328"/>
            <a:ext cx="0" cy="1097280"/>
          </a:xfrm>
          <a:prstGeom prst="line">
            <a:avLst/>
          </a:prstGeom>
          <a:noFill/>
          <a:ln w="8255">
            <a:solidFill>
              <a:srgbClr val="D9DEE3"/>
            </a:solidFill>
            <a:prstDash val="solid"/>
            <a:headEnd type="none"/>
            <a:tailEnd type="none"/>
          </a:ln>
        </p:spPr>
        <p:txBody>
          <a:bodyPr/>
          <a:lstStyle/>
          <a:p>
            <a:endParaRPr lang="zh-CN" altLang="en-US"/>
          </a:p>
        </p:txBody>
      </p:sp>
      <p:sp>
        <p:nvSpPr>
          <p:cNvPr id="87" name="Shape 27">
            <a:extLst>
              <a:ext uri="{FF2B5EF4-FFF2-40B4-BE49-F238E27FC236}">
                <a16:creationId xmlns:a16="http://schemas.microsoft.com/office/drawing/2014/main" id="{26175058-9058-8446-6EB4-BA22EB31A914}"/>
              </a:ext>
            </a:extLst>
          </p:cNvPr>
          <p:cNvSpPr/>
          <p:nvPr/>
        </p:nvSpPr>
        <p:spPr>
          <a:xfrm>
            <a:off x="474365" y="5294376"/>
            <a:ext cx="10927080" cy="0"/>
          </a:xfrm>
          <a:prstGeom prst="line">
            <a:avLst/>
          </a:prstGeom>
          <a:noFill/>
          <a:ln w="8890">
            <a:solidFill>
              <a:srgbClr val="9EACB7"/>
            </a:solidFill>
            <a:prstDash val="solid"/>
            <a:headEnd type="none"/>
            <a:tailEnd type="none"/>
          </a:ln>
        </p:spPr>
        <p:txBody>
          <a:bodyPr/>
          <a:lstStyle/>
          <a:p>
            <a:endParaRPr lang="zh-CN" altLang="en-US"/>
          </a:p>
        </p:txBody>
      </p:sp>
      <p:sp>
        <p:nvSpPr>
          <p:cNvPr id="89" name="Text 28">
            <a:extLst>
              <a:ext uri="{FF2B5EF4-FFF2-40B4-BE49-F238E27FC236}">
                <a16:creationId xmlns:a16="http://schemas.microsoft.com/office/drawing/2014/main" id="{0DFD2A42-CDCB-DAAC-4E8F-02E841797FD5}"/>
              </a:ext>
            </a:extLst>
          </p:cNvPr>
          <p:cNvSpPr/>
          <p:nvPr/>
        </p:nvSpPr>
        <p:spPr>
          <a:xfrm>
            <a:off x="501797" y="5606410"/>
            <a:ext cx="1463040" cy="219456"/>
          </a:xfrm>
          <a:prstGeom prst="rect">
            <a:avLst/>
          </a:prstGeom>
          <a:noFill/>
          <a:ln/>
        </p:spPr>
        <p:txBody>
          <a:bodyPr wrap="square" lIns="0" tIns="0" rIns="0" bIns="0" rtlCol="0" anchor="ctr">
            <a:normAutofit fontScale="92500"/>
          </a:bodyPr>
          <a:lstStyle/>
          <a:p>
            <a:pPr marL="0" indent="0" algn="l">
              <a:buNone/>
            </a:pPr>
            <a:r>
              <a:rPr lang="en-US" sz="1200" b="1" dirty="0">
                <a:solidFill>
                  <a:srgbClr val="071A55"/>
                </a:solidFill>
                <a:latin typeface="Times New Roman" panose="02020603050405020304" pitchFamily="18" charset="0"/>
                <a:ea typeface="Aptos" pitchFamily="34" charset="-122"/>
                <a:cs typeface="Times New Roman" panose="02020603050405020304" pitchFamily="18" charset="0"/>
              </a:rPr>
              <a:t>VALIDATION NOTES</a:t>
            </a:r>
            <a:endParaRPr lang="en-US" sz="1200" dirty="0">
              <a:latin typeface="Times New Roman" panose="02020603050405020304" pitchFamily="18" charset="0"/>
              <a:cs typeface="Times New Roman" panose="02020603050405020304" pitchFamily="18" charset="0"/>
            </a:endParaRPr>
          </a:p>
        </p:txBody>
      </p:sp>
      <p:sp>
        <p:nvSpPr>
          <p:cNvPr id="91" name="Text 29">
            <a:extLst>
              <a:ext uri="{FF2B5EF4-FFF2-40B4-BE49-F238E27FC236}">
                <a16:creationId xmlns:a16="http://schemas.microsoft.com/office/drawing/2014/main" id="{333DB75B-C9C2-2832-C5A7-EB75C28CD39C}"/>
              </a:ext>
            </a:extLst>
          </p:cNvPr>
          <p:cNvSpPr/>
          <p:nvPr/>
        </p:nvSpPr>
        <p:spPr>
          <a:xfrm>
            <a:off x="2348885" y="5578978"/>
            <a:ext cx="2148840" cy="274320"/>
          </a:xfrm>
          <a:prstGeom prst="rect">
            <a:avLst/>
          </a:prstGeom>
          <a:noFill/>
          <a:ln/>
        </p:spPr>
        <p:txBody>
          <a:bodyPr wrap="square" lIns="0" tIns="0" rIns="0" bIns="0" rtlCol="0" anchor="ctr">
            <a:normAutofit/>
          </a:bodyPr>
          <a:lstStyle/>
          <a:p>
            <a:pPr marL="0" indent="0" algn="l">
              <a:buNone/>
            </a:pPr>
            <a:r>
              <a:rPr lang="en-US" sz="1600" b="1" dirty="0">
                <a:solidFill>
                  <a:srgbClr val="111111"/>
                </a:solidFill>
                <a:latin typeface="Times New Roman" panose="02020603050405020304" pitchFamily="18" charset="0"/>
                <a:ea typeface="Aptos" pitchFamily="34" charset="-122"/>
                <a:cs typeface="Times New Roman" panose="02020603050405020304" pitchFamily="18" charset="0"/>
              </a:rPr>
              <a:t>25</a:t>
            </a:r>
            <a:r>
              <a:rPr lang="en-US" sz="1600" dirty="0">
                <a:solidFill>
                  <a:srgbClr val="111111"/>
                </a:solidFill>
                <a:latin typeface="Times New Roman" panose="02020603050405020304" pitchFamily="18" charset="0"/>
                <a:ea typeface="Aptos" pitchFamily="34" charset="-122"/>
                <a:cs typeface="Times New Roman" panose="02020603050405020304" pitchFamily="18" charset="0"/>
              </a:rPr>
              <a:t> volume-IoU results</a:t>
            </a:r>
            <a:endParaRPr lang="en-US" sz="1600" dirty="0">
              <a:latin typeface="Times New Roman" panose="02020603050405020304" pitchFamily="18" charset="0"/>
              <a:cs typeface="Times New Roman" panose="02020603050405020304" pitchFamily="18" charset="0"/>
            </a:endParaRPr>
          </a:p>
        </p:txBody>
      </p:sp>
      <p:sp>
        <p:nvSpPr>
          <p:cNvPr id="93" name="Text 30">
            <a:extLst>
              <a:ext uri="{FF2B5EF4-FFF2-40B4-BE49-F238E27FC236}">
                <a16:creationId xmlns:a16="http://schemas.microsoft.com/office/drawing/2014/main" id="{354EB1E9-AB50-2AB8-E253-FD8398BF1BCA}"/>
              </a:ext>
            </a:extLst>
          </p:cNvPr>
          <p:cNvSpPr/>
          <p:nvPr/>
        </p:nvSpPr>
        <p:spPr>
          <a:xfrm>
            <a:off x="4634885" y="5578978"/>
            <a:ext cx="182880" cy="274320"/>
          </a:xfrm>
          <a:prstGeom prst="rect">
            <a:avLst/>
          </a:prstGeom>
          <a:noFill/>
          <a:ln/>
        </p:spPr>
        <p:txBody>
          <a:bodyPr wrap="square" lIns="0" tIns="0" rIns="0" bIns="0" rtlCol="0" anchor="ctr">
            <a:noAutofit/>
          </a:bodyPr>
          <a:lstStyle/>
          <a:p>
            <a:pPr marL="0" indent="0" algn="ctr">
              <a:buNone/>
            </a:pPr>
            <a:r>
              <a:rPr lang="en-US" sz="2000" dirty="0">
                <a:solidFill>
                  <a:srgbClr val="B0B8BE"/>
                </a:solidFill>
                <a:latin typeface="Times New Roman" panose="02020603050405020304" pitchFamily="18" charset="0"/>
                <a:ea typeface="Aptos"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95" name="Text 31">
            <a:extLst>
              <a:ext uri="{FF2B5EF4-FFF2-40B4-BE49-F238E27FC236}">
                <a16:creationId xmlns:a16="http://schemas.microsoft.com/office/drawing/2014/main" id="{EEB515D3-79DD-3CA2-A21C-12AD4897256C}"/>
              </a:ext>
            </a:extLst>
          </p:cNvPr>
          <p:cNvSpPr/>
          <p:nvPr/>
        </p:nvSpPr>
        <p:spPr>
          <a:xfrm>
            <a:off x="4890917" y="5578978"/>
            <a:ext cx="2514600" cy="274320"/>
          </a:xfrm>
          <a:prstGeom prst="rect">
            <a:avLst/>
          </a:prstGeom>
          <a:noFill/>
          <a:ln/>
        </p:spPr>
        <p:txBody>
          <a:bodyPr wrap="square" lIns="0" tIns="0" rIns="0" bIns="0" rtlCol="0" anchor="ctr">
            <a:normAutofit/>
          </a:bodyPr>
          <a:lstStyle/>
          <a:p>
            <a:pPr marL="0" indent="0" algn="l">
              <a:buNone/>
            </a:pPr>
            <a:r>
              <a:rPr lang="en-US" sz="1600" b="1" dirty="0">
                <a:solidFill>
                  <a:srgbClr val="111111"/>
                </a:solidFill>
                <a:latin typeface="Times New Roman" panose="02020603050405020304" pitchFamily="18" charset="0"/>
                <a:ea typeface="Aptos" pitchFamily="34" charset="-122"/>
                <a:cs typeface="Times New Roman" panose="02020603050405020304" pitchFamily="18" charset="0"/>
              </a:rPr>
              <a:t>2</a:t>
            </a:r>
            <a:r>
              <a:rPr lang="en-US" sz="1600" dirty="0">
                <a:solidFill>
                  <a:srgbClr val="111111"/>
                </a:solidFill>
                <a:latin typeface="Times New Roman" panose="02020603050405020304" pitchFamily="18" charset="0"/>
                <a:ea typeface="Aptos" pitchFamily="34" charset="-122"/>
                <a:cs typeface="Times New Roman" panose="02020603050405020304" pitchFamily="18" charset="0"/>
              </a:rPr>
              <a:t> surface-only validations</a:t>
            </a:r>
            <a:endParaRPr lang="en-US" sz="1600" dirty="0">
              <a:latin typeface="Times New Roman" panose="02020603050405020304" pitchFamily="18" charset="0"/>
              <a:cs typeface="Times New Roman" panose="02020603050405020304" pitchFamily="18" charset="0"/>
            </a:endParaRPr>
          </a:p>
        </p:txBody>
      </p:sp>
      <p:sp>
        <p:nvSpPr>
          <p:cNvPr id="97" name="Text 32">
            <a:extLst>
              <a:ext uri="{FF2B5EF4-FFF2-40B4-BE49-F238E27FC236}">
                <a16:creationId xmlns:a16="http://schemas.microsoft.com/office/drawing/2014/main" id="{68949EF8-83AA-A774-58D2-81FFAE12DFC0}"/>
              </a:ext>
            </a:extLst>
          </p:cNvPr>
          <p:cNvSpPr/>
          <p:nvPr/>
        </p:nvSpPr>
        <p:spPr>
          <a:xfrm>
            <a:off x="7634117" y="5578978"/>
            <a:ext cx="182880" cy="274320"/>
          </a:xfrm>
          <a:prstGeom prst="rect">
            <a:avLst/>
          </a:prstGeom>
          <a:noFill/>
          <a:ln/>
        </p:spPr>
        <p:txBody>
          <a:bodyPr wrap="square" lIns="0" tIns="0" rIns="0" bIns="0" rtlCol="0" anchor="ctr">
            <a:noAutofit/>
          </a:bodyPr>
          <a:lstStyle/>
          <a:p>
            <a:pPr marL="0" indent="0" algn="ctr">
              <a:buNone/>
            </a:pPr>
            <a:r>
              <a:rPr lang="en-US" sz="2000" dirty="0">
                <a:solidFill>
                  <a:srgbClr val="B0B8BE"/>
                </a:solidFill>
                <a:latin typeface="Times New Roman" panose="02020603050405020304" pitchFamily="18" charset="0"/>
                <a:ea typeface="Aptos"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99" name="Text 33">
            <a:extLst>
              <a:ext uri="{FF2B5EF4-FFF2-40B4-BE49-F238E27FC236}">
                <a16:creationId xmlns:a16="http://schemas.microsoft.com/office/drawing/2014/main" id="{93B4F13E-67CF-FE08-D496-8B5068D174F7}"/>
              </a:ext>
            </a:extLst>
          </p:cNvPr>
          <p:cNvSpPr/>
          <p:nvPr/>
        </p:nvSpPr>
        <p:spPr>
          <a:xfrm>
            <a:off x="7908437" y="5578978"/>
            <a:ext cx="2514600" cy="274320"/>
          </a:xfrm>
          <a:prstGeom prst="rect">
            <a:avLst/>
          </a:prstGeom>
          <a:noFill/>
          <a:ln/>
        </p:spPr>
        <p:txBody>
          <a:bodyPr wrap="square" lIns="0" tIns="0" rIns="0" bIns="0" rtlCol="0" anchor="ctr">
            <a:normAutofit/>
          </a:bodyPr>
          <a:lstStyle/>
          <a:p>
            <a:pPr marL="0" indent="0" algn="l">
              <a:buNone/>
            </a:pPr>
            <a:r>
              <a:rPr lang="en-US" sz="1600" b="1" dirty="0">
                <a:solidFill>
                  <a:srgbClr val="111111"/>
                </a:solidFill>
                <a:latin typeface="Times New Roman" panose="02020603050405020304" pitchFamily="18" charset="0"/>
                <a:ea typeface="Aptos" pitchFamily="34" charset="-122"/>
                <a:cs typeface="Times New Roman" panose="02020603050405020304" pitchFamily="18" charset="0"/>
              </a:rPr>
              <a:t>0</a:t>
            </a:r>
            <a:r>
              <a:rPr lang="en-US" sz="1600" dirty="0">
                <a:solidFill>
                  <a:srgbClr val="111111"/>
                </a:solidFill>
                <a:latin typeface="Times New Roman" panose="02020603050405020304" pitchFamily="18" charset="0"/>
                <a:ea typeface="Aptos" pitchFamily="34" charset="-122"/>
                <a:cs typeface="Times New Roman" panose="02020603050405020304" pitchFamily="18" charset="0"/>
              </a:rPr>
              <a:t> manual corrections</a:t>
            </a:r>
            <a:endParaRPr lang="en-US" sz="1600" dirty="0">
              <a:latin typeface="Times New Roman" panose="02020603050405020304" pitchFamily="18" charset="0"/>
              <a:cs typeface="Times New Roman" panose="02020603050405020304" pitchFamily="18" charset="0"/>
            </a:endParaRPr>
          </a:p>
        </p:txBody>
      </p:sp>
      <p:sp>
        <p:nvSpPr>
          <p:cNvPr id="101" name="Text 34">
            <a:extLst>
              <a:ext uri="{FF2B5EF4-FFF2-40B4-BE49-F238E27FC236}">
                <a16:creationId xmlns:a16="http://schemas.microsoft.com/office/drawing/2014/main" id="{2D270847-F4E1-A41B-79D9-DBAC7DBD2B45}"/>
              </a:ext>
            </a:extLst>
          </p:cNvPr>
          <p:cNvSpPr/>
          <p:nvPr/>
        </p:nvSpPr>
        <p:spPr>
          <a:xfrm>
            <a:off x="2211725" y="5880730"/>
            <a:ext cx="4434840" cy="228600"/>
          </a:xfrm>
          <a:prstGeom prst="rect">
            <a:avLst/>
          </a:prstGeom>
          <a:noFill/>
          <a:ln/>
        </p:spPr>
        <p:txBody>
          <a:bodyPr wrap="square" lIns="0" tIns="0" rIns="0" bIns="0" rtlCol="0" anchor="ctr">
            <a:normAutofit/>
          </a:bodyPr>
          <a:lstStyle/>
          <a:p>
            <a:pPr marL="0" indent="0" algn="l">
              <a:buNone/>
            </a:pPr>
            <a:r>
              <a:rPr lang="en-US" sz="1200" dirty="0">
                <a:solidFill>
                  <a:srgbClr val="666666"/>
                </a:solidFill>
                <a:latin typeface="Times New Roman" panose="02020603050405020304" pitchFamily="18" charset="0"/>
                <a:ea typeface="Aptos" pitchFamily="34" charset="-122"/>
                <a:cs typeface="Times New Roman" panose="02020603050405020304" pitchFamily="18" charset="0"/>
              </a:rPr>
              <a:t>Surface-only cases retain volume_iou = null.</a:t>
            </a:r>
            <a:endParaRPr lang="en-US" sz="1200" dirty="0">
              <a:latin typeface="Times New Roman" panose="02020603050405020304" pitchFamily="18" charset="0"/>
              <a:cs typeface="Times New Roman" panose="02020603050405020304" pitchFamily="18" charset="0"/>
            </a:endParaRPr>
          </a:p>
        </p:txBody>
      </p:sp>
      <p:sp>
        <p:nvSpPr>
          <p:cNvPr id="103" name="Text 35">
            <a:extLst>
              <a:ext uri="{FF2B5EF4-FFF2-40B4-BE49-F238E27FC236}">
                <a16:creationId xmlns:a16="http://schemas.microsoft.com/office/drawing/2014/main" id="{ACCCEB5F-C0AC-B9C9-6FA0-E6E54AA40374}"/>
              </a:ext>
            </a:extLst>
          </p:cNvPr>
          <p:cNvSpPr/>
          <p:nvPr/>
        </p:nvSpPr>
        <p:spPr>
          <a:xfrm>
            <a:off x="6646565" y="5876158"/>
            <a:ext cx="4860821" cy="237744"/>
          </a:xfrm>
          <a:prstGeom prst="rect">
            <a:avLst/>
          </a:prstGeom>
          <a:noFill/>
          <a:ln/>
        </p:spPr>
        <p:txBody>
          <a:bodyPr wrap="square" lIns="0" tIns="0" rIns="0" bIns="0" rtlCol="0" anchor="ctr">
            <a:noAutofit/>
          </a:bodyPr>
          <a:lstStyle/>
          <a:p>
            <a:r>
              <a:rPr lang="zh-CN" altLang="zh-CN" sz="1200" dirty="0">
                <a:solidFill>
                  <a:srgbClr val="666666"/>
                </a:solidFill>
                <a:latin typeface="Times New Roman" panose="02020603050405020304" pitchFamily="18" charset="0"/>
                <a:cs typeface="Times New Roman" panose="02020603050405020304" pitchFamily="18" charset="0"/>
              </a:rPr>
              <a:t>Gate 4 PASS reflects evaluation integrity, not a success-rate threshold</a:t>
            </a:r>
            <a:r>
              <a:rPr lang="zh-CN" altLang="zh-CN" sz="1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5436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D8C9B-EC74-9033-6C33-0C8C0F0E0A44}"/>
            </a:ext>
          </a:extLst>
        </p:cNvPr>
        <p:cNvGrpSpPr/>
        <p:nvPr/>
      </p:nvGrpSpPr>
      <p:grpSpPr>
        <a:xfrm>
          <a:off x="0" y="0"/>
          <a:ext cx="0" cy="0"/>
          <a:chOff x="0" y="0"/>
          <a:chExt cx="0" cy="0"/>
        </a:xfrm>
      </p:grpSpPr>
      <p:sp>
        <p:nvSpPr>
          <p:cNvPr id="32" name="矩形 31">
            <a:extLst>
              <a:ext uri="{FF2B5EF4-FFF2-40B4-BE49-F238E27FC236}">
                <a16:creationId xmlns:a16="http://schemas.microsoft.com/office/drawing/2014/main" id="{D42EA7C5-9054-6E3F-D469-9B31A5407344}"/>
              </a:ext>
            </a:extLst>
          </p:cNvPr>
          <p:cNvSpPr/>
          <p:nvPr/>
        </p:nvSpPr>
        <p:spPr>
          <a:xfrm>
            <a:off x="92842" y="620688"/>
            <a:ext cx="6904941" cy="107184"/>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kumimoji="1" lang="zh-CN" altLang="en-US" dirty="0">
              <a:solidFill>
                <a:schemeClr val="tx1"/>
              </a:solidFill>
            </a:endParaRPr>
          </a:p>
        </p:txBody>
      </p:sp>
      <p:sp>
        <p:nvSpPr>
          <p:cNvPr id="3" name="标题 2">
            <a:extLst>
              <a:ext uri="{FF2B5EF4-FFF2-40B4-BE49-F238E27FC236}">
                <a16:creationId xmlns:a16="http://schemas.microsoft.com/office/drawing/2014/main" id="{2CEF6FE0-9512-2EDE-BCB2-3300ABDA720A}"/>
              </a:ext>
            </a:extLst>
          </p:cNvPr>
          <p:cNvSpPr>
            <a:spLocks noGrp="1"/>
          </p:cNvSpPr>
          <p:nvPr>
            <p:ph type="title"/>
          </p:nvPr>
        </p:nvSpPr>
        <p:spPr>
          <a:xfrm>
            <a:off x="119336" y="76228"/>
            <a:ext cx="9695205" cy="531544"/>
          </a:xfrm>
        </p:spPr>
        <p:txBody>
          <a:bodyPr/>
          <a:lstStyle/>
          <a:p>
            <a:r>
              <a:rPr lang="en-US" altLang="zh-CN" dirty="0"/>
              <a:t>Demonstration Evidence Contract</a:t>
            </a:r>
          </a:p>
        </p:txBody>
      </p:sp>
      <p:sp>
        <p:nvSpPr>
          <p:cNvPr id="2" name="04_Main_Contract">
            <a:extLst>
              <a:ext uri="{FF2B5EF4-FFF2-40B4-BE49-F238E27FC236}">
                <a16:creationId xmlns:a16="http://schemas.microsoft.com/office/drawing/2014/main" id="{999FA74F-F17E-4FAE-2F0B-3FFCFBCBE1AF}"/>
              </a:ext>
            </a:extLst>
          </p:cNvPr>
          <p:cNvSpPr txBox="1"/>
          <p:nvPr/>
        </p:nvSpPr>
        <p:spPr>
          <a:xfrm>
            <a:off x="3016714" y="1268760"/>
            <a:ext cx="6049733" cy="553998"/>
          </a:xfrm>
          <a:prstGeom prst="rect">
            <a:avLst/>
          </a:prstGeom>
          <a:noFill/>
        </p:spPr>
        <p:txBody>
          <a:bodyPr wrap="none" lIns="0" tIns="0" rIns="0" bIns="0" anchor="ctr">
            <a:spAutoFit/>
          </a:bodyPr>
          <a:lstStyle/>
          <a:p>
            <a:pPr algn="ctr"/>
            <a:r>
              <a:rPr sz="3600" b="1" i="0">
                <a:solidFill>
                  <a:srgbClr val="111111"/>
                </a:solidFill>
                <a:latin typeface="Times New Roman" panose="02020603050405020304" pitchFamily="18" charset="0"/>
                <a:cs typeface="Times New Roman" panose="02020603050405020304" pitchFamily="18" charset="0"/>
              </a:rPr>
              <a:t>Demonstration   </a:t>
            </a:r>
            <a:r>
              <a:rPr sz="3600" b="1" i="0">
                <a:solidFill>
                  <a:srgbClr val="00BFFF"/>
                </a:solidFill>
                <a:latin typeface="Times New Roman" panose="02020603050405020304" pitchFamily="18" charset="0"/>
                <a:cs typeface="Times New Roman" panose="02020603050405020304" pitchFamily="18" charset="0"/>
              </a:rPr>
              <a:t>≠</a:t>
            </a:r>
            <a:r>
              <a:rPr sz="3600" b="1" i="0">
                <a:solidFill>
                  <a:srgbClr val="111111"/>
                </a:solidFill>
                <a:latin typeface="Times New Roman" panose="02020603050405020304" pitchFamily="18" charset="0"/>
                <a:cs typeface="Times New Roman" panose="02020603050405020304" pitchFamily="18" charset="0"/>
              </a:rPr>
              <a:t>   Evaluation</a:t>
            </a:r>
          </a:p>
        </p:txBody>
      </p:sp>
      <p:sp>
        <p:nvSpPr>
          <p:cNvPr id="4" name="07_Main_Explanation">
            <a:extLst>
              <a:ext uri="{FF2B5EF4-FFF2-40B4-BE49-F238E27FC236}">
                <a16:creationId xmlns:a16="http://schemas.microsoft.com/office/drawing/2014/main" id="{867DD08C-69A7-5768-3D26-DB0BF0957F9F}"/>
              </a:ext>
            </a:extLst>
          </p:cNvPr>
          <p:cNvSpPr txBox="1"/>
          <p:nvPr/>
        </p:nvSpPr>
        <p:spPr>
          <a:xfrm>
            <a:off x="2727755" y="1959245"/>
            <a:ext cx="6581930" cy="215444"/>
          </a:xfrm>
          <a:prstGeom prst="rect">
            <a:avLst/>
          </a:prstGeom>
          <a:noFill/>
        </p:spPr>
        <p:txBody>
          <a:bodyPr wrap="none" lIns="0" tIns="0" rIns="0" bIns="0" anchor="ctr">
            <a:spAutoFit/>
          </a:bodyPr>
          <a:lstStyle/>
          <a:p>
            <a:pPr algn="ctr"/>
            <a:r>
              <a:rPr lang="en-US" sz="1400" b="0" i="0" dirty="0">
                <a:solidFill>
                  <a:srgbClr val="666666"/>
                </a:solidFill>
                <a:latin typeface="Times New Roman" panose="02020603050405020304" pitchFamily="18" charset="0"/>
                <a:cs typeface="Times New Roman" panose="02020603050405020304" pitchFamily="18" charset="0"/>
              </a:rPr>
              <a:t>Gate 5 demonstrations explain frozen capability without creating new benchmark evidence.</a:t>
            </a:r>
            <a:endParaRPr sz="1400" b="0" i="0" dirty="0">
              <a:solidFill>
                <a:srgbClr val="666666"/>
              </a:solidFill>
              <a:latin typeface="Times New Roman" panose="02020603050405020304" pitchFamily="18" charset="0"/>
              <a:cs typeface="Times New Roman" panose="02020603050405020304" pitchFamily="18" charset="0"/>
            </a:endParaRPr>
          </a:p>
        </p:txBody>
      </p:sp>
      <p:cxnSp>
        <p:nvCxnSpPr>
          <p:cNvPr id="6" name="08_Left_Accent">
            <a:extLst>
              <a:ext uri="{FF2B5EF4-FFF2-40B4-BE49-F238E27FC236}">
                <a16:creationId xmlns:a16="http://schemas.microsoft.com/office/drawing/2014/main" id="{E24EAF4F-A24A-6535-06F9-F03CC1158286}"/>
              </a:ext>
            </a:extLst>
          </p:cNvPr>
          <p:cNvCxnSpPr/>
          <p:nvPr/>
        </p:nvCxnSpPr>
        <p:spPr>
          <a:xfrm>
            <a:off x="811212" y="2368719"/>
            <a:ext cx="0" cy="1965960"/>
          </a:xfrm>
          <a:prstGeom prst="line">
            <a:avLst/>
          </a:prstGeom>
          <a:ln w="25400">
            <a:solidFill>
              <a:srgbClr val="00BFFF"/>
            </a:solidFill>
          </a:ln>
        </p:spPr>
        <p:style>
          <a:lnRef idx="2">
            <a:schemeClr val="accent1"/>
          </a:lnRef>
          <a:fillRef idx="0">
            <a:schemeClr val="accent1"/>
          </a:fillRef>
          <a:effectRef idx="1">
            <a:schemeClr val="accent1"/>
          </a:effectRef>
          <a:fontRef idx="minor">
            <a:schemeClr val="tx1"/>
          </a:fontRef>
        </p:style>
      </p:cxnSp>
      <p:cxnSp>
        <p:nvCxnSpPr>
          <p:cNvPr id="7" name="15_Center_Divider">
            <a:extLst>
              <a:ext uri="{FF2B5EF4-FFF2-40B4-BE49-F238E27FC236}">
                <a16:creationId xmlns:a16="http://schemas.microsoft.com/office/drawing/2014/main" id="{1C26E5FA-B8C7-5C9E-EF16-318A83AE54F5}"/>
              </a:ext>
            </a:extLst>
          </p:cNvPr>
          <p:cNvCxnSpPr/>
          <p:nvPr/>
        </p:nvCxnSpPr>
        <p:spPr>
          <a:xfrm>
            <a:off x="5995860" y="2322999"/>
            <a:ext cx="0" cy="2148840"/>
          </a:xfrm>
          <a:prstGeom prst="line">
            <a:avLst/>
          </a:prstGeom>
          <a:ln w="8890">
            <a:solidFill>
              <a:srgbClr val="D9DEE3"/>
            </a:solidFill>
          </a:ln>
        </p:spPr>
        <p:style>
          <a:lnRef idx="2">
            <a:schemeClr val="accent1"/>
          </a:lnRef>
          <a:fillRef idx="0">
            <a:schemeClr val="accent1"/>
          </a:fillRef>
          <a:effectRef idx="1">
            <a:schemeClr val="accent1"/>
          </a:effectRef>
          <a:fontRef idx="minor">
            <a:schemeClr val="tx1"/>
          </a:fontRef>
        </p:style>
      </p:cxnSp>
      <p:sp>
        <p:nvSpPr>
          <p:cNvPr id="8" name="09_Left_Source_Label">
            <a:extLst>
              <a:ext uri="{FF2B5EF4-FFF2-40B4-BE49-F238E27FC236}">
                <a16:creationId xmlns:a16="http://schemas.microsoft.com/office/drawing/2014/main" id="{CD4388B3-B5DB-D9AF-3230-99A2DFBA2515}"/>
              </a:ext>
            </a:extLst>
          </p:cNvPr>
          <p:cNvSpPr txBox="1"/>
          <p:nvPr/>
        </p:nvSpPr>
        <p:spPr>
          <a:xfrm>
            <a:off x="966660" y="2375520"/>
            <a:ext cx="2503891" cy="169277"/>
          </a:xfrm>
          <a:prstGeom prst="rect">
            <a:avLst/>
          </a:prstGeom>
          <a:noFill/>
        </p:spPr>
        <p:txBody>
          <a:bodyPr wrap="none" lIns="0" tIns="0" rIns="0" bIns="0" anchor="ctr">
            <a:spAutoFit/>
          </a:bodyPr>
          <a:lstStyle/>
          <a:p>
            <a:pPr algn="l"/>
            <a:r>
              <a:rPr sz="1100" b="1" i="0">
                <a:solidFill>
                  <a:srgbClr val="00A9E6"/>
                </a:solidFill>
                <a:latin typeface="Times New Roman" panose="02020603050405020304" pitchFamily="18" charset="0"/>
                <a:cs typeface="Times New Roman" panose="02020603050405020304" pitchFamily="18" charset="0"/>
              </a:rPr>
              <a:t>DEVELOPMENT DEMONSTRATIONS</a:t>
            </a:r>
          </a:p>
        </p:txBody>
      </p:sp>
      <p:sp>
        <p:nvSpPr>
          <p:cNvPr id="10" name="10_Left_Case_ID">
            <a:extLst>
              <a:ext uri="{FF2B5EF4-FFF2-40B4-BE49-F238E27FC236}">
                <a16:creationId xmlns:a16="http://schemas.microsoft.com/office/drawing/2014/main" id="{1D56A7E0-A76C-A574-8828-7AA5361C1A8C}"/>
              </a:ext>
            </a:extLst>
          </p:cNvPr>
          <p:cNvSpPr txBox="1"/>
          <p:nvPr/>
        </p:nvSpPr>
        <p:spPr>
          <a:xfrm>
            <a:off x="966660" y="2647051"/>
            <a:ext cx="2436564" cy="430887"/>
          </a:xfrm>
          <a:prstGeom prst="rect">
            <a:avLst/>
          </a:prstGeom>
          <a:noFill/>
        </p:spPr>
        <p:txBody>
          <a:bodyPr wrap="none" lIns="0" tIns="0" rIns="0" bIns="0" anchor="ctr">
            <a:spAutoFit/>
          </a:bodyPr>
          <a:lstStyle/>
          <a:p>
            <a:pPr algn="l"/>
            <a:r>
              <a:rPr sz="2800" b="1" i="0" dirty="0">
                <a:solidFill>
                  <a:srgbClr val="071A55"/>
                </a:solidFill>
                <a:latin typeface="Times New Roman" panose="02020603050405020304" pitchFamily="18" charset="0"/>
                <a:cs typeface="Times New Roman" panose="02020603050405020304" pitchFamily="18" charset="0"/>
              </a:rPr>
              <a:t>D-S04  ·  D-H01</a:t>
            </a:r>
          </a:p>
        </p:txBody>
      </p:sp>
      <p:sp>
        <p:nvSpPr>
          <p:cNvPr id="11" name="11_Left_Source_Description">
            <a:extLst>
              <a:ext uri="{FF2B5EF4-FFF2-40B4-BE49-F238E27FC236}">
                <a16:creationId xmlns:a16="http://schemas.microsoft.com/office/drawing/2014/main" id="{353F428C-8896-3F63-BB35-64BDC3706876}"/>
              </a:ext>
            </a:extLst>
          </p:cNvPr>
          <p:cNvSpPr txBox="1"/>
          <p:nvPr/>
        </p:nvSpPr>
        <p:spPr>
          <a:xfrm>
            <a:off x="966660" y="3153763"/>
            <a:ext cx="3778920" cy="276999"/>
          </a:xfrm>
          <a:prstGeom prst="rect">
            <a:avLst/>
          </a:prstGeom>
          <a:noFill/>
        </p:spPr>
        <p:txBody>
          <a:bodyPr wrap="none" lIns="0" tIns="0" rIns="0" bIns="0" anchor="ctr">
            <a:spAutoFit/>
          </a:bodyPr>
          <a:lstStyle/>
          <a:p>
            <a:pPr algn="l"/>
            <a:r>
              <a:rPr lang="en-US" sz="1800" b="1" i="0" dirty="0">
                <a:solidFill>
                  <a:srgbClr val="111111"/>
                </a:solidFill>
                <a:latin typeface="Times New Roman" panose="02020603050405020304" pitchFamily="18" charset="0"/>
                <a:cs typeface="Times New Roman" panose="02020603050405020304" pitchFamily="18" charset="0"/>
              </a:rPr>
              <a:t>Delivery-layer demonstration artifacts</a:t>
            </a:r>
            <a:endParaRPr sz="1800" b="1" i="0" dirty="0">
              <a:solidFill>
                <a:srgbClr val="111111"/>
              </a:solidFill>
              <a:latin typeface="Times New Roman" panose="02020603050405020304" pitchFamily="18" charset="0"/>
              <a:cs typeface="Times New Roman" panose="02020603050405020304" pitchFamily="18" charset="0"/>
            </a:endParaRPr>
          </a:p>
        </p:txBody>
      </p:sp>
      <p:sp>
        <p:nvSpPr>
          <p:cNvPr id="12" name="12_Left_Split_Description">
            <a:extLst>
              <a:ext uri="{FF2B5EF4-FFF2-40B4-BE49-F238E27FC236}">
                <a16:creationId xmlns:a16="http://schemas.microsoft.com/office/drawing/2014/main" id="{50F450B2-84F7-D5F4-CD7E-BAC6FF3EE22A}"/>
              </a:ext>
            </a:extLst>
          </p:cNvPr>
          <p:cNvSpPr txBox="1"/>
          <p:nvPr/>
        </p:nvSpPr>
        <p:spPr>
          <a:xfrm>
            <a:off x="966660" y="3495437"/>
            <a:ext cx="1758495" cy="215444"/>
          </a:xfrm>
          <a:prstGeom prst="rect">
            <a:avLst/>
          </a:prstGeom>
          <a:noFill/>
        </p:spPr>
        <p:txBody>
          <a:bodyPr wrap="none" lIns="0" tIns="0" rIns="0" bIns="0" anchor="ctr">
            <a:spAutoFit/>
          </a:bodyPr>
          <a:lstStyle/>
          <a:p>
            <a:pPr algn="l"/>
            <a:r>
              <a:rPr sz="1400" b="0" i="0" dirty="0">
                <a:solidFill>
                  <a:srgbClr val="666666"/>
                </a:solidFill>
                <a:latin typeface="Times New Roman" panose="02020603050405020304" pitchFamily="18" charset="0"/>
                <a:cs typeface="Times New Roman" panose="02020603050405020304" pitchFamily="18" charset="0"/>
              </a:rPr>
              <a:t>Development cases only</a:t>
            </a:r>
          </a:p>
        </p:txBody>
      </p:sp>
      <p:sp>
        <p:nvSpPr>
          <p:cNvPr id="14" name="13_Left_Frozen_Path">
            <a:extLst>
              <a:ext uri="{FF2B5EF4-FFF2-40B4-BE49-F238E27FC236}">
                <a16:creationId xmlns:a16="http://schemas.microsoft.com/office/drawing/2014/main" id="{30A9D512-55C7-C67A-5B84-0F22B515BFE5}"/>
              </a:ext>
            </a:extLst>
          </p:cNvPr>
          <p:cNvSpPr txBox="1"/>
          <p:nvPr/>
        </p:nvSpPr>
        <p:spPr>
          <a:xfrm>
            <a:off x="966660" y="3864830"/>
            <a:ext cx="2500621" cy="409343"/>
          </a:xfrm>
          <a:prstGeom prst="rect">
            <a:avLst/>
          </a:prstGeom>
          <a:noFill/>
        </p:spPr>
        <p:txBody>
          <a:bodyPr wrap="none" lIns="0" tIns="0" rIns="0" bIns="0" anchor="ctr">
            <a:spAutoFit/>
          </a:bodyPr>
          <a:lstStyle/>
          <a:p>
            <a:pPr algn="l">
              <a:lnSpc>
                <a:spcPct val="95000"/>
              </a:lnSpc>
            </a:pPr>
            <a:r>
              <a:rPr sz="1400" b="0" i="0" dirty="0">
                <a:solidFill>
                  <a:srgbClr val="071A55"/>
                </a:solidFill>
                <a:latin typeface="Times New Roman" panose="02020603050405020304" pitchFamily="18" charset="0"/>
                <a:cs typeface="Times New Roman" panose="02020603050405020304" pitchFamily="18" charset="0"/>
              </a:rPr>
              <a:t>Frozen inference → Fusion replay
→ frozen validation</a:t>
            </a:r>
          </a:p>
        </p:txBody>
      </p:sp>
      <p:sp>
        <p:nvSpPr>
          <p:cNvPr id="15" name="14_Left_No_Update">
            <a:extLst>
              <a:ext uri="{FF2B5EF4-FFF2-40B4-BE49-F238E27FC236}">
                <a16:creationId xmlns:a16="http://schemas.microsoft.com/office/drawing/2014/main" id="{4258058F-10C1-2C4B-CF74-24F1B7B55DE5}"/>
              </a:ext>
            </a:extLst>
          </p:cNvPr>
          <p:cNvSpPr txBox="1"/>
          <p:nvPr/>
        </p:nvSpPr>
        <p:spPr>
          <a:xfrm>
            <a:off x="966660" y="4379506"/>
            <a:ext cx="1864293" cy="184666"/>
          </a:xfrm>
          <a:prstGeom prst="rect">
            <a:avLst/>
          </a:prstGeom>
          <a:noFill/>
        </p:spPr>
        <p:txBody>
          <a:bodyPr wrap="none" lIns="0" tIns="0" rIns="0" bIns="0" anchor="ctr">
            <a:spAutoFit/>
          </a:bodyPr>
          <a:lstStyle/>
          <a:p>
            <a:pPr algn="l"/>
            <a:r>
              <a:rPr sz="1200" b="0" i="0">
                <a:solidFill>
                  <a:srgbClr val="666666"/>
                </a:solidFill>
                <a:latin typeface="Times New Roman" panose="02020603050405020304" pitchFamily="18" charset="0"/>
                <a:cs typeface="Times New Roman" panose="02020603050405020304" pitchFamily="18" charset="0"/>
              </a:rPr>
              <a:t>No formal result-count update</a:t>
            </a:r>
          </a:p>
        </p:txBody>
      </p:sp>
      <p:sp>
        <p:nvSpPr>
          <p:cNvPr id="16" name="16_Right_Source_Label">
            <a:extLst>
              <a:ext uri="{FF2B5EF4-FFF2-40B4-BE49-F238E27FC236}">
                <a16:creationId xmlns:a16="http://schemas.microsoft.com/office/drawing/2014/main" id="{EE72913B-FFA4-0253-F44A-B9C55F982C1C}"/>
              </a:ext>
            </a:extLst>
          </p:cNvPr>
          <p:cNvSpPr txBox="1"/>
          <p:nvPr/>
        </p:nvSpPr>
        <p:spPr>
          <a:xfrm>
            <a:off x="6544500" y="2375520"/>
            <a:ext cx="2672206" cy="169277"/>
          </a:xfrm>
          <a:prstGeom prst="rect">
            <a:avLst/>
          </a:prstGeom>
          <a:noFill/>
        </p:spPr>
        <p:txBody>
          <a:bodyPr wrap="none" lIns="0" tIns="0" rIns="0" bIns="0" anchor="ctr">
            <a:spAutoFit/>
          </a:bodyPr>
          <a:lstStyle/>
          <a:p>
            <a:pPr algn="l"/>
            <a:r>
              <a:rPr lang="en-US" sz="1100" b="1" i="0" dirty="0">
                <a:solidFill>
                  <a:srgbClr val="071A55"/>
                </a:solidFill>
                <a:latin typeface="Times New Roman" panose="02020603050405020304" pitchFamily="18" charset="0"/>
                <a:cs typeface="Times New Roman" panose="02020603050405020304" pitchFamily="18" charset="0"/>
              </a:rPr>
              <a:t>READ-ONLY SEALED EVIDENCE VIEW</a:t>
            </a:r>
            <a:endParaRPr sz="1100" b="1" i="0" dirty="0">
              <a:solidFill>
                <a:srgbClr val="071A55"/>
              </a:solidFill>
              <a:latin typeface="Times New Roman" panose="02020603050405020304" pitchFamily="18" charset="0"/>
              <a:cs typeface="Times New Roman" panose="02020603050405020304" pitchFamily="18" charset="0"/>
            </a:endParaRPr>
          </a:p>
        </p:txBody>
      </p:sp>
      <p:sp>
        <p:nvSpPr>
          <p:cNvPr id="18" name="17_Right_Case_ID">
            <a:extLst>
              <a:ext uri="{FF2B5EF4-FFF2-40B4-BE49-F238E27FC236}">
                <a16:creationId xmlns:a16="http://schemas.microsoft.com/office/drawing/2014/main" id="{59D28F13-49C6-ADB6-78B7-D8D0705B6774}"/>
              </a:ext>
            </a:extLst>
          </p:cNvPr>
          <p:cNvSpPr txBox="1"/>
          <p:nvPr/>
        </p:nvSpPr>
        <p:spPr>
          <a:xfrm>
            <a:off x="6544500" y="2647051"/>
            <a:ext cx="972254" cy="430887"/>
          </a:xfrm>
          <a:prstGeom prst="rect">
            <a:avLst/>
          </a:prstGeom>
          <a:noFill/>
        </p:spPr>
        <p:txBody>
          <a:bodyPr wrap="none" lIns="0" tIns="0" rIns="0" bIns="0" anchor="ctr">
            <a:spAutoFit/>
          </a:bodyPr>
          <a:lstStyle/>
          <a:p>
            <a:pPr algn="l"/>
            <a:r>
              <a:rPr sz="2800" b="1" i="0">
                <a:solidFill>
                  <a:srgbClr val="071A55"/>
                </a:solidFill>
                <a:latin typeface="Times New Roman" panose="02020603050405020304" pitchFamily="18" charset="0"/>
                <a:cs typeface="Times New Roman" panose="02020603050405020304" pitchFamily="18" charset="0"/>
              </a:rPr>
              <a:t>D-S01</a:t>
            </a:r>
          </a:p>
        </p:txBody>
      </p:sp>
      <p:sp>
        <p:nvSpPr>
          <p:cNvPr id="19" name="18_Right_Source_Description">
            <a:extLst>
              <a:ext uri="{FF2B5EF4-FFF2-40B4-BE49-F238E27FC236}">
                <a16:creationId xmlns:a16="http://schemas.microsoft.com/office/drawing/2014/main" id="{20C71F15-5547-2905-DD8D-D30CF6EFAAEB}"/>
              </a:ext>
            </a:extLst>
          </p:cNvPr>
          <p:cNvSpPr txBox="1"/>
          <p:nvPr/>
        </p:nvSpPr>
        <p:spPr>
          <a:xfrm>
            <a:off x="6544500" y="3167479"/>
            <a:ext cx="3526606" cy="276999"/>
          </a:xfrm>
          <a:prstGeom prst="rect">
            <a:avLst/>
          </a:prstGeom>
          <a:noFill/>
        </p:spPr>
        <p:txBody>
          <a:bodyPr wrap="none" lIns="0" tIns="0" rIns="0" bIns="0" anchor="ctr">
            <a:spAutoFit/>
          </a:bodyPr>
          <a:lstStyle/>
          <a:p>
            <a:pPr algn="l"/>
            <a:r>
              <a:rPr lang="en-US" sz="1800" b="1" i="0" dirty="0">
                <a:solidFill>
                  <a:srgbClr val="111111"/>
                </a:solidFill>
                <a:latin typeface="Times New Roman" panose="02020603050405020304" pitchFamily="18" charset="0"/>
                <a:cs typeface="Times New Roman" panose="02020603050405020304" pitchFamily="18" charset="0"/>
              </a:rPr>
              <a:t>Sealed Gate 4 development package</a:t>
            </a:r>
            <a:endParaRPr sz="1800" b="1" i="0" dirty="0">
              <a:solidFill>
                <a:srgbClr val="111111"/>
              </a:solidFill>
              <a:latin typeface="Times New Roman" panose="02020603050405020304" pitchFamily="18" charset="0"/>
              <a:cs typeface="Times New Roman" panose="02020603050405020304" pitchFamily="18" charset="0"/>
            </a:endParaRPr>
          </a:p>
        </p:txBody>
      </p:sp>
      <p:sp>
        <p:nvSpPr>
          <p:cNvPr id="20" name="19_Right_Source_Mode">
            <a:extLst>
              <a:ext uri="{FF2B5EF4-FFF2-40B4-BE49-F238E27FC236}">
                <a16:creationId xmlns:a16="http://schemas.microsoft.com/office/drawing/2014/main" id="{6D970B42-8754-537B-083B-BE8DA3904498}"/>
              </a:ext>
            </a:extLst>
          </p:cNvPr>
          <p:cNvSpPr txBox="1"/>
          <p:nvPr/>
        </p:nvSpPr>
        <p:spPr>
          <a:xfrm>
            <a:off x="6544500" y="3559445"/>
            <a:ext cx="2606483" cy="215444"/>
          </a:xfrm>
          <a:prstGeom prst="rect">
            <a:avLst/>
          </a:prstGeom>
          <a:noFill/>
        </p:spPr>
        <p:txBody>
          <a:bodyPr wrap="none" lIns="0" tIns="0" rIns="0" bIns="0" anchor="ctr">
            <a:spAutoFit/>
          </a:bodyPr>
          <a:lstStyle/>
          <a:p>
            <a:pPr algn="l"/>
            <a:r>
              <a:rPr lang="en-US" sz="1400" b="0" i="0" dirty="0" err="1">
                <a:solidFill>
                  <a:srgbClr val="666666"/>
                </a:solidFill>
                <a:latin typeface="Times New Roman" panose="02020603050405020304" pitchFamily="18" charset="0"/>
                <a:cs typeface="Times New Roman" panose="02020603050405020304" pitchFamily="18" charset="0"/>
              </a:rPr>
              <a:t>source_mode</a:t>
            </a:r>
            <a:r>
              <a:rPr lang="en-US" sz="1400" b="0" i="0" dirty="0">
                <a:solidFill>
                  <a:srgbClr val="666666"/>
                </a:solidFill>
                <a:latin typeface="Times New Roman" panose="02020603050405020304" pitchFamily="18" charset="0"/>
                <a:cs typeface="Times New Roman" panose="02020603050405020304" pitchFamily="18" charset="0"/>
              </a:rPr>
              <a:t> = </a:t>
            </a:r>
            <a:r>
              <a:rPr lang="en-US" sz="1400" b="0" i="0" dirty="0" err="1">
                <a:solidFill>
                  <a:srgbClr val="666666"/>
                </a:solidFill>
                <a:latin typeface="Times New Roman" panose="02020603050405020304" pitchFamily="18" charset="0"/>
                <a:cs typeface="Times New Roman" panose="02020603050405020304" pitchFamily="18" charset="0"/>
              </a:rPr>
              <a:t>sealed_artifact_only</a:t>
            </a:r>
            <a:endParaRPr sz="1400" b="0" i="0" dirty="0">
              <a:solidFill>
                <a:srgbClr val="666666"/>
              </a:solidFill>
              <a:latin typeface="Times New Roman" panose="02020603050405020304" pitchFamily="18" charset="0"/>
              <a:cs typeface="Times New Roman" panose="02020603050405020304" pitchFamily="18" charset="0"/>
            </a:endParaRPr>
          </a:p>
        </p:txBody>
      </p:sp>
      <p:sp>
        <p:nvSpPr>
          <p:cNvPr id="22" name="20_Right_No_Fresh_Inference">
            <a:extLst>
              <a:ext uri="{FF2B5EF4-FFF2-40B4-BE49-F238E27FC236}">
                <a16:creationId xmlns:a16="http://schemas.microsoft.com/office/drawing/2014/main" id="{926A70F9-F4C1-7D13-487F-AEBB0A4B2510}"/>
              </a:ext>
            </a:extLst>
          </p:cNvPr>
          <p:cNvSpPr txBox="1"/>
          <p:nvPr/>
        </p:nvSpPr>
        <p:spPr>
          <a:xfrm>
            <a:off x="6544500" y="3947127"/>
            <a:ext cx="1336904" cy="409343"/>
          </a:xfrm>
          <a:prstGeom prst="rect">
            <a:avLst/>
          </a:prstGeom>
          <a:noFill/>
        </p:spPr>
        <p:txBody>
          <a:bodyPr wrap="none" lIns="0" tIns="0" rIns="0" bIns="0" anchor="ctr">
            <a:spAutoFit/>
          </a:bodyPr>
          <a:lstStyle/>
          <a:p>
            <a:pPr algn="l">
              <a:lnSpc>
                <a:spcPct val="95000"/>
              </a:lnSpc>
            </a:pPr>
            <a:r>
              <a:rPr lang="en-US" sz="1400" b="0" i="0" dirty="0">
                <a:solidFill>
                  <a:srgbClr val="071A55"/>
                </a:solidFill>
                <a:latin typeface="Times New Roman" panose="02020603050405020304" pitchFamily="18" charset="0"/>
                <a:cs typeface="Times New Roman" panose="02020603050405020304" pitchFamily="18" charset="0"/>
              </a:rPr>
              <a:t>No fresh inference</a:t>
            </a:r>
          </a:p>
          <a:p>
            <a:pPr algn="l">
              <a:lnSpc>
                <a:spcPct val="95000"/>
              </a:lnSpc>
            </a:pPr>
            <a:r>
              <a:rPr lang="en-US" sz="1400" b="0" i="0" dirty="0">
                <a:solidFill>
                  <a:srgbClr val="071A55"/>
                </a:solidFill>
                <a:latin typeface="Times New Roman" panose="02020603050405020304" pitchFamily="18" charset="0"/>
                <a:cs typeface="Times New Roman" panose="02020603050405020304" pitchFamily="18" charset="0"/>
              </a:rPr>
              <a:t>No artifact editing</a:t>
            </a:r>
            <a:endParaRPr sz="1400" b="0" i="0" dirty="0">
              <a:solidFill>
                <a:srgbClr val="071A55"/>
              </a:solidFill>
              <a:latin typeface="Times New Roman" panose="02020603050405020304" pitchFamily="18" charset="0"/>
              <a:cs typeface="Times New Roman" panose="02020603050405020304" pitchFamily="18" charset="0"/>
            </a:endParaRPr>
          </a:p>
        </p:txBody>
      </p:sp>
      <p:cxnSp>
        <p:nvCxnSpPr>
          <p:cNvPr id="23" name="22_Metadata_Divider">
            <a:extLst>
              <a:ext uri="{FF2B5EF4-FFF2-40B4-BE49-F238E27FC236}">
                <a16:creationId xmlns:a16="http://schemas.microsoft.com/office/drawing/2014/main" id="{CF4F3350-A57C-7840-2C84-8D067ECBC2B3}"/>
              </a:ext>
            </a:extLst>
          </p:cNvPr>
          <p:cNvCxnSpPr/>
          <p:nvPr/>
        </p:nvCxnSpPr>
        <p:spPr>
          <a:xfrm>
            <a:off x="738060" y="4727871"/>
            <a:ext cx="10561320" cy="0"/>
          </a:xfrm>
          <a:prstGeom prst="line">
            <a:avLst/>
          </a:prstGeom>
          <a:ln w="8890">
            <a:solidFill>
              <a:srgbClr val="D9DEE3"/>
            </a:solidFill>
          </a:ln>
        </p:spPr>
        <p:style>
          <a:lnRef idx="2">
            <a:schemeClr val="accent1"/>
          </a:lnRef>
          <a:fillRef idx="0">
            <a:schemeClr val="accent1"/>
          </a:fillRef>
          <a:effectRef idx="1">
            <a:schemeClr val="accent1"/>
          </a:effectRef>
          <a:fontRef idx="minor">
            <a:schemeClr val="tx1"/>
          </a:fontRef>
        </p:style>
      </p:cxnSp>
      <p:sp>
        <p:nvSpPr>
          <p:cNvPr id="24" name="23_Metadata_Header">
            <a:extLst>
              <a:ext uri="{FF2B5EF4-FFF2-40B4-BE49-F238E27FC236}">
                <a16:creationId xmlns:a16="http://schemas.microsoft.com/office/drawing/2014/main" id="{8ABC034C-9299-DED3-EE25-259BA6A83465}"/>
              </a:ext>
            </a:extLst>
          </p:cNvPr>
          <p:cNvSpPr txBox="1"/>
          <p:nvPr/>
        </p:nvSpPr>
        <p:spPr>
          <a:xfrm>
            <a:off x="1812908" y="4928705"/>
            <a:ext cx="3055324" cy="169277"/>
          </a:xfrm>
          <a:prstGeom prst="rect">
            <a:avLst/>
          </a:prstGeom>
          <a:noFill/>
        </p:spPr>
        <p:txBody>
          <a:bodyPr wrap="none" lIns="0" tIns="0" rIns="0" bIns="0" anchor="ctr">
            <a:spAutoFit/>
          </a:bodyPr>
          <a:lstStyle/>
          <a:p>
            <a:pPr algn="l"/>
            <a:r>
              <a:rPr lang="en-US" sz="1100" b="1" i="0" dirty="0">
                <a:solidFill>
                  <a:srgbClr val="071A55"/>
                </a:solidFill>
                <a:latin typeface="Times New Roman" panose="02020603050405020304" pitchFamily="18" charset="0"/>
                <a:cs typeface="Times New Roman" panose="02020603050405020304" pitchFamily="18" charset="0"/>
              </a:rPr>
              <a:t>D-S04 / D-H01 DEMONSTRATION METADATA</a:t>
            </a:r>
            <a:endParaRPr sz="1100" b="1" i="0" dirty="0">
              <a:solidFill>
                <a:srgbClr val="071A55"/>
              </a:solidFill>
              <a:latin typeface="Times New Roman" panose="02020603050405020304" pitchFamily="18" charset="0"/>
              <a:cs typeface="Times New Roman" panose="02020603050405020304" pitchFamily="18" charset="0"/>
            </a:endParaRPr>
          </a:p>
        </p:txBody>
      </p:sp>
      <p:sp>
        <p:nvSpPr>
          <p:cNvPr id="26" name="24_Metadata_EvidenceRole_Label">
            <a:extLst>
              <a:ext uri="{FF2B5EF4-FFF2-40B4-BE49-F238E27FC236}">
                <a16:creationId xmlns:a16="http://schemas.microsoft.com/office/drawing/2014/main" id="{DECD65DD-C568-1AAA-F113-EE2072BDE0F1}"/>
              </a:ext>
            </a:extLst>
          </p:cNvPr>
          <p:cNvSpPr txBox="1"/>
          <p:nvPr/>
        </p:nvSpPr>
        <p:spPr>
          <a:xfrm>
            <a:off x="1950068" y="5221314"/>
            <a:ext cx="2063065" cy="169277"/>
          </a:xfrm>
          <a:prstGeom prst="rect">
            <a:avLst/>
          </a:prstGeom>
          <a:noFill/>
        </p:spPr>
        <p:txBody>
          <a:bodyPr wrap="none" lIns="0" tIns="0" rIns="0" bIns="0" anchor="ctr">
            <a:spAutoFit/>
          </a:bodyPr>
          <a:lstStyle/>
          <a:p>
            <a:pPr algn="l"/>
            <a:r>
              <a:rPr lang="en-US" sz="1100" b="0" i="0" dirty="0" err="1">
                <a:solidFill>
                  <a:srgbClr val="666666"/>
                </a:solidFill>
                <a:latin typeface="Times New Roman" panose="02020603050405020304" pitchFamily="18" charset="0"/>
                <a:cs typeface="Times New Roman" panose="02020603050405020304" pitchFamily="18" charset="0"/>
              </a:rPr>
              <a:t>evidence_role</a:t>
            </a:r>
            <a:r>
              <a:rPr lang="en-US" sz="1100" b="0" i="0" dirty="0">
                <a:solidFill>
                  <a:srgbClr val="666666"/>
                </a:solidFill>
                <a:latin typeface="Times New Roman" panose="02020603050405020304" pitchFamily="18" charset="0"/>
                <a:cs typeface="Times New Roman" panose="02020603050405020304" pitchFamily="18" charset="0"/>
              </a:rPr>
              <a:t> = </a:t>
            </a:r>
            <a:r>
              <a:rPr lang="en-US" sz="1100" b="0" i="0" dirty="0" err="1">
                <a:solidFill>
                  <a:srgbClr val="666666"/>
                </a:solidFill>
                <a:latin typeface="Times New Roman" panose="02020603050405020304" pitchFamily="18" charset="0"/>
                <a:cs typeface="Times New Roman" panose="02020603050405020304" pitchFamily="18" charset="0"/>
              </a:rPr>
              <a:t>demonstration_only</a:t>
            </a:r>
            <a:endParaRPr sz="1100" b="0" i="0" dirty="0">
              <a:solidFill>
                <a:srgbClr val="666666"/>
              </a:solidFill>
              <a:latin typeface="Times New Roman" panose="02020603050405020304" pitchFamily="18" charset="0"/>
              <a:cs typeface="Times New Roman" panose="02020603050405020304" pitchFamily="18" charset="0"/>
            </a:endParaRPr>
          </a:p>
        </p:txBody>
      </p:sp>
      <p:sp>
        <p:nvSpPr>
          <p:cNvPr id="27" name="25_Metadata_EvidenceRole_Value">
            <a:extLst>
              <a:ext uri="{FF2B5EF4-FFF2-40B4-BE49-F238E27FC236}">
                <a16:creationId xmlns:a16="http://schemas.microsoft.com/office/drawing/2014/main" id="{5B65C8E3-61D0-5309-F2C2-BED8C0B66468}"/>
              </a:ext>
            </a:extLst>
          </p:cNvPr>
          <p:cNvSpPr txBox="1"/>
          <p:nvPr/>
        </p:nvSpPr>
        <p:spPr>
          <a:xfrm>
            <a:off x="1940559" y="5422734"/>
            <a:ext cx="2231380" cy="246221"/>
          </a:xfrm>
          <a:prstGeom prst="rect">
            <a:avLst/>
          </a:prstGeom>
          <a:noFill/>
        </p:spPr>
        <p:txBody>
          <a:bodyPr wrap="none" lIns="0" tIns="0" rIns="0" bIns="0" anchor="ctr">
            <a:spAutoFit/>
          </a:bodyPr>
          <a:lstStyle/>
          <a:p>
            <a:pPr algn="l"/>
            <a:r>
              <a:rPr lang="en-US" sz="1600" b="1" i="0" dirty="0" err="1">
                <a:solidFill>
                  <a:srgbClr val="071A55"/>
                </a:solidFill>
                <a:latin typeface="Times New Roman" panose="02020603050405020304" pitchFamily="18" charset="0"/>
                <a:cs typeface="Times New Roman" panose="02020603050405020304" pitchFamily="18" charset="0"/>
              </a:rPr>
              <a:t>formal_evaluation</a:t>
            </a:r>
            <a:r>
              <a:rPr lang="en-US" sz="1600" b="1" i="0" dirty="0">
                <a:solidFill>
                  <a:srgbClr val="071A55"/>
                </a:solidFill>
                <a:latin typeface="Times New Roman" panose="02020603050405020304" pitchFamily="18" charset="0"/>
                <a:cs typeface="Times New Roman" panose="02020603050405020304" pitchFamily="18" charset="0"/>
              </a:rPr>
              <a:t> = false</a:t>
            </a:r>
            <a:endParaRPr sz="1600" b="1" i="0" dirty="0">
              <a:solidFill>
                <a:srgbClr val="071A55"/>
              </a:solidFill>
              <a:latin typeface="Times New Roman" panose="02020603050405020304" pitchFamily="18" charset="0"/>
              <a:cs typeface="Times New Roman" panose="02020603050405020304" pitchFamily="18" charset="0"/>
            </a:endParaRPr>
          </a:p>
        </p:txBody>
      </p:sp>
      <p:cxnSp>
        <p:nvCxnSpPr>
          <p:cNvPr id="28" name="26_Metadata_Divider_1">
            <a:extLst>
              <a:ext uri="{FF2B5EF4-FFF2-40B4-BE49-F238E27FC236}">
                <a16:creationId xmlns:a16="http://schemas.microsoft.com/office/drawing/2014/main" id="{1FAB325C-F0C4-6BBC-6722-AF105D7F9694}"/>
              </a:ext>
            </a:extLst>
          </p:cNvPr>
          <p:cNvCxnSpPr/>
          <p:nvPr/>
        </p:nvCxnSpPr>
        <p:spPr>
          <a:xfrm>
            <a:off x="5104748" y="5219084"/>
            <a:ext cx="0" cy="502920"/>
          </a:xfrm>
          <a:prstGeom prst="line">
            <a:avLst/>
          </a:prstGeom>
          <a:ln w="7620">
            <a:solidFill>
              <a:srgbClr val="D9DEE3"/>
            </a:solidFill>
          </a:ln>
        </p:spPr>
        <p:style>
          <a:lnRef idx="2">
            <a:schemeClr val="accent1"/>
          </a:lnRef>
          <a:fillRef idx="0">
            <a:schemeClr val="accent1"/>
          </a:fillRef>
          <a:effectRef idx="1">
            <a:schemeClr val="accent1"/>
          </a:effectRef>
          <a:fontRef idx="minor">
            <a:schemeClr val="tx1"/>
          </a:fontRef>
        </p:style>
      </p:cxnSp>
      <p:sp>
        <p:nvSpPr>
          <p:cNvPr id="30" name="27_Metadata_Formal_Label">
            <a:extLst>
              <a:ext uri="{FF2B5EF4-FFF2-40B4-BE49-F238E27FC236}">
                <a16:creationId xmlns:a16="http://schemas.microsoft.com/office/drawing/2014/main" id="{5BADE196-E511-7AC3-D31C-39E2DE5283CF}"/>
              </a:ext>
            </a:extLst>
          </p:cNvPr>
          <p:cNvSpPr txBox="1"/>
          <p:nvPr/>
        </p:nvSpPr>
        <p:spPr>
          <a:xfrm>
            <a:off x="5470508" y="5221314"/>
            <a:ext cx="1554913" cy="169277"/>
          </a:xfrm>
          <a:prstGeom prst="rect">
            <a:avLst/>
          </a:prstGeom>
          <a:noFill/>
        </p:spPr>
        <p:txBody>
          <a:bodyPr wrap="none" lIns="0" tIns="0" rIns="0" bIns="0" anchor="ctr">
            <a:spAutoFit/>
          </a:bodyPr>
          <a:lstStyle/>
          <a:p>
            <a:pPr algn="l"/>
            <a:r>
              <a:rPr lang="en-US" sz="1100" b="0" i="0" dirty="0" err="1">
                <a:solidFill>
                  <a:srgbClr val="666666"/>
                </a:solidFill>
                <a:latin typeface="Times New Roman" panose="02020603050405020304" pitchFamily="18" charset="0"/>
                <a:cs typeface="Times New Roman" panose="02020603050405020304" pitchFamily="18" charset="0"/>
              </a:rPr>
              <a:t>source_split</a:t>
            </a:r>
            <a:r>
              <a:rPr lang="en-US" sz="1100" b="0" i="0" dirty="0">
                <a:solidFill>
                  <a:srgbClr val="666666"/>
                </a:solidFill>
                <a:latin typeface="Times New Roman" panose="02020603050405020304" pitchFamily="18" charset="0"/>
                <a:cs typeface="Times New Roman" panose="02020603050405020304" pitchFamily="18" charset="0"/>
              </a:rPr>
              <a:t> = development</a:t>
            </a:r>
            <a:endParaRPr sz="1100" b="0" i="0" dirty="0">
              <a:solidFill>
                <a:srgbClr val="666666"/>
              </a:solidFill>
              <a:latin typeface="Times New Roman" panose="02020603050405020304" pitchFamily="18" charset="0"/>
              <a:cs typeface="Times New Roman" panose="02020603050405020304" pitchFamily="18" charset="0"/>
            </a:endParaRPr>
          </a:p>
        </p:txBody>
      </p:sp>
      <p:sp>
        <p:nvSpPr>
          <p:cNvPr id="31" name="28_Metadata_Formal_Value">
            <a:extLst>
              <a:ext uri="{FF2B5EF4-FFF2-40B4-BE49-F238E27FC236}">
                <a16:creationId xmlns:a16="http://schemas.microsoft.com/office/drawing/2014/main" id="{6A82E331-4F80-5161-9BBE-A12F59324656}"/>
              </a:ext>
            </a:extLst>
          </p:cNvPr>
          <p:cNvSpPr txBox="1"/>
          <p:nvPr/>
        </p:nvSpPr>
        <p:spPr>
          <a:xfrm>
            <a:off x="5470508" y="5420586"/>
            <a:ext cx="3620671" cy="246221"/>
          </a:xfrm>
          <a:prstGeom prst="rect">
            <a:avLst/>
          </a:prstGeom>
          <a:noFill/>
        </p:spPr>
        <p:txBody>
          <a:bodyPr wrap="none" lIns="0" tIns="0" rIns="0" bIns="0" anchor="ctr">
            <a:spAutoFit/>
          </a:bodyPr>
          <a:lstStyle/>
          <a:p>
            <a:pPr algn="l"/>
            <a:r>
              <a:rPr lang="en-US" sz="1600" b="1" i="0" dirty="0" err="1">
                <a:solidFill>
                  <a:srgbClr val="071A55"/>
                </a:solidFill>
                <a:latin typeface="Times New Roman" panose="02020603050405020304" pitchFamily="18" charset="0"/>
                <a:cs typeface="Times New Roman" panose="02020603050405020304" pitchFamily="18" charset="0"/>
              </a:rPr>
              <a:t>baseline_tag</a:t>
            </a:r>
            <a:r>
              <a:rPr lang="en-US" sz="1600" b="1" i="0" dirty="0">
                <a:solidFill>
                  <a:srgbClr val="071A55"/>
                </a:solidFill>
                <a:latin typeface="Times New Roman" panose="02020603050405020304" pitchFamily="18" charset="0"/>
                <a:cs typeface="Times New Roman" panose="02020603050405020304" pitchFamily="18" charset="0"/>
              </a:rPr>
              <a:t> = gate0-4-frozen-baseline-v1</a:t>
            </a:r>
            <a:endParaRPr sz="1600" b="1" i="0" dirty="0">
              <a:solidFill>
                <a:srgbClr val="071A55"/>
              </a:solidFill>
              <a:latin typeface="Times New Roman" panose="02020603050405020304" pitchFamily="18" charset="0"/>
              <a:cs typeface="Times New Roman" panose="02020603050405020304" pitchFamily="18" charset="0"/>
            </a:endParaRPr>
          </a:p>
        </p:txBody>
      </p:sp>
      <p:sp>
        <p:nvSpPr>
          <p:cNvPr id="37" name="32_Bottom_Contract">
            <a:extLst>
              <a:ext uri="{FF2B5EF4-FFF2-40B4-BE49-F238E27FC236}">
                <a16:creationId xmlns:a16="http://schemas.microsoft.com/office/drawing/2014/main" id="{E5FB3C97-51C7-C614-E945-FEA4BB71F23C}"/>
              </a:ext>
            </a:extLst>
          </p:cNvPr>
          <p:cNvSpPr txBox="1"/>
          <p:nvPr/>
        </p:nvSpPr>
        <p:spPr>
          <a:xfrm>
            <a:off x="2596308" y="5982605"/>
            <a:ext cx="6844824" cy="215444"/>
          </a:xfrm>
          <a:prstGeom prst="rect">
            <a:avLst/>
          </a:prstGeom>
          <a:noFill/>
        </p:spPr>
        <p:txBody>
          <a:bodyPr wrap="none" lIns="0" tIns="0" rIns="0" bIns="0" anchor="ctr">
            <a:spAutoFit/>
          </a:bodyPr>
          <a:lstStyle/>
          <a:p>
            <a:pPr algn="ctr"/>
            <a:r>
              <a:rPr lang="en-US" sz="1400" b="0" i="0" dirty="0">
                <a:solidFill>
                  <a:srgbClr val="666666"/>
                </a:solidFill>
                <a:latin typeface="Times New Roman" panose="02020603050405020304" pitchFamily="18" charset="0"/>
                <a:cs typeface="Times New Roman" panose="02020603050405020304" pitchFamily="18" charset="0"/>
              </a:rPr>
              <a:t>No algorithm changes · No threshold tuning · No benchmark updates · No result-count updates</a:t>
            </a:r>
            <a:endParaRPr sz="1400" b="0" i="0" dirty="0">
              <a:solidFill>
                <a:srgbClr val="66666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6289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64C7F-9B67-5BD4-8231-CF9D2BF6F0E6}"/>
            </a:ext>
          </a:extLst>
        </p:cNvPr>
        <p:cNvGrpSpPr/>
        <p:nvPr/>
      </p:nvGrpSpPr>
      <p:grpSpPr>
        <a:xfrm>
          <a:off x="0" y="0"/>
          <a:ext cx="0" cy="0"/>
          <a:chOff x="0" y="0"/>
          <a:chExt cx="0" cy="0"/>
        </a:xfrm>
      </p:grpSpPr>
      <p:sp>
        <p:nvSpPr>
          <p:cNvPr id="32" name="矩形 31">
            <a:extLst>
              <a:ext uri="{FF2B5EF4-FFF2-40B4-BE49-F238E27FC236}">
                <a16:creationId xmlns:a16="http://schemas.microsoft.com/office/drawing/2014/main" id="{3D9FDB23-2E1E-7B95-FF71-D8FF26B0BAE7}"/>
              </a:ext>
            </a:extLst>
          </p:cNvPr>
          <p:cNvSpPr/>
          <p:nvPr/>
        </p:nvSpPr>
        <p:spPr>
          <a:xfrm>
            <a:off x="92842" y="620688"/>
            <a:ext cx="6904941" cy="107184"/>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kumimoji="1" lang="zh-CN" altLang="en-US" dirty="0">
              <a:solidFill>
                <a:schemeClr val="tx1"/>
              </a:solidFill>
            </a:endParaRPr>
          </a:p>
        </p:txBody>
      </p:sp>
      <p:sp>
        <p:nvSpPr>
          <p:cNvPr id="3" name="标题 2">
            <a:extLst>
              <a:ext uri="{FF2B5EF4-FFF2-40B4-BE49-F238E27FC236}">
                <a16:creationId xmlns:a16="http://schemas.microsoft.com/office/drawing/2014/main" id="{DA16AEA0-A626-41B7-4823-B2AA94AA786A}"/>
              </a:ext>
            </a:extLst>
          </p:cNvPr>
          <p:cNvSpPr>
            <a:spLocks noGrp="1"/>
          </p:cNvSpPr>
          <p:nvPr>
            <p:ph type="title"/>
          </p:nvPr>
        </p:nvSpPr>
        <p:spPr>
          <a:xfrm>
            <a:off x="119336" y="76228"/>
            <a:ext cx="9695205" cy="531544"/>
          </a:xfrm>
        </p:spPr>
        <p:txBody>
          <a:bodyPr/>
          <a:lstStyle/>
          <a:p>
            <a:pPr>
              <a:spcBef>
                <a:spcPts val="0"/>
              </a:spcBef>
            </a:pPr>
            <a:r>
              <a:rPr lang="en-US" altLang="zh-CN" dirty="0">
                <a:solidFill>
                  <a:srgbClr val="071A55"/>
                </a:solidFill>
                <a:latin typeface="Aptos Display"/>
              </a:rPr>
              <a:t>D-S04 Single Extrusion</a:t>
            </a:r>
          </a:p>
        </p:txBody>
      </p:sp>
      <p:sp>
        <p:nvSpPr>
          <p:cNvPr id="5" name="TextBox 4">
            <a:extLst>
              <a:ext uri="{FF2B5EF4-FFF2-40B4-BE49-F238E27FC236}">
                <a16:creationId xmlns:a16="http://schemas.microsoft.com/office/drawing/2014/main" id="{E1896A10-69EB-1B67-043C-12861250BFCA}"/>
              </a:ext>
            </a:extLst>
          </p:cNvPr>
          <p:cNvSpPr txBox="1"/>
          <p:nvPr/>
        </p:nvSpPr>
        <p:spPr>
          <a:xfrm>
            <a:off x="565534" y="869937"/>
            <a:ext cx="4379789" cy="307777"/>
          </a:xfrm>
          <a:prstGeom prst="rect">
            <a:avLst/>
          </a:prstGeom>
          <a:noFill/>
        </p:spPr>
        <p:txBody>
          <a:bodyPr wrap="none" lIns="0" tIns="0" rIns="0" bIns="0" anchor="t">
            <a:spAutoFit/>
          </a:bodyPr>
          <a:lstStyle/>
          <a:p>
            <a:pPr algn="l">
              <a:spcBef>
                <a:spcPts val="0"/>
              </a:spcBef>
              <a:spcAft>
                <a:spcPts val="0"/>
              </a:spcAft>
            </a:pPr>
            <a:r>
              <a:rPr sz="2000" b="1" i="0" dirty="0">
                <a:solidFill>
                  <a:srgbClr val="00BFFF"/>
                </a:solidFill>
                <a:latin typeface="Times New Roman" panose="02020603050405020304" pitchFamily="18" charset="0"/>
                <a:cs typeface="Times New Roman" panose="02020603050405020304" pitchFamily="18" charset="0"/>
              </a:rPr>
              <a:t>DEVELOPMENT DEMONSTRATION</a:t>
            </a:r>
          </a:p>
        </p:txBody>
      </p:sp>
      <p:sp>
        <p:nvSpPr>
          <p:cNvPr id="9" name="TextBox 5">
            <a:extLst>
              <a:ext uri="{FF2B5EF4-FFF2-40B4-BE49-F238E27FC236}">
                <a16:creationId xmlns:a16="http://schemas.microsoft.com/office/drawing/2014/main" id="{8560D315-002C-0FF5-4192-6F27082ED767}"/>
              </a:ext>
            </a:extLst>
          </p:cNvPr>
          <p:cNvSpPr txBox="1"/>
          <p:nvPr/>
        </p:nvSpPr>
        <p:spPr>
          <a:xfrm>
            <a:off x="570724" y="1237644"/>
            <a:ext cx="3892091" cy="276999"/>
          </a:xfrm>
          <a:prstGeom prst="rect">
            <a:avLst/>
          </a:prstGeom>
          <a:noFill/>
        </p:spPr>
        <p:txBody>
          <a:bodyPr wrap="none" lIns="0" tIns="0" rIns="0" bIns="0" anchor="t">
            <a:spAutoFit/>
          </a:bodyPr>
          <a:lstStyle/>
          <a:p>
            <a:pPr algn="l">
              <a:spcBef>
                <a:spcPts val="0"/>
              </a:spcBef>
              <a:spcAft>
                <a:spcPts val="0"/>
              </a:spcAft>
            </a:pPr>
            <a:r>
              <a:rPr sz="1800" b="0" i="0" dirty="0">
                <a:solidFill>
                  <a:srgbClr val="666666"/>
                </a:solidFill>
                <a:latin typeface="Times New Roman" panose="02020603050405020304" pitchFamily="18" charset="0"/>
                <a:cs typeface="Times New Roman" panose="02020603050405020304" pitchFamily="18" charset="0"/>
              </a:rPr>
              <a:t>Frozen single-extrusion construction class</a:t>
            </a:r>
          </a:p>
        </p:txBody>
      </p:sp>
      <p:sp>
        <p:nvSpPr>
          <p:cNvPr id="17" name="Rectangle 7">
            <a:extLst>
              <a:ext uri="{FF2B5EF4-FFF2-40B4-BE49-F238E27FC236}">
                <a16:creationId xmlns:a16="http://schemas.microsoft.com/office/drawing/2014/main" id="{ADD44F8C-FA2E-893E-9D46-C329690C7DAA}"/>
              </a:ext>
            </a:extLst>
          </p:cNvPr>
          <p:cNvSpPr/>
          <p:nvPr/>
        </p:nvSpPr>
        <p:spPr>
          <a:xfrm>
            <a:off x="868680" y="1874519"/>
            <a:ext cx="4069080" cy="2331720"/>
          </a:xfrm>
          <a:prstGeom prst="rect">
            <a:avLst/>
          </a:prstGeom>
          <a:noFill/>
          <a:ln w="10160">
            <a:solidFill>
              <a:srgbClr val="D9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TextBox 8">
            <a:extLst>
              <a:ext uri="{FF2B5EF4-FFF2-40B4-BE49-F238E27FC236}">
                <a16:creationId xmlns:a16="http://schemas.microsoft.com/office/drawing/2014/main" id="{E0F268D9-C85A-B5DE-63A3-3865CA2CEBE4}"/>
              </a:ext>
            </a:extLst>
          </p:cNvPr>
          <p:cNvSpPr txBox="1"/>
          <p:nvPr/>
        </p:nvSpPr>
        <p:spPr>
          <a:xfrm>
            <a:off x="899135" y="4383815"/>
            <a:ext cx="602729" cy="276999"/>
          </a:xfrm>
          <a:prstGeom prst="rect">
            <a:avLst/>
          </a:prstGeom>
          <a:noFill/>
        </p:spPr>
        <p:txBody>
          <a:bodyPr wrap="none" lIns="0" tIns="0" rIns="0" bIns="0" anchor="t">
            <a:spAutoFit/>
          </a:bodyPr>
          <a:lstStyle/>
          <a:p>
            <a:pPr algn="l">
              <a:spcBef>
                <a:spcPts val="0"/>
              </a:spcBef>
              <a:spcAft>
                <a:spcPts val="0"/>
              </a:spcAft>
            </a:pPr>
            <a:r>
              <a:rPr sz="1800" b="1" i="0" dirty="0">
                <a:solidFill>
                  <a:srgbClr val="071A55"/>
                </a:solidFill>
                <a:latin typeface="Times New Roman" panose="02020603050405020304" pitchFamily="18" charset="0"/>
                <a:cs typeface="Times New Roman" panose="02020603050405020304" pitchFamily="18" charset="0"/>
              </a:rPr>
              <a:t>D-S04</a:t>
            </a:r>
          </a:p>
        </p:txBody>
      </p:sp>
      <p:sp>
        <p:nvSpPr>
          <p:cNvPr id="25" name="TextBox 9">
            <a:extLst>
              <a:ext uri="{FF2B5EF4-FFF2-40B4-BE49-F238E27FC236}">
                <a16:creationId xmlns:a16="http://schemas.microsoft.com/office/drawing/2014/main" id="{E44CD2C5-5FAB-08F1-A6BB-40C93EE02BB8}"/>
              </a:ext>
            </a:extLst>
          </p:cNvPr>
          <p:cNvSpPr txBox="1"/>
          <p:nvPr/>
        </p:nvSpPr>
        <p:spPr>
          <a:xfrm>
            <a:off x="1786103" y="4401555"/>
            <a:ext cx="2709075" cy="246221"/>
          </a:xfrm>
          <a:prstGeom prst="rect">
            <a:avLst/>
          </a:prstGeom>
          <a:noFill/>
        </p:spPr>
        <p:txBody>
          <a:bodyPr wrap="none" lIns="0" tIns="0" rIns="0" bIns="0" anchor="t">
            <a:spAutoFit/>
          </a:bodyPr>
          <a:lstStyle/>
          <a:p>
            <a:pPr algn="l">
              <a:spcBef>
                <a:spcPts val="0"/>
              </a:spcBef>
              <a:spcAft>
                <a:spcPts val="0"/>
              </a:spcAft>
            </a:pPr>
            <a:r>
              <a:rPr lang="en-US" sz="1600" b="0" i="0" dirty="0">
                <a:solidFill>
                  <a:srgbClr val="666666"/>
                </a:solidFill>
                <a:latin typeface="Times New Roman" panose="02020603050405020304" pitchFamily="18" charset="0"/>
                <a:cs typeface="Times New Roman" panose="02020603050405020304" pitchFamily="18" charset="0"/>
              </a:rPr>
              <a:t> Verified replay STEP in Fusion</a:t>
            </a:r>
            <a:endParaRPr sz="1600" b="0" i="0" dirty="0">
              <a:solidFill>
                <a:srgbClr val="666666"/>
              </a:solidFill>
              <a:latin typeface="Times New Roman" panose="02020603050405020304" pitchFamily="18" charset="0"/>
              <a:cs typeface="Times New Roman" panose="02020603050405020304" pitchFamily="18" charset="0"/>
            </a:endParaRPr>
          </a:p>
        </p:txBody>
      </p:sp>
      <p:sp>
        <p:nvSpPr>
          <p:cNvPr id="29" name="TextBox 10">
            <a:extLst>
              <a:ext uri="{FF2B5EF4-FFF2-40B4-BE49-F238E27FC236}">
                <a16:creationId xmlns:a16="http://schemas.microsoft.com/office/drawing/2014/main" id="{ACA5F1A4-1DC1-3D68-3B72-382173CD842A}"/>
              </a:ext>
            </a:extLst>
          </p:cNvPr>
          <p:cNvSpPr txBox="1"/>
          <p:nvPr/>
        </p:nvSpPr>
        <p:spPr>
          <a:xfrm>
            <a:off x="899135" y="4703855"/>
            <a:ext cx="3233257" cy="215444"/>
          </a:xfrm>
          <a:prstGeom prst="rect">
            <a:avLst/>
          </a:prstGeom>
          <a:noFill/>
        </p:spPr>
        <p:txBody>
          <a:bodyPr wrap="none" lIns="0" tIns="0" rIns="0" bIns="0" anchor="t">
            <a:spAutoFit/>
          </a:bodyPr>
          <a:lstStyle/>
          <a:p>
            <a:pPr algn="l">
              <a:spcBef>
                <a:spcPts val="0"/>
              </a:spcBef>
              <a:spcAft>
                <a:spcPts val="0"/>
              </a:spcAft>
            </a:pPr>
            <a:r>
              <a:rPr lang="en-US" sz="1400" b="0" i="0" dirty="0">
                <a:solidFill>
                  <a:srgbClr val="666666"/>
                </a:solidFill>
                <a:latin typeface="Times New Roman" panose="02020603050405020304" pitchFamily="18" charset="0"/>
                <a:cs typeface="Times New Roman" panose="02020603050405020304" pitchFamily="18" charset="0"/>
              </a:rPr>
              <a:t>Development input: history-free STEP/B-rep</a:t>
            </a:r>
            <a:endParaRPr sz="1400" b="0" i="0" dirty="0">
              <a:solidFill>
                <a:srgbClr val="666666"/>
              </a:solidFill>
              <a:latin typeface="Times New Roman" panose="02020603050405020304" pitchFamily="18" charset="0"/>
              <a:cs typeface="Times New Roman" panose="02020603050405020304" pitchFamily="18" charset="0"/>
            </a:endParaRPr>
          </a:p>
        </p:txBody>
      </p:sp>
      <p:cxnSp>
        <p:nvCxnSpPr>
          <p:cNvPr id="33" name="Connector 11">
            <a:extLst>
              <a:ext uri="{FF2B5EF4-FFF2-40B4-BE49-F238E27FC236}">
                <a16:creationId xmlns:a16="http://schemas.microsoft.com/office/drawing/2014/main" id="{611EBB2A-F1CD-E4CA-D51E-F3772E6FAD27}"/>
              </a:ext>
            </a:extLst>
          </p:cNvPr>
          <p:cNvCxnSpPr/>
          <p:nvPr/>
        </p:nvCxnSpPr>
        <p:spPr>
          <a:xfrm>
            <a:off x="5623560" y="1600200"/>
            <a:ext cx="0" cy="3383280"/>
          </a:xfrm>
          <a:prstGeom prst="line">
            <a:avLst/>
          </a:prstGeom>
          <a:ln w="8890">
            <a:solidFill>
              <a:srgbClr val="D9DEE3"/>
            </a:solidFill>
          </a:ln>
        </p:spPr>
        <p:style>
          <a:lnRef idx="2">
            <a:schemeClr val="accent1"/>
          </a:lnRef>
          <a:fillRef idx="0">
            <a:schemeClr val="accent1"/>
          </a:fillRef>
          <a:effectRef idx="1">
            <a:schemeClr val="accent1"/>
          </a:effectRef>
          <a:fontRef idx="minor">
            <a:schemeClr val="tx1"/>
          </a:fontRef>
        </p:style>
      </p:cxnSp>
      <p:sp>
        <p:nvSpPr>
          <p:cNvPr id="34" name="TextBox 12">
            <a:extLst>
              <a:ext uri="{FF2B5EF4-FFF2-40B4-BE49-F238E27FC236}">
                <a16:creationId xmlns:a16="http://schemas.microsoft.com/office/drawing/2014/main" id="{688A7FF3-E037-E876-1BD9-E61BB4908830}"/>
              </a:ext>
            </a:extLst>
          </p:cNvPr>
          <p:cNvSpPr txBox="1"/>
          <p:nvPr/>
        </p:nvSpPr>
        <p:spPr>
          <a:xfrm>
            <a:off x="6089835" y="1159729"/>
            <a:ext cx="2429255" cy="246221"/>
          </a:xfrm>
          <a:prstGeom prst="rect">
            <a:avLst/>
          </a:prstGeom>
          <a:noFill/>
        </p:spPr>
        <p:txBody>
          <a:bodyPr wrap="none" lIns="0" tIns="0" rIns="0" bIns="0" anchor="t">
            <a:spAutoFit/>
          </a:bodyPr>
          <a:lstStyle/>
          <a:p>
            <a:pPr algn="l">
              <a:spcBef>
                <a:spcPts val="0"/>
              </a:spcBef>
              <a:spcAft>
                <a:spcPts val="0"/>
              </a:spcAft>
            </a:pPr>
            <a:r>
              <a:rPr sz="1600" b="1" i="0" dirty="0">
                <a:solidFill>
                  <a:srgbClr val="071A55"/>
                </a:solidFill>
                <a:latin typeface="Times New Roman" panose="02020603050405020304" pitchFamily="18" charset="0"/>
                <a:cs typeface="Times New Roman" panose="02020603050405020304" pitchFamily="18" charset="0"/>
              </a:rPr>
              <a:t>DEMONSTRATION PATH</a:t>
            </a:r>
          </a:p>
        </p:txBody>
      </p:sp>
      <p:sp>
        <p:nvSpPr>
          <p:cNvPr id="35" name="TextBox 13">
            <a:extLst>
              <a:ext uri="{FF2B5EF4-FFF2-40B4-BE49-F238E27FC236}">
                <a16:creationId xmlns:a16="http://schemas.microsoft.com/office/drawing/2014/main" id="{93A74990-4393-2286-F48D-E42385CC89E1}"/>
              </a:ext>
            </a:extLst>
          </p:cNvPr>
          <p:cNvSpPr txBox="1"/>
          <p:nvPr/>
        </p:nvSpPr>
        <p:spPr>
          <a:xfrm>
            <a:off x="6172200" y="1755648"/>
            <a:ext cx="141064" cy="169277"/>
          </a:xfrm>
          <a:prstGeom prst="rect">
            <a:avLst/>
          </a:prstGeom>
          <a:noFill/>
        </p:spPr>
        <p:txBody>
          <a:bodyPr wrap="none" lIns="0" tIns="0" rIns="0" bIns="0" anchor="t">
            <a:spAutoFit/>
          </a:bodyPr>
          <a:lstStyle/>
          <a:p>
            <a:pPr algn="l">
              <a:spcBef>
                <a:spcPts val="0"/>
              </a:spcBef>
              <a:spcAft>
                <a:spcPts val="0"/>
              </a:spcAft>
            </a:pPr>
            <a:r>
              <a:rPr sz="1100" b="0" i="0">
                <a:solidFill>
                  <a:srgbClr val="00BFFF"/>
                </a:solidFill>
                <a:latin typeface="Times New Roman" panose="02020603050405020304" pitchFamily="18" charset="0"/>
                <a:cs typeface="Times New Roman" panose="02020603050405020304" pitchFamily="18" charset="0"/>
              </a:rPr>
              <a:t>01</a:t>
            </a:r>
          </a:p>
        </p:txBody>
      </p:sp>
      <p:sp>
        <p:nvSpPr>
          <p:cNvPr id="36" name="TextBox 14">
            <a:extLst>
              <a:ext uri="{FF2B5EF4-FFF2-40B4-BE49-F238E27FC236}">
                <a16:creationId xmlns:a16="http://schemas.microsoft.com/office/drawing/2014/main" id="{EB18ABE3-9504-E44A-B53E-F43C70043877}"/>
              </a:ext>
            </a:extLst>
          </p:cNvPr>
          <p:cNvSpPr txBox="1"/>
          <p:nvPr/>
        </p:nvSpPr>
        <p:spPr>
          <a:xfrm>
            <a:off x="6583680" y="1691639"/>
            <a:ext cx="1046825" cy="369332"/>
          </a:xfrm>
          <a:prstGeom prst="rect">
            <a:avLst/>
          </a:prstGeom>
          <a:noFill/>
        </p:spPr>
        <p:txBody>
          <a:bodyPr wrap="none" lIns="0" tIns="0" rIns="0" bIns="0" anchor="t">
            <a:spAutoFit/>
          </a:bodyPr>
          <a:lstStyle/>
          <a:p>
            <a:pPr algn="l">
              <a:spcBef>
                <a:spcPts val="0"/>
              </a:spcBef>
              <a:spcAft>
                <a:spcPts val="0"/>
              </a:spcAft>
            </a:pPr>
            <a:r>
              <a:rPr sz="2400" b="1" i="0">
                <a:solidFill>
                  <a:srgbClr val="111111"/>
                </a:solidFill>
                <a:latin typeface="Times New Roman" panose="02020603050405020304" pitchFamily="18" charset="0"/>
                <a:cs typeface="Times New Roman" panose="02020603050405020304" pitchFamily="18" charset="0"/>
              </a:rPr>
              <a:t>Prepare</a:t>
            </a:r>
          </a:p>
        </p:txBody>
      </p:sp>
      <p:sp>
        <p:nvSpPr>
          <p:cNvPr id="38" name="TextBox 15">
            <a:extLst>
              <a:ext uri="{FF2B5EF4-FFF2-40B4-BE49-F238E27FC236}">
                <a16:creationId xmlns:a16="http://schemas.microsoft.com/office/drawing/2014/main" id="{A4D723B5-8918-3D36-923C-160053FE8F94}"/>
              </a:ext>
            </a:extLst>
          </p:cNvPr>
          <p:cNvSpPr txBox="1"/>
          <p:nvPr/>
        </p:nvSpPr>
        <p:spPr>
          <a:xfrm>
            <a:off x="6583680" y="2084831"/>
            <a:ext cx="4940199" cy="215444"/>
          </a:xfrm>
          <a:prstGeom prst="rect">
            <a:avLst/>
          </a:prstGeom>
          <a:noFill/>
        </p:spPr>
        <p:txBody>
          <a:bodyPr wrap="none" lIns="0" tIns="0" rIns="0" bIns="0" anchor="t">
            <a:spAutoFit/>
          </a:bodyPr>
          <a:lstStyle/>
          <a:p>
            <a:pPr algn="l">
              <a:spcBef>
                <a:spcPts val="0"/>
              </a:spcBef>
              <a:spcAft>
                <a:spcPts val="0"/>
              </a:spcAft>
            </a:pPr>
            <a:r>
              <a:rPr lang="en-US" sz="1400" b="0" i="0" dirty="0">
                <a:solidFill>
                  <a:srgbClr val="666666"/>
                </a:solidFill>
                <a:latin typeface="Times New Roman" panose="02020603050405020304" pitchFamily="18" charset="0"/>
                <a:cs typeface="Times New Roman" panose="02020603050405020304" pitchFamily="18" charset="0"/>
              </a:rPr>
              <a:t>STEP → B-rep facts → candidate hypotheses → canonical sequence</a:t>
            </a:r>
          </a:p>
        </p:txBody>
      </p:sp>
      <p:sp>
        <p:nvSpPr>
          <p:cNvPr id="39" name="TextBox 16">
            <a:extLst>
              <a:ext uri="{FF2B5EF4-FFF2-40B4-BE49-F238E27FC236}">
                <a16:creationId xmlns:a16="http://schemas.microsoft.com/office/drawing/2014/main" id="{D4ABEDC7-599C-0BF0-612D-709FA0063E55}"/>
              </a:ext>
            </a:extLst>
          </p:cNvPr>
          <p:cNvSpPr txBox="1"/>
          <p:nvPr/>
        </p:nvSpPr>
        <p:spPr>
          <a:xfrm>
            <a:off x="6400688" y="2258568"/>
            <a:ext cx="128240" cy="307777"/>
          </a:xfrm>
          <a:prstGeom prst="rect">
            <a:avLst/>
          </a:prstGeom>
          <a:noFill/>
        </p:spPr>
        <p:txBody>
          <a:bodyPr wrap="none" lIns="0" tIns="0" rIns="0" bIns="0" anchor="t">
            <a:spAutoFit/>
          </a:bodyPr>
          <a:lstStyle/>
          <a:p>
            <a:pPr algn="ctr">
              <a:spcBef>
                <a:spcPts val="0"/>
              </a:spcBef>
              <a:spcAft>
                <a:spcPts val="0"/>
              </a:spcAft>
            </a:pPr>
            <a:r>
              <a:rPr sz="2000" b="1" i="0">
                <a:solidFill>
                  <a:srgbClr val="00BFFF"/>
                </a:solidFill>
                <a:latin typeface="Times New Roman" panose="02020603050405020304" pitchFamily="18" charset="0"/>
                <a:cs typeface="Times New Roman" panose="02020603050405020304" pitchFamily="18" charset="0"/>
              </a:rPr>
              <a:t>↓</a:t>
            </a:r>
          </a:p>
        </p:txBody>
      </p:sp>
      <p:sp>
        <p:nvSpPr>
          <p:cNvPr id="40" name="TextBox 17">
            <a:extLst>
              <a:ext uri="{FF2B5EF4-FFF2-40B4-BE49-F238E27FC236}">
                <a16:creationId xmlns:a16="http://schemas.microsoft.com/office/drawing/2014/main" id="{4EBBFC3A-14BA-2F9F-D5A0-60D9F0962EEC}"/>
              </a:ext>
            </a:extLst>
          </p:cNvPr>
          <p:cNvSpPr txBox="1"/>
          <p:nvPr/>
        </p:nvSpPr>
        <p:spPr>
          <a:xfrm>
            <a:off x="6172200" y="2532888"/>
            <a:ext cx="141064" cy="169277"/>
          </a:xfrm>
          <a:prstGeom prst="rect">
            <a:avLst/>
          </a:prstGeom>
          <a:noFill/>
        </p:spPr>
        <p:txBody>
          <a:bodyPr wrap="none" lIns="0" tIns="0" rIns="0" bIns="0" anchor="t">
            <a:spAutoFit/>
          </a:bodyPr>
          <a:lstStyle/>
          <a:p>
            <a:pPr algn="l">
              <a:spcBef>
                <a:spcPts val="0"/>
              </a:spcBef>
              <a:spcAft>
                <a:spcPts val="0"/>
              </a:spcAft>
            </a:pPr>
            <a:r>
              <a:rPr sz="1100" b="0" i="0">
                <a:solidFill>
                  <a:srgbClr val="00BFFF"/>
                </a:solidFill>
                <a:latin typeface="Times New Roman" panose="02020603050405020304" pitchFamily="18" charset="0"/>
                <a:cs typeface="Times New Roman" panose="02020603050405020304" pitchFamily="18" charset="0"/>
              </a:rPr>
              <a:t>02</a:t>
            </a:r>
          </a:p>
        </p:txBody>
      </p:sp>
      <p:sp>
        <p:nvSpPr>
          <p:cNvPr id="41" name="TextBox 18">
            <a:extLst>
              <a:ext uri="{FF2B5EF4-FFF2-40B4-BE49-F238E27FC236}">
                <a16:creationId xmlns:a16="http://schemas.microsoft.com/office/drawing/2014/main" id="{75022001-3647-7CDF-769A-27AF42685FDC}"/>
              </a:ext>
            </a:extLst>
          </p:cNvPr>
          <p:cNvSpPr txBox="1"/>
          <p:nvPr/>
        </p:nvSpPr>
        <p:spPr>
          <a:xfrm>
            <a:off x="6583680" y="2468880"/>
            <a:ext cx="1797800" cy="369332"/>
          </a:xfrm>
          <a:prstGeom prst="rect">
            <a:avLst/>
          </a:prstGeom>
          <a:noFill/>
        </p:spPr>
        <p:txBody>
          <a:bodyPr wrap="none" lIns="0" tIns="0" rIns="0" bIns="0" anchor="t">
            <a:spAutoFit/>
          </a:bodyPr>
          <a:lstStyle/>
          <a:p>
            <a:pPr algn="l">
              <a:spcBef>
                <a:spcPts val="0"/>
              </a:spcBef>
              <a:spcAft>
                <a:spcPts val="0"/>
              </a:spcAft>
            </a:pPr>
            <a:r>
              <a:rPr sz="2400" b="1" i="0">
                <a:solidFill>
                  <a:srgbClr val="111111"/>
                </a:solidFill>
                <a:latin typeface="Times New Roman" panose="02020603050405020304" pitchFamily="18" charset="0"/>
                <a:cs typeface="Times New Roman" panose="02020603050405020304" pitchFamily="18" charset="0"/>
              </a:rPr>
              <a:t>Fusion replay</a:t>
            </a:r>
          </a:p>
        </p:txBody>
      </p:sp>
      <p:sp>
        <p:nvSpPr>
          <p:cNvPr id="42" name="TextBox 19">
            <a:extLst>
              <a:ext uri="{FF2B5EF4-FFF2-40B4-BE49-F238E27FC236}">
                <a16:creationId xmlns:a16="http://schemas.microsoft.com/office/drawing/2014/main" id="{B42DC370-2E4C-4A37-F446-D63E4F265B4F}"/>
              </a:ext>
            </a:extLst>
          </p:cNvPr>
          <p:cNvSpPr txBox="1"/>
          <p:nvPr/>
        </p:nvSpPr>
        <p:spPr>
          <a:xfrm>
            <a:off x="6583680" y="2862072"/>
            <a:ext cx="2091919" cy="430887"/>
          </a:xfrm>
          <a:prstGeom prst="rect">
            <a:avLst/>
          </a:prstGeom>
          <a:noFill/>
        </p:spPr>
        <p:txBody>
          <a:bodyPr wrap="none" lIns="0" tIns="0" rIns="0" bIns="0" anchor="t">
            <a:spAutoFit/>
          </a:bodyPr>
          <a:lstStyle/>
          <a:p>
            <a:pPr algn="l">
              <a:spcBef>
                <a:spcPts val="0"/>
              </a:spcBef>
              <a:spcAft>
                <a:spcPts val="0"/>
              </a:spcAft>
            </a:pPr>
            <a:r>
              <a:rPr sz="1400" b="0" i="0">
                <a:solidFill>
                  <a:srgbClr val="666666"/>
                </a:solidFill>
                <a:latin typeface="Times New Roman" panose="02020603050405020304" pitchFamily="18" charset="0"/>
                <a:cs typeface="Times New Roman" panose="02020603050405020304" pitchFamily="18" charset="0"/>
              </a:rPr>
              <a:t>Replay the inferred sequence
in a new Fusion document</a:t>
            </a:r>
          </a:p>
        </p:txBody>
      </p:sp>
      <p:sp>
        <p:nvSpPr>
          <p:cNvPr id="45" name="TextBox 22">
            <a:extLst>
              <a:ext uri="{FF2B5EF4-FFF2-40B4-BE49-F238E27FC236}">
                <a16:creationId xmlns:a16="http://schemas.microsoft.com/office/drawing/2014/main" id="{7FC84FD9-4B2E-B21E-5470-D82412A591DE}"/>
              </a:ext>
            </a:extLst>
          </p:cNvPr>
          <p:cNvSpPr txBox="1"/>
          <p:nvPr/>
        </p:nvSpPr>
        <p:spPr>
          <a:xfrm>
            <a:off x="6400688" y="3182112"/>
            <a:ext cx="128240" cy="307777"/>
          </a:xfrm>
          <a:prstGeom prst="rect">
            <a:avLst/>
          </a:prstGeom>
          <a:noFill/>
        </p:spPr>
        <p:txBody>
          <a:bodyPr wrap="none" lIns="0" tIns="0" rIns="0" bIns="0" anchor="t">
            <a:spAutoFit/>
          </a:bodyPr>
          <a:lstStyle/>
          <a:p>
            <a:pPr algn="ctr">
              <a:spcBef>
                <a:spcPts val="0"/>
              </a:spcBef>
              <a:spcAft>
                <a:spcPts val="0"/>
              </a:spcAft>
            </a:pPr>
            <a:r>
              <a:rPr sz="2000" b="1" i="0">
                <a:solidFill>
                  <a:srgbClr val="00BFFF"/>
                </a:solidFill>
                <a:latin typeface="Times New Roman" panose="02020603050405020304" pitchFamily="18" charset="0"/>
                <a:cs typeface="Times New Roman" panose="02020603050405020304" pitchFamily="18" charset="0"/>
              </a:rPr>
              <a:t>↓</a:t>
            </a:r>
          </a:p>
        </p:txBody>
      </p:sp>
      <p:sp>
        <p:nvSpPr>
          <p:cNvPr id="46" name="TextBox 23">
            <a:extLst>
              <a:ext uri="{FF2B5EF4-FFF2-40B4-BE49-F238E27FC236}">
                <a16:creationId xmlns:a16="http://schemas.microsoft.com/office/drawing/2014/main" id="{A7F3C67A-B44D-D608-DC94-C1A7971D20D3}"/>
              </a:ext>
            </a:extLst>
          </p:cNvPr>
          <p:cNvSpPr txBox="1"/>
          <p:nvPr/>
        </p:nvSpPr>
        <p:spPr>
          <a:xfrm>
            <a:off x="6172200" y="3474720"/>
            <a:ext cx="141064" cy="169277"/>
          </a:xfrm>
          <a:prstGeom prst="rect">
            <a:avLst/>
          </a:prstGeom>
          <a:noFill/>
        </p:spPr>
        <p:txBody>
          <a:bodyPr wrap="none" lIns="0" tIns="0" rIns="0" bIns="0" anchor="t">
            <a:spAutoFit/>
          </a:bodyPr>
          <a:lstStyle/>
          <a:p>
            <a:pPr algn="l">
              <a:spcBef>
                <a:spcPts val="0"/>
              </a:spcBef>
              <a:spcAft>
                <a:spcPts val="0"/>
              </a:spcAft>
            </a:pPr>
            <a:r>
              <a:rPr sz="1100" b="0" i="0">
                <a:solidFill>
                  <a:srgbClr val="00BFFF"/>
                </a:solidFill>
                <a:latin typeface="Times New Roman" panose="02020603050405020304" pitchFamily="18" charset="0"/>
                <a:cs typeface="Times New Roman" panose="02020603050405020304" pitchFamily="18" charset="0"/>
              </a:rPr>
              <a:t>03</a:t>
            </a:r>
          </a:p>
        </p:txBody>
      </p:sp>
      <p:sp>
        <p:nvSpPr>
          <p:cNvPr id="47" name="TextBox 24">
            <a:extLst>
              <a:ext uri="{FF2B5EF4-FFF2-40B4-BE49-F238E27FC236}">
                <a16:creationId xmlns:a16="http://schemas.microsoft.com/office/drawing/2014/main" id="{35D29426-7161-6CCA-1C78-684A68643510}"/>
              </a:ext>
            </a:extLst>
          </p:cNvPr>
          <p:cNvSpPr txBox="1"/>
          <p:nvPr/>
        </p:nvSpPr>
        <p:spPr>
          <a:xfrm>
            <a:off x="6583680" y="3410712"/>
            <a:ext cx="1040349" cy="369332"/>
          </a:xfrm>
          <a:prstGeom prst="rect">
            <a:avLst/>
          </a:prstGeom>
          <a:noFill/>
        </p:spPr>
        <p:txBody>
          <a:bodyPr wrap="none" lIns="0" tIns="0" rIns="0" bIns="0" anchor="t">
            <a:spAutoFit/>
          </a:bodyPr>
          <a:lstStyle/>
          <a:p>
            <a:pPr algn="l">
              <a:spcBef>
                <a:spcPts val="0"/>
              </a:spcBef>
              <a:spcAft>
                <a:spcPts val="0"/>
              </a:spcAft>
            </a:pPr>
            <a:r>
              <a:rPr sz="2400" b="1" i="0">
                <a:solidFill>
                  <a:srgbClr val="111111"/>
                </a:solidFill>
                <a:latin typeface="Times New Roman" panose="02020603050405020304" pitchFamily="18" charset="0"/>
                <a:cs typeface="Times New Roman" panose="02020603050405020304" pitchFamily="18" charset="0"/>
              </a:rPr>
              <a:t>Finalize</a:t>
            </a:r>
          </a:p>
        </p:txBody>
      </p:sp>
      <p:sp>
        <p:nvSpPr>
          <p:cNvPr id="48" name="TextBox 25">
            <a:extLst>
              <a:ext uri="{FF2B5EF4-FFF2-40B4-BE49-F238E27FC236}">
                <a16:creationId xmlns:a16="http://schemas.microsoft.com/office/drawing/2014/main" id="{D5E4BA56-EAA5-B7E7-64A3-7402C93D126C}"/>
              </a:ext>
            </a:extLst>
          </p:cNvPr>
          <p:cNvSpPr txBox="1"/>
          <p:nvPr/>
        </p:nvSpPr>
        <p:spPr>
          <a:xfrm>
            <a:off x="6583680" y="3803904"/>
            <a:ext cx="3101811" cy="215444"/>
          </a:xfrm>
          <a:prstGeom prst="rect">
            <a:avLst/>
          </a:prstGeom>
          <a:noFill/>
        </p:spPr>
        <p:txBody>
          <a:bodyPr wrap="none" lIns="0" tIns="0" rIns="0" bIns="0" anchor="t">
            <a:spAutoFit/>
          </a:bodyPr>
          <a:lstStyle/>
          <a:p>
            <a:pPr algn="l">
              <a:spcBef>
                <a:spcPts val="0"/>
              </a:spcBef>
              <a:spcAft>
                <a:spcPts val="0"/>
              </a:spcAft>
            </a:pPr>
            <a:r>
              <a:rPr sz="1400" b="0" i="0">
                <a:solidFill>
                  <a:srgbClr val="666666"/>
                </a:solidFill>
                <a:latin typeface="Times New Roman" panose="02020603050405020304" pitchFamily="18" charset="0"/>
                <a:cs typeface="Times New Roman" panose="02020603050405020304" pitchFamily="18" charset="0"/>
              </a:rPr>
              <a:t>Apply the frozen single-extrusion validator</a:t>
            </a:r>
          </a:p>
        </p:txBody>
      </p:sp>
      <p:sp>
        <p:nvSpPr>
          <p:cNvPr id="49" name="TextBox 26">
            <a:extLst>
              <a:ext uri="{FF2B5EF4-FFF2-40B4-BE49-F238E27FC236}">
                <a16:creationId xmlns:a16="http://schemas.microsoft.com/office/drawing/2014/main" id="{A40667BD-72F2-81D7-F0C0-A08D29B2B59F}"/>
              </a:ext>
            </a:extLst>
          </p:cNvPr>
          <p:cNvSpPr txBox="1"/>
          <p:nvPr/>
        </p:nvSpPr>
        <p:spPr>
          <a:xfrm>
            <a:off x="6400688" y="3968496"/>
            <a:ext cx="128240" cy="307777"/>
          </a:xfrm>
          <a:prstGeom prst="rect">
            <a:avLst/>
          </a:prstGeom>
          <a:noFill/>
        </p:spPr>
        <p:txBody>
          <a:bodyPr wrap="none" lIns="0" tIns="0" rIns="0" bIns="0" anchor="t">
            <a:spAutoFit/>
          </a:bodyPr>
          <a:lstStyle/>
          <a:p>
            <a:pPr algn="ctr">
              <a:spcBef>
                <a:spcPts val="0"/>
              </a:spcBef>
              <a:spcAft>
                <a:spcPts val="0"/>
              </a:spcAft>
            </a:pPr>
            <a:r>
              <a:rPr sz="2000" b="1" i="0">
                <a:solidFill>
                  <a:srgbClr val="00BFFF"/>
                </a:solidFill>
                <a:latin typeface="Times New Roman" panose="02020603050405020304" pitchFamily="18" charset="0"/>
                <a:cs typeface="Times New Roman" panose="02020603050405020304" pitchFamily="18" charset="0"/>
              </a:rPr>
              <a:t>↓</a:t>
            </a:r>
          </a:p>
        </p:txBody>
      </p:sp>
      <p:sp>
        <p:nvSpPr>
          <p:cNvPr id="50" name="TextBox 27">
            <a:extLst>
              <a:ext uri="{FF2B5EF4-FFF2-40B4-BE49-F238E27FC236}">
                <a16:creationId xmlns:a16="http://schemas.microsoft.com/office/drawing/2014/main" id="{A63C6C48-CE51-091D-84FA-B5A211E5248B}"/>
              </a:ext>
            </a:extLst>
          </p:cNvPr>
          <p:cNvSpPr txBox="1"/>
          <p:nvPr/>
        </p:nvSpPr>
        <p:spPr>
          <a:xfrm>
            <a:off x="6172200" y="4224527"/>
            <a:ext cx="141064" cy="169277"/>
          </a:xfrm>
          <a:prstGeom prst="rect">
            <a:avLst/>
          </a:prstGeom>
          <a:noFill/>
        </p:spPr>
        <p:txBody>
          <a:bodyPr wrap="none" lIns="0" tIns="0" rIns="0" bIns="0" anchor="t">
            <a:spAutoFit/>
          </a:bodyPr>
          <a:lstStyle/>
          <a:p>
            <a:pPr algn="l">
              <a:spcBef>
                <a:spcPts val="0"/>
              </a:spcBef>
              <a:spcAft>
                <a:spcPts val="0"/>
              </a:spcAft>
            </a:pPr>
            <a:r>
              <a:rPr sz="1100" b="0" i="0">
                <a:solidFill>
                  <a:srgbClr val="00BFFF"/>
                </a:solidFill>
                <a:latin typeface="Times New Roman" panose="02020603050405020304" pitchFamily="18" charset="0"/>
                <a:cs typeface="Times New Roman" panose="02020603050405020304" pitchFamily="18" charset="0"/>
              </a:rPr>
              <a:t>04</a:t>
            </a:r>
          </a:p>
        </p:txBody>
      </p:sp>
      <p:sp>
        <p:nvSpPr>
          <p:cNvPr id="51" name="TextBox 28">
            <a:extLst>
              <a:ext uri="{FF2B5EF4-FFF2-40B4-BE49-F238E27FC236}">
                <a16:creationId xmlns:a16="http://schemas.microsoft.com/office/drawing/2014/main" id="{500880B7-EF97-E239-BEA3-C28E6A023CE9}"/>
              </a:ext>
            </a:extLst>
          </p:cNvPr>
          <p:cNvSpPr txBox="1"/>
          <p:nvPr/>
        </p:nvSpPr>
        <p:spPr>
          <a:xfrm>
            <a:off x="6583680" y="4160520"/>
            <a:ext cx="808491" cy="369332"/>
          </a:xfrm>
          <a:prstGeom prst="rect">
            <a:avLst/>
          </a:prstGeom>
          <a:noFill/>
        </p:spPr>
        <p:txBody>
          <a:bodyPr wrap="none" lIns="0" tIns="0" rIns="0" bIns="0" anchor="t">
            <a:spAutoFit/>
          </a:bodyPr>
          <a:lstStyle/>
          <a:p>
            <a:pPr algn="l">
              <a:spcBef>
                <a:spcPts val="0"/>
              </a:spcBef>
              <a:spcAft>
                <a:spcPts val="0"/>
              </a:spcAft>
            </a:pPr>
            <a:r>
              <a:rPr sz="2400" b="1" i="0">
                <a:solidFill>
                  <a:srgbClr val="111111"/>
                </a:solidFill>
                <a:latin typeface="Times New Roman" panose="02020603050405020304" pitchFamily="18" charset="0"/>
                <a:cs typeface="Times New Roman" panose="02020603050405020304" pitchFamily="18" charset="0"/>
              </a:rPr>
              <a:t>Verify</a:t>
            </a:r>
          </a:p>
        </p:txBody>
      </p:sp>
      <p:sp>
        <p:nvSpPr>
          <p:cNvPr id="52" name="TextBox 29">
            <a:extLst>
              <a:ext uri="{FF2B5EF4-FFF2-40B4-BE49-F238E27FC236}">
                <a16:creationId xmlns:a16="http://schemas.microsoft.com/office/drawing/2014/main" id="{9B65711C-4B03-BF12-9109-FF3B34A14A77}"/>
              </a:ext>
            </a:extLst>
          </p:cNvPr>
          <p:cNvSpPr txBox="1"/>
          <p:nvPr/>
        </p:nvSpPr>
        <p:spPr>
          <a:xfrm>
            <a:off x="6583680" y="4553712"/>
            <a:ext cx="2851743" cy="215444"/>
          </a:xfrm>
          <a:prstGeom prst="rect">
            <a:avLst/>
          </a:prstGeom>
          <a:noFill/>
        </p:spPr>
        <p:txBody>
          <a:bodyPr wrap="none" lIns="0" tIns="0" rIns="0" bIns="0" anchor="t">
            <a:spAutoFit/>
          </a:bodyPr>
          <a:lstStyle/>
          <a:p>
            <a:pPr algn="l">
              <a:spcBef>
                <a:spcPts val="0"/>
              </a:spcBef>
              <a:spcAft>
                <a:spcPts val="0"/>
              </a:spcAft>
            </a:pPr>
            <a:r>
              <a:rPr sz="1400" b="0" i="0">
                <a:solidFill>
                  <a:srgbClr val="666666"/>
                </a:solidFill>
                <a:latin typeface="Times New Roman" panose="02020603050405020304" pitchFamily="18" charset="0"/>
                <a:cs typeface="Times New Roman" panose="02020603050405020304" pitchFamily="18" charset="0"/>
              </a:rPr>
              <a:t>Check package contract and final status</a:t>
            </a:r>
          </a:p>
        </p:txBody>
      </p:sp>
      <p:cxnSp>
        <p:nvCxnSpPr>
          <p:cNvPr id="53" name="Connector 30">
            <a:extLst>
              <a:ext uri="{FF2B5EF4-FFF2-40B4-BE49-F238E27FC236}">
                <a16:creationId xmlns:a16="http://schemas.microsoft.com/office/drawing/2014/main" id="{49699001-889E-8CE7-B568-CB0156B78B89}"/>
              </a:ext>
            </a:extLst>
          </p:cNvPr>
          <p:cNvCxnSpPr/>
          <p:nvPr/>
        </p:nvCxnSpPr>
        <p:spPr>
          <a:xfrm>
            <a:off x="594360" y="5102352"/>
            <a:ext cx="10927080" cy="0"/>
          </a:xfrm>
          <a:prstGeom prst="line">
            <a:avLst/>
          </a:prstGeom>
          <a:ln w="8890">
            <a:solidFill>
              <a:srgbClr val="D9DEE3"/>
            </a:solidFill>
          </a:ln>
        </p:spPr>
        <p:style>
          <a:lnRef idx="2">
            <a:schemeClr val="accent1"/>
          </a:lnRef>
          <a:fillRef idx="0">
            <a:schemeClr val="accent1"/>
          </a:fillRef>
          <a:effectRef idx="1">
            <a:schemeClr val="accent1"/>
          </a:effectRef>
          <a:fontRef idx="minor">
            <a:schemeClr val="tx1"/>
          </a:fontRef>
        </p:style>
      </p:cxnSp>
      <p:sp>
        <p:nvSpPr>
          <p:cNvPr id="54" name="TextBox 31">
            <a:extLst>
              <a:ext uri="{FF2B5EF4-FFF2-40B4-BE49-F238E27FC236}">
                <a16:creationId xmlns:a16="http://schemas.microsoft.com/office/drawing/2014/main" id="{B10D080B-0F9C-1949-B7D1-72179F6877A2}"/>
              </a:ext>
            </a:extLst>
          </p:cNvPr>
          <p:cNvSpPr txBox="1"/>
          <p:nvPr/>
        </p:nvSpPr>
        <p:spPr>
          <a:xfrm>
            <a:off x="621792" y="5285232"/>
            <a:ext cx="2332433" cy="215444"/>
          </a:xfrm>
          <a:prstGeom prst="rect">
            <a:avLst/>
          </a:prstGeom>
          <a:noFill/>
        </p:spPr>
        <p:txBody>
          <a:bodyPr wrap="none" lIns="0" tIns="0" rIns="0" bIns="0" anchor="t">
            <a:spAutoFit/>
          </a:bodyPr>
          <a:lstStyle/>
          <a:p>
            <a:pPr algn="l">
              <a:spcBef>
                <a:spcPts val="0"/>
              </a:spcBef>
              <a:spcAft>
                <a:spcPts val="0"/>
              </a:spcAft>
            </a:pPr>
            <a:r>
              <a:rPr sz="1400" b="1" i="0" dirty="0">
                <a:solidFill>
                  <a:srgbClr val="071A55"/>
                </a:solidFill>
                <a:latin typeface="Times New Roman" panose="02020603050405020304" pitchFamily="18" charset="0"/>
                <a:cs typeface="Times New Roman" panose="02020603050405020304" pitchFamily="18" charset="0"/>
              </a:rPr>
              <a:t>DEMONSTRATION STATUS</a:t>
            </a:r>
          </a:p>
        </p:txBody>
      </p:sp>
      <p:sp>
        <p:nvSpPr>
          <p:cNvPr id="55" name="TextBox 32">
            <a:extLst>
              <a:ext uri="{FF2B5EF4-FFF2-40B4-BE49-F238E27FC236}">
                <a16:creationId xmlns:a16="http://schemas.microsoft.com/office/drawing/2014/main" id="{13B99B00-7AF5-4EA3-9DDC-9CE3B572A774}"/>
              </a:ext>
            </a:extLst>
          </p:cNvPr>
          <p:cNvSpPr txBox="1"/>
          <p:nvPr/>
        </p:nvSpPr>
        <p:spPr>
          <a:xfrm>
            <a:off x="3646737" y="5269397"/>
            <a:ext cx="1098058" cy="215444"/>
          </a:xfrm>
          <a:prstGeom prst="rect">
            <a:avLst/>
          </a:prstGeom>
          <a:noFill/>
        </p:spPr>
        <p:txBody>
          <a:bodyPr wrap="none" lIns="0" tIns="0" rIns="0" bIns="0" anchor="t">
            <a:spAutoFit/>
          </a:bodyPr>
          <a:lstStyle/>
          <a:p>
            <a:pPr algn="l">
              <a:spcBef>
                <a:spcPts val="0"/>
              </a:spcBef>
              <a:spcAft>
                <a:spcPts val="0"/>
              </a:spcAft>
            </a:pPr>
            <a:r>
              <a:rPr sz="1400" b="0" i="0" dirty="0" err="1">
                <a:solidFill>
                  <a:srgbClr val="666666"/>
                </a:solidFill>
                <a:latin typeface="Times New Roman" panose="02020603050405020304" pitchFamily="18" charset="0"/>
                <a:cs typeface="Times New Roman" panose="02020603050405020304" pitchFamily="18" charset="0"/>
              </a:rPr>
              <a:t>terminal_status</a:t>
            </a:r>
            <a:endParaRPr sz="1400" b="0" i="0" dirty="0">
              <a:solidFill>
                <a:srgbClr val="666666"/>
              </a:solidFill>
              <a:latin typeface="Times New Roman" panose="02020603050405020304" pitchFamily="18" charset="0"/>
              <a:cs typeface="Times New Roman" panose="02020603050405020304" pitchFamily="18" charset="0"/>
            </a:endParaRPr>
          </a:p>
        </p:txBody>
      </p:sp>
      <p:sp>
        <p:nvSpPr>
          <p:cNvPr id="56" name="TextBox 33">
            <a:extLst>
              <a:ext uri="{FF2B5EF4-FFF2-40B4-BE49-F238E27FC236}">
                <a16:creationId xmlns:a16="http://schemas.microsoft.com/office/drawing/2014/main" id="{F2C4C101-CB84-5265-5A0B-5C885CAA8FEA}"/>
              </a:ext>
            </a:extLst>
          </p:cNvPr>
          <p:cNvSpPr txBox="1"/>
          <p:nvPr/>
        </p:nvSpPr>
        <p:spPr>
          <a:xfrm>
            <a:off x="3646737" y="5598581"/>
            <a:ext cx="1808187" cy="276999"/>
          </a:xfrm>
          <a:prstGeom prst="rect">
            <a:avLst/>
          </a:prstGeom>
          <a:noFill/>
        </p:spPr>
        <p:txBody>
          <a:bodyPr wrap="none" lIns="0" tIns="0" rIns="0" bIns="0" anchor="t">
            <a:spAutoFit/>
          </a:bodyPr>
          <a:lstStyle/>
          <a:p>
            <a:pPr algn="l">
              <a:spcBef>
                <a:spcPts val="0"/>
              </a:spcBef>
              <a:spcAft>
                <a:spcPts val="0"/>
              </a:spcAft>
            </a:pPr>
            <a:r>
              <a:rPr sz="1800" b="1" i="0">
                <a:solidFill>
                  <a:srgbClr val="20A060"/>
                </a:solidFill>
                <a:latin typeface="Times New Roman" panose="02020603050405020304" pitchFamily="18" charset="0"/>
                <a:cs typeface="Times New Roman" panose="02020603050405020304" pitchFamily="18" charset="0"/>
              </a:rPr>
              <a:t>automatic_success</a:t>
            </a:r>
          </a:p>
        </p:txBody>
      </p:sp>
      <p:sp>
        <p:nvSpPr>
          <p:cNvPr id="57" name="TextBox 34">
            <a:extLst>
              <a:ext uri="{FF2B5EF4-FFF2-40B4-BE49-F238E27FC236}">
                <a16:creationId xmlns:a16="http://schemas.microsoft.com/office/drawing/2014/main" id="{326009AC-1A02-D92F-100B-31C9A7BD1F8C}"/>
              </a:ext>
            </a:extLst>
          </p:cNvPr>
          <p:cNvSpPr txBox="1"/>
          <p:nvPr/>
        </p:nvSpPr>
        <p:spPr>
          <a:xfrm>
            <a:off x="7212897" y="5269397"/>
            <a:ext cx="1078821" cy="215444"/>
          </a:xfrm>
          <a:prstGeom prst="rect">
            <a:avLst/>
          </a:prstGeom>
          <a:noFill/>
        </p:spPr>
        <p:txBody>
          <a:bodyPr wrap="none" lIns="0" tIns="0" rIns="0" bIns="0" anchor="t">
            <a:spAutoFit/>
          </a:bodyPr>
          <a:lstStyle/>
          <a:p>
            <a:pPr algn="l">
              <a:spcBef>
                <a:spcPts val="0"/>
              </a:spcBef>
              <a:spcAft>
                <a:spcPts val="0"/>
              </a:spcAft>
            </a:pPr>
            <a:r>
              <a:rPr sz="1400" b="0" i="0" dirty="0" err="1">
                <a:solidFill>
                  <a:srgbClr val="666666"/>
                </a:solidFill>
                <a:latin typeface="Times New Roman" panose="02020603050405020304" pitchFamily="18" charset="0"/>
                <a:cs typeface="Times New Roman" panose="02020603050405020304" pitchFamily="18" charset="0"/>
              </a:rPr>
              <a:t>geometry_pass</a:t>
            </a:r>
            <a:endParaRPr sz="1400" b="0" i="0" dirty="0">
              <a:solidFill>
                <a:srgbClr val="666666"/>
              </a:solidFill>
              <a:latin typeface="Times New Roman" panose="02020603050405020304" pitchFamily="18" charset="0"/>
              <a:cs typeface="Times New Roman" panose="02020603050405020304" pitchFamily="18" charset="0"/>
            </a:endParaRPr>
          </a:p>
        </p:txBody>
      </p:sp>
      <p:sp>
        <p:nvSpPr>
          <p:cNvPr id="58" name="TextBox 35">
            <a:extLst>
              <a:ext uri="{FF2B5EF4-FFF2-40B4-BE49-F238E27FC236}">
                <a16:creationId xmlns:a16="http://schemas.microsoft.com/office/drawing/2014/main" id="{59D702F1-84B0-F927-E156-FFA4676BFDEC}"/>
              </a:ext>
            </a:extLst>
          </p:cNvPr>
          <p:cNvSpPr txBox="1"/>
          <p:nvPr/>
        </p:nvSpPr>
        <p:spPr>
          <a:xfrm>
            <a:off x="7212897" y="5598581"/>
            <a:ext cx="173124" cy="276999"/>
          </a:xfrm>
          <a:prstGeom prst="rect">
            <a:avLst/>
          </a:prstGeom>
          <a:noFill/>
        </p:spPr>
        <p:txBody>
          <a:bodyPr wrap="none" lIns="0" tIns="0" rIns="0" bIns="0" anchor="t">
            <a:spAutoFit/>
          </a:bodyPr>
          <a:lstStyle/>
          <a:p>
            <a:pPr algn="l">
              <a:spcBef>
                <a:spcPts val="0"/>
              </a:spcBef>
              <a:spcAft>
                <a:spcPts val="0"/>
              </a:spcAft>
            </a:pPr>
            <a:r>
              <a:rPr sz="1800" b="1" i="0">
                <a:solidFill>
                  <a:srgbClr val="20A060"/>
                </a:solidFill>
                <a:latin typeface="Times New Roman" panose="02020603050405020304" pitchFamily="18" charset="0"/>
                <a:cs typeface="Times New Roman" panose="02020603050405020304" pitchFamily="18" charset="0"/>
              </a:rPr>
              <a:t>✓</a:t>
            </a:r>
          </a:p>
        </p:txBody>
      </p:sp>
      <p:sp>
        <p:nvSpPr>
          <p:cNvPr id="59" name="TextBox 36">
            <a:extLst>
              <a:ext uri="{FF2B5EF4-FFF2-40B4-BE49-F238E27FC236}">
                <a16:creationId xmlns:a16="http://schemas.microsoft.com/office/drawing/2014/main" id="{93E667E4-A101-51C2-EA69-219E32773EE3}"/>
              </a:ext>
            </a:extLst>
          </p:cNvPr>
          <p:cNvSpPr txBox="1"/>
          <p:nvPr/>
        </p:nvSpPr>
        <p:spPr>
          <a:xfrm>
            <a:off x="7459785" y="5598581"/>
            <a:ext cx="410369" cy="276999"/>
          </a:xfrm>
          <a:prstGeom prst="rect">
            <a:avLst/>
          </a:prstGeom>
          <a:noFill/>
        </p:spPr>
        <p:txBody>
          <a:bodyPr wrap="none" lIns="0" tIns="0" rIns="0" bIns="0" anchor="t">
            <a:spAutoFit/>
          </a:bodyPr>
          <a:lstStyle/>
          <a:p>
            <a:pPr algn="l">
              <a:spcBef>
                <a:spcPts val="0"/>
              </a:spcBef>
              <a:spcAft>
                <a:spcPts val="0"/>
              </a:spcAft>
            </a:pPr>
            <a:r>
              <a:rPr sz="1800" b="1" i="0">
                <a:solidFill>
                  <a:srgbClr val="20A060"/>
                </a:solidFill>
                <a:latin typeface="Times New Roman" panose="02020603050405020304" pitchFamily="18" charset="0"/>
                <a:cs typeface="Times New Roman" panose="02020603050405020304" pitchFamily="18" charset="0"/>
              </a:rPr>
              <a:t>true</a:t>
            </a:r>
          </a:p>
        </p:txBody>
      </p:sp>
      <p:sp>
        <p:nvSpPr>
          <p:cNvPr id="61" name="TextBox 38">
            <a:extLst>
              <a:ext uri="{FF2B5EF4-FFF2-40B4-BE49-F238E27FC236}">
                <a16:creationId xmlns:a16="http://schemas.microsoft.com/office/drawing/2014/main" id="{3B010126-00F1-784E-8FDD-310AAD6AFCD1}"/>
              </a:ext>
            </a:extLst>
          </p:cNvPr>
          <p:cNvSpPr txBox="1"/>
          <p:nvPr/>
        </p:nvSpPr>
        <p:spPr>
          <a:xfrm>
            <a:off x="583390" y="6279475"/>
            <a:ext cx="1436291" cy="430887"/>
          </a:xfrm>
          <a:prstGeom prst="rect">
            <a:avLst/>
          </a:prstGeom>
          <a:noFill/>
        </p:spPr>
        <p:txBody>
          <a:bodyPr wrap="none" lIns="0" tIns="0" rIns="0" bIns="0" anchor="t">
            <a:spAutoFit/>
          </a:bodyPr>
          <a:lstStyle/>
          <a:p>
            <a:pPr algn="l">
              <a:spcBef>
                <a:spcPts val="0"/>
              </a:spcBef>
              <a:spcAft>
                <a:spcPts val="0"/>
              </a:spcAft>
            </a:pPr>
            <a:r>
              <a:rPr lang="en-US" sz="1400" b="0" i="0" dirty="0">
                <a:solidFill>
                  <a:srgbClr val="666666"/>
                </a:solidFill>
                <a:latin typeface="Times New Roman" panose="02020603050405020304" pitchFamily="18" charset="0"/>
                <a:cs typeface="Times New Roman" panose="02020603050405020304" pitchFamily="18" charset="0"/>
              </a:rPr>
              <a:t>evidence_role</a:t>
            </a:r>
          </a:p>
          <a:p>
            <a:pPr algn="l">
              <a:spcBef>
                <a:spcPts val="0"/>
              </a:spcBef>
              <a:spcAft>
                <a:spcPts val="0"/>
              </a:spcAft>
            </a:pPr>
            <a:r>
              <a:rPr lang="en-US" sz="1400" b="0" i="0" dirty="0">
                <a:solidFill>
                  <a:srgbClr val="666666"/>
                </a:solidFill>
                <a:latin typeface="Times New Roman" panose="02020603050405020304" pitchFamily="18" charset="0"/>
                <a:cs typeface="Times New Roman" panose="02020603050405020304" pitchFamily="18" charset="0"/>
              </a:rPr>
              <a:t>demonstration_only</a:t>
            </a:r>
            <a:endParaRPr sz="1400" b="0" i="0" dirty="0">
              <a:solidFill>
                <a:srgbClr val="666666"/>
              </a:solidFill>
              <a:latin typeface="Times New Roman" panose="02020603050405020304" pitchFamily="18" charset="0"/>
              <a:cs typeface="Times New Roman" panose="02020603050405020304" pitchFamily="18" charset="0"/>
            </a:endParaRPr>
          </a:p>
        </p:txBody>
      </p:sp>
      <p:pic>
        <p:nvPicPr>
          <p:cNvPr id="68" name="图片 67">
            <a:extLst>
              <a:ext uri="{FF2B5EF4-FFF2-40B4-BE49-F238E27FC236}">
                <a16:creationId xmlns:a16="http://schemas.microsoft.com/office/drawing/2014/main" id="{B33421AF-3D8C-A1D2-7EB8-AF158AC2A0F1}"/>
              </a:ext>
            </a:extLst>
          </p:cNvPr>
          <p:cNvPicPr>
            <a:picLocks noChangeAspect="1"/>
          </p:cNvPicPr>
          <p:nvPr/>
        </p:nvPicPr>
        <p:blipFill>
          <a:blip r:embed="rId3"/>
          <a:stretch>
            <a:fillRect/>
          </a:stretch>
        </p:blipFill>
        <p:spPr>
          <a:xfrm>
            <a:off x="909098" y="1895079"/>
            <a:ext cx="4036226" cy="2311159"/>
          </a:xfrm>
          <a:prstGeom prst="rect">
            <a:avLst/>
          </a:prstGeom>
        </p:spPr>
      </p:pic>
      <p:sp>
        <p:nvSpPr>
          <p:cNvPr id="70" name="TextBox 38">
            <a:extLst>
              <a:ext uri="{FF2B5EF4-FFF2-40B4-BE49-F238E27FC236}">
                <a16:creationId xmlns:a16="http://schemas.microsoft.com/office/drawing/2014/main" id="{9FE21CEA-2A33-CA51-E609-60FC41B5FF7F}"/>
              </a:ext>
            </a:extLst>
          </p:cNvPr>
          <p:cNvSpPr txBox="1"/>
          <p:nvPr/>
        </p:nvSpPr>
        <p:spPr>
          <a:xfrm>
            <a:off x="2639616" y="6285836"/>
            <a:ext cx="1316066" cy="430887"/>
          </a:xfrm>
          <a:prstGeom prst="rect">
            <a:avLst/>
          </a:prstGeom>
          <a:noFill/>
        </p:spPr>
        <p:txBody>
          <a:bodyPr wrap="none" lIns="0" tIns="0" rIns="0" bIns="0" anchor="t">
            <a:spAutoFit/>
          </a:bodyPr>
          <a:lstStyle/>
          <a:p>
            <a:pPr algn="l">
              <a:spcBef>
                <a:spcPts val="0"/>
              </a:spcBef>
              <a:spcAft>
                <a:spcPts val="0"/>
              </a:spcAft>
            </a:pPr>
            <a:r>
              <a:rPr lang="en-US" sz="1400" b="0" i="0" dirty="0">
                <a:solidFill>
                  <a:srgbClr val="666666"/>
                </a:solidFill>
                <a:latin typeface="Times New Roman" panose="02020603050405020304" pitchFamily="18" charset="0"/>
                <a:cs typeface="Times New Roman" panose="02020603050405020304" pitchFamily="18" charset="0"/>
              </a:rPr>
              <a:t>formal_evaluation</a:t>
            </a:r>
          </a:p>
          <a:p>
            <a:pPr algn="l">
              <a:spcBef>
                <a:spcPts val="0"/>
              </a:spcBef>
              <a:spcAft>
                <a:spcPts val="0"/>
              </a:spcAft>
            </a:pPr>
            <a:r>
              <a:rPr lang="en-US" sz="1400" b="0" i="0" dirty="0">
                <a:solidFill>
                  <a:srgbClr val="666666"/>
                </a:solidFill>
                <a:latin typeface="Times New Roman" panose="02020603050405020304" pitchFamily="18" charset="0"/>
                <a:cs typeface="Times New Roman" panose="02020603050405020304" pitchFamily="18" charset="0"/>
              </a:rPr>
              <a:t>false</a:t>
            </a:r>
            <a:endParaRPr sz="1400" b="0" i="0" dirty="0">
              <a:solidFill>
                <a:srgbClr val="666666"/>
              </a:solidFill>
              <a:latin typeface="Times New Roman" panose="02020603050405020304" pitchFamily="18" charset="0"/>
              <a:cs typeface="Times New Roman" panose="02020603050405020304" pitchFamily="18" charset="0"/>
            </a:endParaRPr>
          </a:p>
        </p:txBody>
      </p:sp>
      <p:sp>
        <p:nvSpPr>
          <p:cNvPr id="72" name="TextBox 38">
            <a:extLst>
              <a:ext uri="{FF2B5EF4-FFF2-40B4-BE49-F238E27FC236}">
                <a16:creationId xmlns:a16="http://schemas.microsoft.com/office/drawing/2014/main" id="{2A741799-2B19-5E60-3C7D-9DFE848C17D3}"/>
              </a:ext>
            </a:extLst>
          </p:cNvPr>
          <p:cNvSpPr txBox="1"/>
          <p:nvPr/>
        </p:nvSpPr>
        <p:spPr>
          <a:xfrm>
            <a:off x="4590906" y="6279475"/>
            <a:ext cx="928139" cy="430887"/>
          </a:xfrm>
          <a:prstGeom prst="rect">
            <a:avLst/>
          </a:prstGeom>
          <a:noFill/>
        </p:spPr>
        <p:txBody>
          <a:bodyPr wrap="none" lIns="0" tIns="0" rIns="0" bIns="0" anchor="t">
            <a:spAutoFit/>
          </a:bodyPr>
          <a:lstStyle/>
          <a:p>
            <a:pPr algn="l">
              <a:spcBef>
                <a:spcPts val="0"/>
              </a:spcBef>
              <a:spcAft>
                <a:spcPts val="0"/>
              </a:spcAft>
            </a:pPr>
            <a:r>
              <a:rPr lang="en-US" sz="1400" b="0" i="0" dirty="0">
                <a:solidFill>
                  <a:srgbClr val="666666"/>
                </a:solidFill>
                <a:latin typeface="Times New Roman" panose="02020603050405020304" pitchFamily="18" charset="0"/>
                <a:cs typeface="Times New Roman" panose="02020603050405020304" pitchFamily="18" charset="0"/>
              </a:rPr>
              <a:t>source_split</a:t>
            </a:r>
          </a:p>
          <a:p>
            <a:pPr algn="l">
              <a:spcBef>
                <a:spcPts val="0"/>
              </a:spcBef>
              <a:spcAft>
                <a:spcPts val="0"/>
              </a:spcAft>
            </a:pPr>
            <a:r>
              <a:rPr lang="en-US" sz="1400" b="0" i="0" dirty="0">
                <a:solidFill>
                  <a:srgbClr val="666666"/>
                </a:solidFill>
                <a:latin typeface="Times New Roman" panose="02020603050405020304" pitchFamily="18" charset="0"/>
                <a:cs typeface="Times New Roman" panose="02020603050405020304" pitchFamily="18" charset="0"/>
              </a:rPr>
              <a:t>development</a:t>
            </a:r>
            <a:endParaRPr sz="1400" b="0" i="0" dirty="0">
              <a:solidFill>
                <a:srgbClr val="66666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7271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3DE69-8885-66AD-7076-B36342A6F229}"/>
            </a:ext>
          </a:extLst>
        </p:cNvPr>
        <p:cNvGrpSpPr/>
        <p:nvPr/>
      </p:nvGrpSpPr>
      <p:grpSpPr>
        <a:xfrm>
          <a:off x="0" y="0"/>
          <a:ext cx="0" cy="0"/>
          <a:chOff x="0" y="0"/>
          <a:chExt cx="0" cy="0"/>
        </a:xfrm>
      </p:grpSpPr>
      <p:sp>
        <p:nvSpPr>
          <p:cNvPr id="32" name="矩形 31">
            <a:extLst>
              <a:ext uri="{FF2B5EF4-FFF2-40B4-BE49-F238E27FC236}">
                <a16:creationId xmlns:a16="http://schemas.microsoft.com/office/drawing/2014/main" id="{3875E157-E194-64B6-D505-AF76CA5D081A}"/>
              </a:ext>
            </a:extLst>
          </p:cNvPr>
          <p:cNvSpPr/>
          <p:nvPr/>
        </p:nvSpPr>
        <p:spPr>
          <a:xfrm>
            <a:off x="92842" y="620688"/>
            <a:ext cx="6904941" cy="107184"/>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kumimoji="1" lang="zh-CN" altLang="en-US" dirty="0">
              <a:solidFill>
                <a:schemeClr val="tx1"/>
              </a:solidFill>
            </a:endParaRPr>
          </a:p>
        </p:txBody>
      </p:sp>
      <p:sp>
        <p:nvSpPr>
          <p:cNvPr id="3" name="标题 2">
            <a:extLst>
              <a:ext uri="{FF2B5EF4-FFF2-40B4-BE49-F238E27FC236}">
                <a16:creationId xmlns:a16="http://schemas.microsoft.com/office/drawing/2014/main" id="{65AC75CF-D4DA-EECF-428D-D99A7D3779D7}"/>
              </a:ext>
            </a:extLst>
          </p:cNvPr>
          <p:cNvSpPr>
            <a:spLocks noGrp="1"/>
          </p:cNvSpPr>
          <p:nvPr>
            <p:ph type="title"/>
          </p:nvPr>
        </p:nvSpPr>
        <p:spPr>
          <a:xfrm>
            <a:off x="119336" y="76228"/>
            <a:ext cx="9695205" cy="531544"/>
          </a:xfrm>
        </p:spPr>
        <p:txBody>
          <a:bodyPr/>
          <a:lstStyle/>
          <a:p>
            <a:r>
              <a:rPr lang="en-US" altLang="zh-CN" dirty="0">
                <a:solidFill>
                  <a:srgbClr val="071A55"/>
                </a:solidFill>
                <a:latin typeface="Aptos Display"/>
              </a:rPr>
              <a:t>D-H01 Base and Straight Through Cut</a:t>
            </a:r>
          </a:p>
        </p:txBody>
      </p:sp>
      <p:sp>
        <p:nvSpPr>
          <p:cNvPr id="2" name="04_Demo_Type_Label">
            <a:extLst>
              <a:ext uri="{FF2B5EF4-FFF2-40B4-BE49-F238E27FC236}">
                <a16:creationId xmlns:a16="http://schemas.microsoft.com/office/drawing/2014/main" id="{98E7499A-CB3D-9B40-07A9-E66669F7A945}"/>
              </a:ext>
            </a:extLst>
          </p:cNvPr>
          <p:cNvSpPr txBox="1"/>
          <p:nvPr/>
        </p:nvSpPr>
        <p:spPr>
          <a:xfrm>
            <a:off x="226789" y="808328"/>
            <a:ext cx="3489994" cy="246221"/>
          </a:xfrm>
          <a:prstGeom prst="rect">
            <a:avLst/>
          </a:prstGeom>
          <a:noFill/>
        </p:spPr>
        <p:txBody>
          <a:bodyPr wrap="none" lIns="0" tIns="0" rIns="0" bIns="0" anchor="ctr">
            <a:spAutoFit/>
          </a:bodyPr>
          <a:lstStyle/>
          <a:p>
            <a:pPr algn="l"/>
            <a:r>
              <a:rPr sz="1600" b="1" i="0" dirty="0">
                <a:solidFill>
                  <a:srgbClr val="00BFFF"/>
                </a:solidFill>
                <a:latin typeface="Times New Roman" panose="02020603050405020304" pitchFamily="18" charset="0"/>
                <a:cs typeface="Times New Roman" panose="02020603050405020304" pitchFamily="18" charset="0"/>
              </a:rPr>
              <a:t>DEVELOPMENT DEMONSTRATION</a:t>
            </a:r>
          </a:p>
        </p:txBody>
      </p:sp>
      <p:sp>
        <p:nvSpPr>
          <p:cNvPr id="4" name="05_Scope_Description">
            <a:extLst>
              <a:ext uri="{FF2B5EF4-FFF2-40B4-BE49-F238E27FC236}">
                <a16:creationId xmlns:a16="http://schemas.microsoft.com/office/drawing/2014/main" id="{8D1D5F4A-A577-B346-C546-ABA66F642576}"/>
              </a:ext>
            </a:extLst>
          </p:cNvPr>
          <p:cNvSpPr txBox="1"/>
          <p:nvPr/>
        </p:nvSpPr>
        <p:spPr>
          <a:xfrm>
            <a:off x="217853" y="1168336"/>
            <a:ext cx="6455293" cy="246221"/>
          </a:xfrm>
          <a:prstGeom prst="rect">
            <a:avLst/>
          </a:prstGeom>
          <a:noFill/>
        </p:spPr>
        <p:txBody>
          <a:bodyPr wrap="none" lIns="0" tIns="0" rIns="0" bIns="0" anchor="ctr">
            <a:spAutoFit/>
          </a:bodyPr>
          <a:lstStyle/>
          <a:p>
            <a:pPr algn="l"/>
            <a:r>
              <a:rPr lang="en-US" sz="1600" b="0" i="0" dirty="0">
                <a:solidFill>
                  <a:srgbClr val="666666"/>
                </a:solidFill>
                <a:latin typeface="Times New Roman" panose="02020603050405020304" pitchFamily="18" charset="0"/>
                <a:cs typeface="Times New Roman" panose="02020603050405020304" pitchFamily="18" charset="0"/>
              </a:rPr>
              <a:t>Frozen base extrusion + one straight cylindrical through-cut construction class</a:t>
            </a:r>
            <a:endParaRPr sz="1600" b="0" i="0" dirty="0">
              <a:solidFill>
                <a:srgbClr val="666666"/>
              </a:solidFill>
              <a:latin typeface="Times New Roman" panose="02020603050405020304" pitchFamily="18" charset="0"/>
              <a:cs typeface="Times New Roman" panose="02020603050405020304" pitchFamily="18" charset="0"/>
            </a:endParaRPr>
          </a:p>
        </p:txBody>
      </p:sp>
      <p:sp>
        <p:nvSpPr>
          <p:cNvPr id="6" name="06_Left_Header">
            <a:extLst>
              <a:ext uri="{FF2B5EF4-FFF2-40B4-BE49-F238E27FC236}">
                <a16:creationId xmlns:a16="http://schemas.microsoft.com/office/drawing/2014/main" id="{D02D2D9E-B5AB-48AF-6777-33E8027ACDD2}"/>
              </a:ext>
            </a:extLst>
          </p:cNvPr>
          <p:cNvSpPr txBox="1"/>
          <p:nvPr/>
        </p:nvSpPr>
        <p:spPr>
          <a:xfrm>
            <a:off x="189050" y="1662986"/>
            <a:ext cx="1714380" cy="246221"/>
          </a:xfrm>
          <a:prstGeom prst="rect">
            <a:avLst/>
          </a:prstGeom>
          <a:noFill/>
        </p:spPr>
        <p:txBody>
          <a:bodyPr wrap="none" lIns="0" tIns="0" rIns="0" bIns="0" anchor="ctr">
            <a:spAutoFit/>
          </a:bodyPr>
          <a:lstStyle/>
          <a:p>
            <a:pPr algn="l"/>
            <a:r>
              <a:rPr sz="1600" b="1" i="0" dirty="0">
                <a:solidFill>
                  <a:srgbClr val="071A55"/>
                </a:solidFill>
                <a:latin typeface="Times New Roman" panose="02020603050405020304" pitchFamily="18" charset="0"/>
                <a:cs typeface="Times New Roman" panose="02020603050405020304" pitchFamily="18" charset="0"/>
              </a:rPr>
              <a:t>OBSERVED CASE</a:t>
            </a:r>
          </a:p>
        </p:txBody>
      </p:sp>
      <p:sp>
        <p:nvSpPr>
          <p:cNvPr id="7" name="14_Middle_Header">
            <a:extLst>
              <a:ext uri="{FF2B5EF4-FFF2-40B4-BE49-F238E27FC236}">
                <a16:creationId xmlns:a16="http://schemas.microsoft.com/office/drawing/2014/main" id="{7E39958B-0C35-E958-E28C-08AF6D171A0B}"/>
              </a:ext>
            </a:extLst>
          </p:cNvPr>
          <p:cNvSpPr txBox="1"/>
          <p:nvPr/>
        </p:nvSpPr>
        <p:spPr>
          <a:xfrm>
            <a:off x="4851177" y="1668151"/>
            <a:ext cx="2176878" cy="246221"/>
          </a:xfrm>
          <a:prstGeom prst="rect">
            <a:avLst/>
          </a:prstGeom>
          <a:noFill/>
        </p:spPr>
        <p:txBody>
          <a:bodyPr wrap="none" lIns="0" tIns="0" rIns="0" bIns="0" anchor="ctr">
            <a:spAutoFit/>
          </a:bodyPr>
          <a:lstStyle/>
          <a:p>
            <a:pPr algn="l"/>
            <a:r>
              <a:rPr sz="1600" b="1" i="0" dirty="0">
                <a:solidFill>
                  <a:srgbClr val="071A55"/>
                </a:solidFill>
                <a:latin typeface="Times New Roman" panose="02020603050405020304" pitchFamily="18" charset="0"/>
                <a:cs typeface="Times New Roman" panose="02020603050405020304" pitchFamily="18" charset="0"/>
              </a:rPr>
              <a:t>COUPLED SEQUENCE</a:t>
            </a:r>
          </a:p>
        </p:txBody>
      </p:sp>
      <p:sp>
        <p:nvSpPr>
          <p:cNvPr id="8" name="29_Validation_Header">
            <a:extLst>
              <a:ext uri="{FF2B5EF4-FFF2-40B4-BE49-F238E27FC236}">
                <a16:creationId xmlns:a16="http://schemas.microsoft.com/office/drawing/2014/main" id="{F7F95CD2-0834-8167-0B27-68B63B69E5DD}"/>
              </a:ext>
            </a:extLst>
          </p:cNvPr>
          <p:cNvSpPr txBox="1"/>
          <p:nvPr/>
        </p:nvSpPr>
        <p:spPr>
          <a:xfrm>
            <a:off x="8796355" y="1649013"/>
            <a:ext cx="3088410" cy="246221"/>
          </a:xfrm>
          <a:prstGeom prst="rect">
            <a:avLst/>
          </a:prstGeom>
          <a:noFill/>
        </p:spPr>
        <p:txBody>
          <a:bodyPr wrap="none" lIns="0" tIns="0" rIns="0" bIns="0" anchor="ctr">
            <a:spAutoFit/>
          </a:bodyPr>
          <a:lstStyle/>
          <a:p>
            <a:pPr algn="l"/>
            <a:r>
              <a:rPr sz="1600" b="1" i="0" dirty="0">
                <a:solidFill>
                  <a:srgbClr val="071A55"/>
                </a:solidFill>
                <a:latin typeface="Times New Roman" panose="02020603050405020304" pitchFamily="18" charset="0"/>
                <a:cs typeface="Times New Roman" panose="02020603050405020304" pitchFamily="18" charset="0"/>
              </a:rPr>
              <a:t>ROUTE-SPECIFIC VALIDATION</a:t>
            </a:r>
          </a:p>
        </p:txBody>
      </p:sp>
      <p:sp>
        <p:nvSpPr>
          <p:cNvPr id="11" name="08_DH01_Image_Border">
            <a:extLst>
              <a:ext uri="{FF2B5EF4-FFF2-40B4-BE49-F238E27FC236}">
                <a16:creationId xmlns:a16="http://schemas.microsoft.com/office/drawing/2014/main" id="{7F467F2E-843F-A0B5-AAEB-3FB8A7EF0A8E}"/>
              </a:ext>
            </a:extLst>
          </p:cNvPr>
          <p:cNvSpPr/>
          <p:nvPr/>
        </p:nvSpPr>
        <p:spPr>
          <a:xfrm>
            <a:off x="119336" y="2023402"/>
            <a:ext cx="4132921" cy="2229658"/>
          </a:xfrm>
          <a:prstGeom prst="rect">
            <a:avLst/>
          </a:prstGeom>
          <a:noFill/>
          <a:ln w="11430">
            <a:solidFill>
              <a:srgbClr val="D9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09_DH01_ID">
            <a:extLst>
              <a:ext uri="{FF2B5EF4-FFF2-40B4-BE49-F238E27FC236}">
                <a16:creationId xmlns:a16="http://schemas.microsoft.com/office/drawing/2014/main" id="{FB06E551-B418-80CB-E612-C642BDA7ACDA}"/>
              </a:ext>
            </a:extLst>
          </p:cNvPr>
          <p:cNvSpPr txBox="1"/>
          <p:nvPr/>
        </p:nvSpPr>
        <p:spPr>
          <a:xfrm>
            <a:off x="161321" y="4487765"/>
            <a:ext cx="545021" cy="230832"/>
          </a:xfrm>
          <a:prstGeom prst="rect">
            <a:avLst/>
          </a:prstGeom>
          <a:noFill/>
        </p:spPr>
        <p:txBody>
          <a:bodyPr wrap="none" lIns="0" tIns="0" rIns="0" bIns="0" anchor="ctr">
            <a:spAutoFit/>
          </a:bodyPr>
          <a:lstStyle/>
          <a:p>
            <a:pPr algn="l"/>
            <a:r>
              <a:rPr sz="1500" b="1" i="0" dirty="0">
                <a:solidFill>
                  <a:srgbClr val="071A55"/>
                </a:solidFill>
                <a:latin typeface="Times New Roman" panose="02020603050405020304" pitchFamily="18" charset="0"/>
                <a:cs typeface="Times New Roman" panose="02020603050405020304" pitchFamily="18" charset="0"/>
              </a:rPr>
              <a:t>D-H01</a:t>
            </a:r>
          </a:p>
        </p:txBody>
      </p:sp>
      <p:sp>
        <p:nvSpPr>
          <p:cNvPr id="13" name="10_DH01_Description">
            <a:extLst>
              <a:ext uri="{FF2B5EF4-FFF2-40B4-BE49-F238E27FC236}">
                <a16:creationId xmlns:a16="http://schemas.microsoft.com/office/drawing/2014/main" id="{37EE8AC3-0F70-D0D4-036B-1A337E314B8E}"/>
              </a:ext>
            </a:extLst>
          </p:cNvPr>
          <p:cNvSpPr txBox="1"/>
          <p:nvPr/>
        </p:nvSpPr>
        <p:spPr>
          <a:xfrm>
            <a:off x="1039005" y="4507392"/>
            <a:ext cx="2049985" cy="196977"/>
          </a:xfrm>
          <a:prstGeom prst="rect">
            <a:avLst/>
          </a:prstGeom>
          <a:noFill/>
        </p:spPr>
        <p:txBody>
          <a:bodyPr wrap="none" lIns="0" tIns="0" rIns="0" bIns="0" anchor="ctr">
            <a:spAutoFit/>
          </a:bodyPr>
          <a:lstStyle/>
          <a:p>
            <a:pPr algn="l"/>
            <a:r>
              <a:rPr lang="en-US" sz="1280" b="0" i="0" dirty="0">
                <a:solidFill>
                  <a:srgbClr val="666666"/>
                </a:solidFill>
                <a:latin typeface="Times New Roman" panose="02020603050405020304" pitchFamily="18" charset="0"/>
                <a:cs typeface="Times New Roman" panose="02020603050405020304" pitchFamily="18" charset="0"/>
              </a:rPr>
              <a:t>Verified replay STEP in Fusion</a:t>
            </a:r>
            <a:endParaRPr sz="1280" b="0" i="0" dirty="0">
              <a:solidFill>
                <a:srgbClr val="666666"/>
              </a:solidFill>
              <a:latin typeface="Times New Roman" panose="02020603050405020304" pitchFamily="18" charset="0"/>
              <a:cs typeface="Times New Roman" panose="02020603050405020304" pitchFamily="18" charset="0"/>
            </a:endParaRPr>
          </a:p>
        </p:txBody>
      </p:sp>
      <p:sp>
        <p:nvSpPr>
          <p:cNvPr id="14" name="11_Input_Note">
            <a:extLst>
              <a:ext uri="{FF2B5EF4-FFF2-40B4-BE49-F238E27FC236}">
                <a16:creationId xmlns:a16="http://schemas.microsoft.com/office/drawing/2014/main" id="{FB9ECE88-49C1-F229-758E-085872569E75}"/>
              </a:ext>
            </a:extLst>
          </p:cNvPr>
          <p:cNvSpPr txBox="1"/>
          <p:nvPr/>
        </p:nvSpPr>
        <p:spPr>
          <a:xfrm>
            <a:off x="161321" y="4778088"/>
            <a:ext cx="2667397" cy="176972"/>
          </a:xfrm>
          <a:prstGeom prst="rect">
            <a:avLst/>
          </a:prstGeom>
          <a:noFill/>
        </p:spPr>
        <p:txBody>
          <a:bodyPr wrap="none" lIns="0" tIns="0" rIns="0" bIns="0" anchor="ctr">
            <a:spAutoFit/>
          </a:bodyPr>
          <a:lstStyle/>
          <a:p>
            <a:pPr algn="l"/>
            <a:r>
              <a:rPr lang="en-US" sz="1150" b="0" i="0" dirty="0">
                <a:solidFill>
                  <a:srgbClr val="666666"/>
                </a:solidFill>
                <a:latin typeface="Times New Roman" panose="02020603050405020304" pitchFamily="18" charset="0"/>
                <a:cs typeface="Times New Roman" panose="02020603050405020304" pitchFamily="18" charset="0"/>
              </a:rPr>
              <a:t>Development input: history-free STEP/B-rep</a:t>
            </a:r>
            <a:endParaRPr sz="1150" b="0" i="0" dirty="0">
              <a:solidFill>
                <a:srgbClr val="666666"/>
              </a:solidFill>
              <a:latin typeface="Times New Roman" panose="02020603050405020304" pitchFamily="18" charset="0"/>
              <a:cs typeface="Times New Roman" panose="02020603050405020304" pitchFamily="18" charset="0"/>
            </a:endParaRPr>
          </a:p>
        </p:txBody>
      </p:sp>
      <p:sp>
        <p:nvSpPr>
          <p:cNvPr id="15" name="12_Observed_Evidence_Note">
            <a:extLst>
              <a:ext uri="{FF2B5EF4-FFF2-40B4-BE49-F238E27FC236}">
                <a16:creationId xmlns:a16="http://schemas.microsoft.com/office/drawing/2014/main" id="{9627BEDA-E188-4567-7FB2-2C6BD282E1C0}"/>
              </a:ext>
            </a:extLst>
          </p:cNvPr>
          <p:cNvSpPr txBox="1"/>
          <p:nvPr/>
        </p:nvSpPr>
        <p:spPr>
          <a:xfrm>
            <a:off x="44716" y="5157381"/>
            <a:ext cx="4689670" cy="166199"/>
          </a:xfrm>
          <a:prstGeom prst="rect">
            <a:avLst/>
          </a:prstGeom>
          <a:noFill/>
        </p:spPr>
        <p:txBody>
          <a:bodyPr wrap="square" lIns="0" tIns="0" rIns="0" bIns="0">
            <a:spAutoFit/>
          </a:bodyPr>
          <a:lstStyle/>
          <a:p>
            <a:r>
              <a:rPr lang="en-US" sz="1080" b="1" dirty="0">
                <a:solidFill>
                  <a:srgbClr val="666666"/>
                </a:solidFill>
                <a:latin typeface="Times New Roman" panose="02020603050405020304" pitchFamily="18" charset="0"/>
                <a:cs typeface="Times New Roman" panose="02020603050405020304" pitchFamily="18" charset="0"/>
              </a:rPr>
              <a:t>Observed evidence: two circular openings and one connecting cylindrical face</a:t>
            </a:r>
            <a:endParaRPr sz="1080" dirty="0">
              <a:solidFill>
                <a:srgbClr val="666666"/>
              </a:solidFill>
              <a:latin typeface="Times New Roman" panose="02020603050405020304" pitchFamily="18" charset="0"/>
              <a:cs typeface="Times New Roman" panose="02020603050405020304" pitchFamily="18" charset="0"/>
            </a:endParaRPr>
          </a:p>
        </p:txBody>
      </p:sp>
      <p:cxnSp>
        <p:nvCxnSpPr>
          <p:cNvPr id="16" name="13_Left_Middle_Divider">
            <a:extLst>
              <a:ext uri="{FF2B5EF4-FFF2-40B4-BE49-F238E27FC236}">
                <a16:creationId xmlns:a16="http://schemas.microsoft.com/office/drawing/2014/main" id="{9EE8776A-3DED-8477-78CD-B7F25C1CFACC}"/>
              </a:ext>
            </a:extLst>
          </p:cNvPr>
          <p:cNvCxnSpPr/>
          <p:nvPr/>
        </p:nvCxnSpPr>
        <p:spPr>
          <a:xfrm>
            <a:off x="4655840" y="1702996"/>
            <a:ext cx="0" cy="3383280"/>
          </a:xfrm>
          <a:prstGeom prst="line">
            <a:avLst/>
          </a:prstGeom>
          <a:ln w="8890">
            <a:solidFill>
              <a:srgbClr val="D9DEE3"/>
            </a:solidFill>
          </a:ln>
        </p:spPr>
        <p:style>
          <a:lnRef idx="2">
            <a:schemeClr val="accent1"/>
          </a:lnRef>
          <a:fillRef idx="0">
            <a:schemeClr val="accent1"/>
          </a:fillRef>
          <a:effectRef idx="1">
            <a:schemeClr val="accent1"/>
          </a:effectRef>
          <a:fontRef idx="minor">
            <a:schemeClr val="tx1"/>
          </a:fontRef>
        </p:style>
      </p:cxnSp>
      <p:cxnSp>
        <p:nvCxnSpPr>
          <p:cNvPr id="18" name="28_Middle_Right_Divider">
            <a:extLst>
              <a:ext uri="{FF2B5EF4-FFF2-40B4-BE49-F238E27FC236}">
                <a16:creationId xmlns:a16="http://schemas.microsoft.com/office/drawing/2014/main" id="{FB60BC00-F851-8CA1-6014-555EA6BA0801}"/>
              </a:ext>
            </a:extLst>
          </p:cNvPr>
          <p:cNvCxnSpPr/>
          <p:nvPr/>
        </p:nvCxnSpPr>
        <p:spPr>
          <a:xfrm>
            <a:off x="8472264" y="1679506"/>
            <a:ext cx="0" cy="3383280"/>
          </a:xfrm>
          <a:prstGeom prst="line">
            <a:avLst/>
          </a:prstGeom>
          <a:ln w="8890">
            <a:solidFill>
              <a:srgbClr val="D9DEE3"/>
            </a:solidFill>
          </a:ln>
        </p:spPr>
        <p:style>
          <a:lnRef idx="2">
            <a:schemeClr val="accent1"/>
          </a:lnRef>
          <a:fillRef idx="0">
            <a:schemeClr val="accent1"/>
          </a:fillRef>
          <a:effectRef idx="1">
            <a:schemeClr val="accent1"/>
          </a:effectRef>
          <a:fontRef idx="minor">
            <a:schemeClr val="tx1"/>
          </a:fontRef>
        </p:style>
      </p:cxnSp>
      <p:sp>
        <p:nvSpPr>
          <p:cNvPr id="19" name="15_Coupled_Explanation">
            <a:extLst>
              <a:ext uri="{FF2B5EF4-FFF2-40B4-BE49-F238E27FC236}">
                <a16:creationId xmlns:a16="http://schemas.microsoft.com/office/drawing/2014/main" id="{18341206-0055-33F4-FE0A-4B765B8FEA1E}"/>
              </a:ext>
            </a:extLst>
          </p:cNvPr>
          <p:cNvSpPr txBox="1"/>
          <p:nvPr/>
        </p:nvSpPr>
        <p:spPr>
          <a:xfrm>
            <a:off x="4864857" y="1978405"/>
            <a:ext cx="3585918" cy="215444"/>
          </a:xfrm>
          <a:prstGeom prst="rect">
            <a:avLst/>
          </a:prstGeom>
          <a:noFill/>
        </p:spPr>
        <p:txBody>
          <a:bodyPr wrap="none" lIns="0" tIns="0" rIns="0" bIns="0" anchor="ctr">
            <a:spAutoFit/>
          </a:bodyPr>
          <a:lstStyle/>
          <a:p>
            <a:pPr algn="l"/>
            <a:r>
              <a:rPr sz="1400" b="0" i="0" dirty="0">
                <a:solidFill>
                  <a:srgbClr val="666666"/>
                </a:solidFill>
                <a:latin typeface="Times New Roman" panose="02020603050405020304" pitchFamily="18" charset="0"/>
                <a:cs typeface="Times New Roman" panose="02020603050405020304" pitchFamily="18" charset="0"/>
              </a:rPr>
              <a:t>One hypothesis explains both the base and the cut</a:t>
            </a:r>
          </a:p>
        </p:txBody>
      </p:sp>
      <p:sp>
        <p:nvSpPr>
          <p:cNvPr id="20" name="16_Operation01_Number">
            <a:extLst>
              <a:ext uri="{FF2B5EF4-FFF2-40B4-BE49-F238E27FC236}">
                <a16:creationId xmlns:a16="http://schemas.microsoft.com/office/drawing/2014/main" id="{2A69279F-554F-A490-BE61-11CDA9A26661}"/>
              </a:ext>
            </a:extLst>
          </p:cNvPr>
          <p:cNvSpPr txBox="1"/>
          <p:nvPr/>
        </p:nvSpPr>
        <p:spPr>
          <a:xfrm>
            <a:off x="4946349" y="2387099"/>
            <a:ext cx="153888" cy="184666"/>
          </a:xfrm>
          <a:prstGeom prst="rect">
            <a:avLst/>
          </a:prstGeom>
          <a:noFill/>
        </p:spPr>
        <p:txBody>
          <a:bodyPr wrap="none" lIns="0" tIns="0" rIns="0" bIns="0" anchor="ctr">
            <a:spAutoFit/>
          </a:bodyPr>
          <a:lstStyle/>
          <a:p>
            <a:pPr algn="l"/>
            <a:r>
              <a:rPr sz="1200" b="0" i="0" dirty="0">
                <a:solidFill>
                  <a:srgbClr val="00BFFF"/>
                </a:solidFill>
                <a:latin typeface="Times New Roman" panose="02020603050405020304" pitchFamily="18" charset="0"/>
                <a:cs typeface="Times New Roman" panose="02020603050405020304" pitchFamily="18" charset="0"/>
              </a:rPr>
              <a:t>01</a:t>
            </a:r>
          </a:p>
        </p:txBody>
      </p:sp>
      <p:sp>
        <p:nvSpPr>
          <p:cNvPr id="22" name="17_Operation01_Box">
            <a:extLst>
              <a:ext uri="{FF2B5EF4-FFF2-40B4-BE49-F238E27FC236}">
                <a16:creationId xmlns:a16="http://schemas.microsoft.com/office/drawing/2014/main" id="{69824A22-EB87-2B0B-D15F-EE95B9F1C28A}"/>
              </a:ext>
            </a:extLst>
          </p:cNvPr>
          <p:cNvSpPr/>
          <p:nvPr/>
        </p:nvSpPr>
        <p:spPr>
          <a:xfrm>
            <a:off x="5249437" y="2513875"/>
            <a:ext cx="2331720" cy="502920"/>
          </a:xfrm>
          <a:prstGeom prst="rect">
            <a:avLst/>
          </a:prstGeom>
          <a:solidFill>
            <a:srgbClr val="F8FBFD"/>
          </a:solidFill>
          <a:ln w="1524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18_Operation01_Title">
            <a:extLst>
              <a:ext uri="{FF2B5EF4-FFF2-40B4-BE49-F238E27FC236}">
                <a16:creationId xmlns:a16="http://schemas.microsoft.com/office/drawing/2014/main" id="{FA92B788-E70C-A050-C34E-2BAD3FEA00D7}"/>
              </a:ext>
            </a:extLst>
          </p:cNvPr>
          <p:cNvSpPr txBox="1"/>
          <p:nvPr/>
        </p:nvSpPr>
        <p:spPr>
          <a:xfrm>
            <a:off x="5701960" y="2612027"/>
            <a:ext cx="1426673" cy="269304"/>
          </a:xfrm>
          <a:prstGeom prst="rect">
            <a:avLst/>
          </a:prstGeom>
          <a:noFill/>
        </p:spPr>
        <p:txBody>
          <a:bodyPr wrap="none" lIns="0" tIns="0" rIns="0" bIns="0" anchor="ctr">
            <a:spAutoFit/>
          </a:bodyPr>
          <a:lstStyle/>
          <a:p>
            <a:pPr algn="ctr"/>
            <a:r>
              <a:rPr sz="1750" b="1" i="0" dirty="0">
                <a:solidFill>
                  <a:srgbClr val="111111"/>
                </a:solidFill>
                <a:latin typeface="Times New Roman" panose="02020603050405020304" pitchFamily="18" charset="0"/>
                <a:cs typeface="Times New Roman" panose="02020603050405020304" pitchFamily="18" charset="0"/>
              </a:rPr>
              <a:t>New Extrusion</a:t>
            </a:r>
          </a:p>
        </p:txBody>
      </p:sp>
      <p:sp>
        <p:nvSpPr>
          <p:cNvPr id="24" name="19_Operation01_Subtitle">
            <a:extLst>
              <a:ext uri="{FF2B5EF4-FFF2-40B4-BE49-F238E27FC236}">
                <a16:creationId xmlns:a16="http://schemas.microsoft.com/office/drawing/2014/main" id="{5F5E9600-A977-CB9C-AA36-88DA4FA51917}"/>
              </a:ext>
            </a:extLst>
          </p:cNvPr>
          <p:cNvSpPr txBox="1"/>
          <p:nvPr/>
        </p:nvSpPr>
        <p:spPr>
          <a:xfrm>
            <a:off x="5783209" y="2992114"/>
            <a:ext cx="1253548" cy="215444"/>
          </a:xfrm>
          <a:prstGeom prst="rect">
            <a:avLst/>
          </a:prstGeom>
          <a:noFill/>
        </p:spPr>
        <p:txBody>
          <a:bodyPr wrap="none" lIns="0" tIns="0" rIns="0" bIns="0" anchor="ctr">
            <a:spAutoFit/>
          </a:bodyPr>
          <a:lstStyle/>
          <a:p>
            <a:pPr algn="ctr"/>
            <a:r>
              <a:rPr sz="1400" b="0" i="0" dirty="0">
                <a:solidFill>
                  <a:srgbClr val="666666"/>
                </a:solidFill>
                <a:latin typeface="Times New Roman" panose="02020603050405020304" pitchFamily="18" charset="0"/>
                <a:cs typeface="Times New Roman" panose="02020603050405020304" pitchFamily="18" charset="0"/>
              </a:rPr>
              <a:t>base construction</a:t>
            </a:r>
          </a:p>
        </p:txBody>
      </p:sp>
      <p:sp>
        <p:nvSpPr>
          <p:cNvPr id="26" name="20_Operation_Arrow">
            <a:extLst>
              <a:ext uri="{FF2B5EF4-FFF2-40B4-BE49-F238E27FC236}">
                <a16:creationId xmlns:a16="http://schemas.microsoft.com/office/drawing/2014/main" id="{D1EAAE14-78A2-B8CE-073A-39A3FF8038AD}"/>
              </a:ext>
            </a:extLst>
          </p:cNvPr>
          <p:cNvSpPr txBox="1"/>
          <p:nvPr/>
        </p:nvSpPr>
        <p:spPr>
          <a:xfrm>
            <a:off x="6276659" y="3135777"/>
            <a:ext cx="121828" cy="292388"/>
          </a:xfrm>
          <a:prstGeom prst="rect">
            <a:avLst/>
          </a:prstGeom>
          <a:noFill/>
        </p:spPr>
        <p:txBody>
          <a:bodyPr wrap="none" lIns="0" tIns="0" rIns="0" bIns="0" anchor="ctr">
            <a:spAutoFit/>
          </a:bodyPr>
          <a:lstStyle/>
          <a:p>
            <a:pPr algn="ctr"/>
            <a:r>
              <a:rPr sz="1900" b="0" i="0">
                <a:solidFill>
                  <a:srgbClr val="00BFFF"/>
                </a:solidFill>
                <a:latin typeface="Times New Roman" panose="02020603050405020304" pitchFamily="18" charset="0"/>
                <a:cs typeface="Times New Roman" panose="02020603050405020304" pitchFamily="18" charset="0"/>
              </a:rPr>
              <a:t>↓</a:t>
            </a:r>
          </a:p>
        </p:txBody>
      </p:sp>
      <p:sp>
        <p:nvSpPr>
          <p:cNvPr id="27" name="20b_Coupling_Note">
            <a:extLst>
              <a:ext uri="{FF2B5EF4-FFF2-40B4-BE49-F238E27FC236}">
                <a16:creationId xmlns:a16="http://schemas.microsoft.com/office/drawing/2014/main" id="{AFF42887-9AF0-718D-2EA9-02B4E900674C}"/>
              </a:ext>
            </a:extLst>
          </p:cNvPr>
          <p:cNvSpPr txBox="1"/>
          <p:nvPr/>
        </p:nvSpPr>
        <p:spPr>
          <a:xfrm>
            <a:off x="6527355" y="3205618"/>
            <a:ext cx="1186222" cy="184666"/>
          </a:xfrm>
          <a:prstGeom prst="rect">
            <a:avLst/>
          </a:prstGeom>
          <a:noFill/>
        </p:spPr>
        <p:txBody>
          <a:bodyPr wrap="none" lIns="0" tIns="0" rIns="0" bIns="0" anchor="ctr">
            <a:spAutoFit/>
          </a:bodyPr>
          <a:lstStyle/>
          <a:p>
            <a:pPr algn="l"/>
            <a:r>
              <a:rPr lang="en-US" sz="1200" b="0" i="0" dirty="0">
                <a:solidFill>
                  <a:srgbClr val="666666"/>
                </a:solidFill>
                <a:latin typeface="Times New Roman" panose="02020603050405020304" pitchFamily="18" charset="0"/>
                <a:cs typeface="Times New Roman" panose="02020603050405020304" pitchFamily="18" charset="0"/>
              </a:rPr>
              <a:t>coupled hypothesis</a:t>
            </a:r>
            <a:endParaRPr sz="1200" b="0" i="0" dirty="0">
              <a:solidFill>
                <a:srgbClr val="666666"/>
              </a:solidFill>
              <a:latin typeface="Times New Roman" panose="02020603050405020304" pitchFamily="18" charset="0"/>
              <a:cs typeface="Times New Roman" panose="02020603050405020304" pitchFamily="18" charset="0"/>
            </a:endParaRPr>
          </a:p>
        </p:txBody>
      </p:sp>
      <p:sp>
        <p:nvSpPr>
          <p:cNvPr id="28" name="21_Operation02_Number">
            <a:extLst>
              <a:ext uri="{FF2B5EF4-FFF2-40B4-BE49-F238E27FC236}">
                <a16:creationId xmlns:a16="http://schemas.microsoft.com/office/drawing/2014/main" id="{DD6B732B-A841-2E2C-AD34-06525103123E}"/>
              </a:ext>
            </a:extLst>
          </p:cNvPr>
          <p:cNvSpPr txBox="1"/>
          <p:nvPr/>
        </p:nvSpPr>
        <p:spPr>
          <a:xfrm>
            <a:off x="4949833" y="3290713"/>
            <a:ext cx="153888" cy="184666"/>
          </a:xfrm>
          <a:prstGeom prst="rect">
            <a:avLst/>
          </a:prstGeom>
          <a:noFill/>
        </p:spPr>
        <p:txBody>
          <a:bodyPr wrap="none" lIns="0" tIns="0" rIns="0" bIns="0" anchor="ctr">
            <a:spAutoFit/>
          </a:bodyPr>
          <a:lstStyle/>
          <a:p>
            <a:pPr algn="l"/>
            <a:r>
              <a:rPr sz="1200" b="0" i="0" dirty="0">
                <a:solidFill>
                  <a:srgbClr val="00BFFF"/>
                </a:solidFill>
                <a:latin typeface="Times New Roman" panose="02020603050405020304" pitchFamily="18" charset="0"/>
                <a:cs typeface="Times New Roman" panose="02020603050405020304" pitchFamily="18" charset="0"/>
              </a:rPr>
              <a:t>02</a:t>
            </a:r>
          </a:p>
        </p:txBody>
      </p:sp>
      <p:sp>
        <p:nvSpPr>
          <p:cNvPr id="30" name="22_Operation02_Box">
            <a:extLst>
              <a:ext uri="{FF2B5EF4-FFF2-40B4-BE49-F238E27FC236}">
                <a16:creationId xmlns:a16="http://schemas.microsoft.com/office/drawing/2014/main" id="{5F0FF99C-BD08-5A2D-8080-E2DF2CF615AA}"/>
              </a:ext>
            </a:extLst>
          </p:cNvPr>
          <p:cNvSpPr/>
          <p:nvPr/>
        </p:nvSpPr>
        <p:spPr>
          <a:xfrm>
            <a:off x="5249437" y="3428275"/>
            <a:ext cx="2331720" cy="502920"/>
          </a:xfrm>
          <a:prstGeom prst="rect">
            <a:avLst/>
          </a:prstGeom>
          <a:solidFill>
            <a:srgbClr val="F8FBFD"/>
          </a:solidFill>
          <a:ln w="1524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1" name="23_Operation02_Title">
            <a:extLst>
              <a:ext uri="{FF2B5EF4-FFF2-40B4-BE49-F238E27FC236}">
                <a16:creationId xmlns:a16="http://schemas.microsoft.com/office/drawing/2014/main" id="{EE7EB9C7-CA60-87AC-5B93-830863500152}"/>
              </a:ext>
            </a:extLst>
          </p:cNvPr>
          <p:cNvSpPr txBox="1"/>
          <p:nvPr/>
        </p:nvSpPr>
        <p:spPr>
          <a:xfrm>
            <a:off x="5646513" y="3556699"/>
            <a:ext cx="1493293" cy="261610"/>
          </a:xfrm>
          <a:prstGeom prst="rect">
            <a:avLst/>
          </a:prstGeom>
          <a:noFill/>
        </p:spPr>
        <p:txBody>
          <a:bodyPr wrap="none" lIns="0" tIns="0" rIns="0" bIns="0" anchor="ctr">
            <a:spAutoFit/>
          </a:bodyPr>
          <a:lstStyle/>
          <a:p>
            <a:pPr algn="ctr"/>
            <a:r>
              <a:rPr sz="1700" b="1" i="0" dirty="0">
                <a:solidFill>
                  <a:srgbClr val="111111"/>
                </a:solidFill>
                <a:latin typeface="Times New Roman" panose="02020603050405020304" pitchFamily="18" charset="0"/>
                <a:cs typeface="Times New Roman" panose="02020603050405020304" pitchFamily="18" charset="0"/>
              </a:rPr>
              <a:t>Cut </a:t>
            </a:r>
            <a:r>
              <a:rPr sz="1700" b="1" i="0" dirty="0" err="1">
                <a:solidFill>
                  <a:srgbClr val="111111"/>
                </a:solidFill>
                <a:latin typeface="Times New Roman" panose="02020603050405020304" pitchFamily="18" charset="0"/>
                <a:cs typeface="Times New Roman" panose="02020603050405020304" pitchFamily="18" charset="0"/>
              </a:rPr>
              <a:t>through_all</a:t>
            </a:r>
            <a:endParaRPr sz="1700" b="1" i="0" dirty="0">
              <a:solidFill>
                <a:srgbClr val="111111"/>
              </a:solidFill>
              <a:latin typeface="Times New Roman" panose="02020603050405020304" pitchFamily="18" charset="0"/>
              <a:cs typeface="Times New Roman" panose="02020603050405020304" pitchFamily="18" charset="0"/>
            </a:endParaRPr>
          </a:p>
        </p:txBody>
      </p:sp>
      <p:sp>
        <p:nvSpPr>
          <p:cNvPr id="37" name="24_Operation02_Subtitle">
            <a:extLst>
              <a:ext uri="{FF2B5EF4-FFF2-40B4-BE49-F238E27FC236}">
                <a16:creationId xmlns:a16="http://schemas.microsoft.com/office/drawing/2014/main" id="{E9C750CA-F2E6-1DE6-5D82-A4BA562B7B93}"/>
              </a:ext>
            </a:extLst>
          </p:cNvPr>
          <p:cNvSpPr txBox="1"/>
          <p:nvPr/>
        </p:nvSpPr>
        <p:spPr>
          <a:xfrm>
            <a:off x="5310591" y="3933201"/>
            <a:ext cx="2218557" cy="215444"/>
          </a:xfrm>
          <a:prstGeom prst="rect">
            <a:avLst/>
          </a:prstGeom>
          <a:noFill/>
        </p:spPr>
        <p:txBody>
          <a:bodyPr wrap="none" lIns="0" tIns="0" rIns="0" bIns="0" anchor="ctr">
            <a:spAutoFit/>
          </a:bodyPr>
          <a:lstStyle/>
          <a:p>
            <a:pPr algn="ctr"/>
            <a:r>
              <a:rPr sz="1400" b="0" i="0" dirty="0">
                <a:solidFill>
                  <a:srgbClr val="666666"/>
                </a:solidFill>
                <a:latin typeface="Times New Roman" panose="02020603050405020304" pitchFamily="18" charset="0"/>
                <a:cs typeface="Times New Roman" panose="02020603050405020304" pitchFamily="18" charset="0"/>
              </a:rPr>
              <a:t>straight cylindrical through cut</a:t>
            </a:r>
          </a:p>
        </p:txBody>
      </p:sp>
      <p:sp>
        <p:nvSpPr>
          <p:cNvPr id="43" name="25_Replay_Arrow">
            <a:extLst>
              <a:ext uri="{FF2B5EF4-FFF2-40B4-BE49-F238E27FC236}">
                <a16:creationId xmlns:a16="http://schemas.microsoft.com/office/drawing/2014/main" id="{9CE30681-2F55-8A59-C897-70A6EFEFD39F}"/>
              </a:ext>
            </a:extLst>
          </p:cNvPr>
          <p:cNvSpPr txBox="1"/>
          <p:nvPr/>
        </p:nvSpPr>
        <p:spPr>
          <a:xfrm>
            <a:off x="6279865" y="4071588"/>
            <a:ext cx="115416" cy="276999"/>
          </a:xfrm>
          <a:prstGeom prst="rect">
            <a:avLst/>
          </a:prstGeom>
          <a:noFill/>
        </p:spPr>
        <p:txBody>
          <a:bodyPr wrap="none" lIns="0" tIns="0" rIns="0" bIns="0" anchor="ctr">
            <a:spAutoFit/>
          </a:bodyPr>
          <a:lstStyle/>
          <a:p>
            <a:pPr algn="ctr"/>
            <a:r>
              <a:rPr sz="1800" b="0" i="0">
                <a:solidFill>
                  <a:srgbClr val="00BFFF"/>
                </a:solidFill>
                <a:latin typeface="Times New Roman" panose="02020603050405020304" pitchFamily="18" charset="0"/>
                <a:cs typeface="Times New Roman" panose="02020603050405020304" pitchFamily="18" charset="0"/>
              </a:rPr>
              <a:t>↓</a:t>
            </a:r>
          </a:p>
        </p:txBody>
      </p:sp>
      <p:sp>
        <p:nvSpPr>
          <p:cNvPr id="44" name="26_Fusion_Replay_Label">
            <a:extLst>
              <a:ext uri="{FF2B5EF4-FFF2-40B4-BE49-F238E27FC236}">
                <a16:creationId xmlns:a16="http://schemas.microsoft.com/office/drawing/2014/main" id="{5E1FCB84-A0E1-E582-B7A7-629E06C98AE7}"/>
              </a:ext>
            </a:extLst>
          </p:cNvPr>
          <p:cNvSpPr txBox="1"/>
          <p:nvPr/>
        </p:nvSpPr>
        <p:spPr>
          <a:xfrm>
            <a:off x="5813423" y="4354891"/>
            <a:ext cx="1048300" cy="215444"/>
          </a:xfrm>
          <a:prstGeom prst="rect">
            <a:avLst/>
          </a:prstGeom>
          <a:noFill/>
        </p:spPr>
        <p:txBody>
          <a:bodyPr wrap="none" lIns="0" tIns="0" rIns="0" bIns="0" anchor="ctr">
            <a:spAutoFit/>
          </a:bodyPr>
          <a:lstStyle/>
          <a:p>
            <a:pPr algn="ctr"/>
            <a:r>
              <a:rPr sz="1400" b="1" i="0" dirty="0">
                <a:solidFill>
                  <a:srgbClr val="071A55"/>
                </a:solidFill>
                <a:latin typeface="Times New Roman" panose="02020603050405020304" pitchFamily="18" charset="0"/>
                <a:cs typeface="Times New Roman" panose="02020603050405020304" pitchFamily="18" charset="0"/>
              </a:rPr>
              <a:t>Fusion replay</a:t>
            </a:r>
          </a:p>
        </p:txBody>
      </p:sp>
      <p:sp>
        <p:nvSpPr>
          <p:cNvPr id="63" name="30_Validation_Subtitle">
            <a:extLst>
              <a:ext uri="{FF2B5EF4-FFF2-40B4-BE49-F238E27FC236}">
                <a16:creationId xmlns:a16="http://schemas.microsoft.com/office/drawing/2014/main" id="{4276C8A8-F71B-3F02-7885-E78BE0FE0B2F}"/>
              </a:ext>
            </a:extLst>
          </p:cNvPr>
          <p:cNvSpPr txBox="1"/>
          <p:nvPr/>
        </p:nvSpPr>
        <p:spPr>
          <a:xfrm>
            <a:off x="8831737" y="1973291"/>
            <a:ext cx="2938305" cy="215444"/>
          </a:xfrm>
          <a:prstGeom prst="rect">
            <a:avLst/>
          </a:prstGeom>
          <a:noFill/>
        </p:spPr>
        <p:txBody>
          <a:bodyPr wrap="none" lIns="0" tIns="0" rIns="0" bIns="0" anchor="ctr">
            <a:spAutoFit/>
          </a:bodyPr>
          <a:lstStyle/>
          <a:p>
            <a:pPr algn="l"/>
            <a:r>
              <a:rPr sz="1400" b="0" i="0" dirty="0">
                <a:solidFill>
                  <a:srgbClr val="666666"/>
                </a:solidFill>
                <a:latin typeface="Times New Roman" panose="02020603050405020304" pitchFamily="18" charset="0"/>
                <a:cs typeface="Times New Roman" panose="02020603050405020304" pitchFamily="18" charset="0"/>
              </a:rPr>
              <a:t>Frozen checks for this construction route</a:t>
            </a:r>
          </a:p>
        </p:txBody>
      </p:sp>
      <p:sp>
        <p:nvSpPr>
          <p:cNvPr id="64" name="31_Geometry_Label">
            <a:extLst>
              <a:ext uri="{FF2B5EF4-FFF2-40B4-BE49-F238E27FC236}">
                <a16:creationId xmlns:a16="http://schemas.microsoft.com/office/drawing/2014/main" id="{7E5EF033-461F-5C92-9AEB-2A35AC54FBC6}"/>
              </a:ext>
            </a:extLst>
          </p:cNvPr>
          <p:cNvSpPr txBox="1"/>
          <p:nvPr/>
        </p:nvSpPr>
        <p:spPr>
          <a:xfrm>
            <a:off x="8855544" y="2290071"/>
            <a:ext cx="880049" cy="246221"/>
          </a:xfrm>
          <a:prstGeom prst="rect">
            <a:avLst/>
          </a:prstGeom>
          <a:noFill/>
        </p:spPr>
        <p:txBody>
          <a:bodyPr wrap="none" lIns="0" tIns="0" rIns="0" bIns="0" anchor="ctr">
            <a:spAutoFit/>
          </a:bodyPr>
          <a:lstStyle/>
          <a:p>
            <a:pPr algn="l"/>
            <a:r>
              <a:rPr sz="1600" b="1" i="0">
                <a:solidFill>
                  <a:srgbClr val="111111"/>
                </a:solidFill>
                <a:latin typeface="Times New Roman" panose="02020603050405020304" pitchFamily="18" charset="0"/>
                <a:cs typeface="Times New Roman" panose="02020603050405020304" pitchFamily="18" charset="0"/>
              </a:rPr>
              <a:t>Geometry</a:t>
            </a:r>
          </a:p>
        </p:txBody>
      </p:sp>
      <p:sp>
        <p:nvSpPr>
          <p:cNvPr id="65" name="32_Geometry_Check">
            <a:extLst>
              <a:ext uri="{FF2B5EF4-FFF2-40B4-BE49-F238E27FC236}">
                <a16:creationId xmlns:a16="http://schemas.microsoft.com/office/drawing/2014/main" id="{2EF4B858-41D3-131B-0DA0-C3F4F4D0EB49}"/>
              </a:ext>
            </a:extLst>
          </p:cNvPr>
          <p:cNvSpPr txBox="1"/>
          <p:nvPr/>
        </p:nvSpPr>
        <p:spPr>
          <a:xfrm>
            <a:off x="8855544" y="2559820"/>
            <a:ext cx="153888" cy="246221"/>
          </a:xfrm>
          <a:prstGeom prst="rect">
            <a:avLst/>
          </a:prstGeom>
          <a:noFill/>
        </p:spPr>
        <p:txBody>
          <a:bodyPr wrap="none" lIns="0" tIns="0" rIns="0" bIns="0" anchor="ctr">
            <a:spAutoFit/>
          </a:bodyPr>
          <a:lstStyle/>
          <a:p>
            <a:pPr algn="l"/>
            <a:r>
              <a:rPr sz="1600" b="1" i="0">
                <a:solidFill>
                  <a:srgbClr val="20A060"/>
                </a:solidFill>
                <a:latin typeface="Times New Roman" panose="02020603050405020304" pitchFamily="18" charset="0"/>
                <a:cs typeface="Times New Roman" panose="02020603050405020304" pitchFamily="18" charset="0"/>
              </a:rPr>
              <a:t>✓</a:t>
            </a:r>
          </a:p>
        </p:txBody>
      </p:sp>
      <p:sp>
        <p:nvSpPr>
          <p:cNvPr id="66" name="33_Geometry_PASS">
            <a:extLst>
              <a:ext uri="{FF2B5EF4-FFF2-40B4-BE49-F238E27FC236}">
                <a16:creationId xmlns:a16="http://schemas.microsoft.com/office/drawing/2014/main" id="{DBAAE967-9DF4-2D58-A5FD-85F69DEC8733}"/>
              </a:ext>
            </a:extLst>
          </p:cNvPr>
          <p:cNvSpPr txBox="1"/>
          <p:nvPr/>
        </p:nvSpPr>
        <p:spPr>
          <a:xfrm>
            <a:off x="9148152" y="2559820"/>
            <a:ext cx="484876" cy="246221"/>
          </a:xfrm>
          <a:prstGeom prst="rect">
            <a:avLst/>
          </a:prstGeom>
          <a:noFill/>
        </p:spPr>
        <p:txBody>
          <a:bodyPr wrap="none" lIns="0" tIns="0" rIns="0" bIns="0" anchor="ctr">
            <a:spAutoFit/>
          </a:bodyPr>
          <a:lstStyle/>
          <a:p>
            <a:pPr algn="l"/>
            <a:r>
              <a:rPr sz="1600" b="1" i="0">
                <a:solidFill>
                  <a:srgbClr val="20A060"/>
                </a:solidFill>
                <a:latin typeface="Times New Roman" panose="02020603050405020304" pitchFamily="18" charset="0"/>
                <a:cs typeface="Times New Roman" panose="02020603050405020304" pitchFamily="18" charset="0"/>
              </a:rPr>
              <a:t>PASS</a:t>
            </a:r>
          </a:p>
        </p:txBody>
      </p:sp>
      <p:sp>
        <p:nvSpPr>
          <p:cNvPr id="67" name="34_Base_Label">
            <a:extLst>
              <a:ext uri="{FF2B5EF4-FFF2-40B4-BE49-F238E27FC236}">
                <a16:creationId xmlns:a16="http://schemas.microsoft.com/office/drawing/2014/main" id="{26234BDD-FDE8-D3E0-07AB-974073D9AADC}"/>
              </a:ext>
            </a:extLst>
          </p:cNvPr>
          <p:cNvSpPr txBox="1"/>
          <p:nvPr/>
        </p:nvSpPr>
        <p:spPr>
          <a:xfrm>
            <a:off x="8855544" y="3021591"/>
            <a:ext cx="1284006" cy="246221"/>
          </a:xfrm>
          <a:prstGeom prst="rect">
            <a:avLst/>
          </a:prstGeom>
          <a:noFill/>
        </p:spPr>
        <p:txBody>
          <a:bodyPr wrap="none" lIns="0" tIns="0" rIns="0" bIns="0" anchor="ctr">
            <a:spAutoFit/>
          </a:bodyPr>
          <a:lstStyle/>
          <a:p>
            <a:pPr algn="l"/>
            <a:r>
              <a:rPr sz="1600" b="1" i="0">
                <a:solidFill>
                  <a:srgbClr val="111111"/>
                </a:solidFill>
                <a:latin typeface="Times New Roman" panose="02020603050405020304" pitchFamily="18" charset="0"/>
                <a:cs typeface="Times New Roman" panose="02020603050405020304" pitchFamily="18" charset="0"/>
              </a:rPr>
              <a:t>Base geometry</a:t>
            </a:r>
          </a:p>
        </p:txBody>
      </p:sp>
      <p:sp>
        <p:nvSpPr>
          <p:cNvPr id="69" name="35_Base_Check">
            <a:extLst>
              <a:ext uri="{FF2B5EF4-FFF2-40B4-BE49-F238E27FC236}">
                <a16:creationId xmlns:a16="http://schemas.microsoft.com/office/drawing/2014/main" id="{0735980C-81A1-E483-6DF3-EAFACAEC9E9C}"/>
              </a:ext>
            </a:extLst>
          </p:cNvPr>
          <p:cNvSpPr txBox="1"/>
          <p:nvPr/>
        </p:nvSpPr>
        <p:spPr>
          <a:xfrm>
            <a:off x="8855544" y="3291340"/>
            <a:ext cx="153888" cy="246221"/>
          </a:xfrm>
          <a:prstGeom prst="rect">
            <a:avLst/>
          </a:prstGeom>
          <a:noFill/>
        </p:spPr>
        <p:txBody>
          <a:bodyPr wrap="none" lIns="0" tIns="0" rIns="0" bIns="0" anchor="ctr">
            <a:spAutoFit/>
          </a:bodyPr>
          <a:lstStyle/>
          <a:p>
            <a:pPr algn="l"/>
            <a:r>
              <a:rPr sz="1600" b="1" i="0">
                <a:solidFill>
                  <a:srgbClr val="20A060"/>
                </a:solidFill>
                <a:latin typeface="Times New Roman" panose="02020603050405020304" pitchFamily="18" charset="0"/>
                <a:cs typeface="Times New Roman" panose="02020603050405020304" pitchFamily="18" charset="0"/>
              </a:rPr>
              <a:t>✓</a:t>
            </a:r>
          </a:p>
        </p:txBody>
      </p:sp>
      <p:sp>
        <p:nvSpPr>
          <p:cNvPr id="71" name="36_Base_PASS">
            <a:extLst>
              <a:ext uri="{FF2B5EF4-FFF2-40B4-BE49-F238E27FC236}">
                <a16:creationId xmlns:a16="http://schemas.microsoft.com/office/drawing/2014/main" id="{01D2002B-7215-65A8-73B6-7217C503D8D9}"/>
              </a:ext>
            </a:extLst>
          </p:cNvPr>
          <p:cNvSpPr txBox="1"/>
          <p:nvPr/>
        </p:nvSpPr>
        <p:spPr>
          <a:xfrm>
            <a:off x="9148152" y="3291340"/>
            <a:ext cx="484876" cy="246221"/>
          </a:xfrm>
          <a:prstGeom prst="rect">
            <a:avLst/>
          </a:prstGeom>
          <a:noFill/>
        </p:spPr>
        <p:txBody>
          <a:bodyPr wrap="none" lIns="0" tIns="0" rIns="0" bIns="0" anchor="ctr">
            <a:spAutoFit/>
          </a:bodyPr>
          <a:lstStyle/>
          <a:p>
            <a:pPr algn="l"/>
            <a:r>
              <a:rPr sz="1600" b="1" i="0">
                <a:solidFill>
                  <a:srgbClr val="20A060"/>
                </a:solidFill>
                <a:latin typeface="Times New Roman" panose="02020603050405020304" pitchFamily="18" charset="0"/>
                <a:cs typeface="Times New Roman" panose="02020603050405020304" pitchFamily="18" charset="0"/>
              </a:rPr>
              <a:t>PASS</a:t>
            </a:r>
          </a:p>
        </p:txBody>
      </p:sp>
      <p:sp>
        <p:nvSpPr>
          <p:cNvPr id="73" name="37_Feature_Label">
            <a:extLst>
              <a:ext uri="{FF2B5EF4-FFF2-40B4-BE49-F238E27FC236}">
                <a16:creationId xmlns:a16="http://schemas.microsoft.com/office/drawing/2014/main" id="{7CA0DFEF-FC98-8183-5C69-6A2D046584AD}"/>
              </a:ext>
            </a:extLst>
          </p:cNvPr>
          <p:cNvSpPr txBox="1"/>
          <p:nvPr/>
        </p:nvSpPr>
        <p:spPr>
          <a:xfrm>
            <a:off x="8855544" y="3753111"/>
            <a:ext cx="1687450" cy="246221"/>
          </a:xfrm>
          <a:prstGeom prst="rect">
            <a:avLst/>
          </a:prstGeom>
          <a:noFill/>
        </p:spPr>
        <p:txBody>
          <a:bodyPr wrap="none" lIns="0" tIns="0" rIns="0" bIns="0" anchor="ctr">
            <a:spAutoFit/>
          </a:bodyPr>
          <a:lstStyle/>
          <a:p>
            <a:pPr algn="l"/>
            <a:r>
              <a:rPr lang="en-US" sz="1600" b="1" i="0" dirty="0">
                <a:solidFill>
                  <a:srgbClr val="111111"/>
                </a:solidFill>
                <a:latin typeface="Times New Roman" panose="02020603050405020304" pitchFamily="18" charset="0"/>
                <a:cs typeface="Times New Roman" panose="02020603050405020304" pitchFamily="18" charset="0"/>
              </a:rPr>
              <a:t>Hole feature match</a:t>
            </a:r>
            <a:endParaRPr sz="1600" b="1" i="0" dirty="0">
              <a:solidFill>
                <a:srgbClr val="111111"/>
              </a:solidFill>
              <a:latin typeface="Times New Roman" panose="02020603050405020304" pitchFamily="18" charset="0"/>
              <a:cs typeface="Times New Roman" panose="02020603050405020304" pitchFamily="18" charset="0"/>
            </a:endParaRPr>
          </a:p>
        </p:txBody>
      </p:sp>
      <p:sp>
        <p:nvSpPr>
          <p:cNvPr id="74" name="38_Feature_Check">
            <a:extLst>
              <a:ext uri="{FF2B5EF4-FFF2-40B4-BE49-F238E27FC236}">
                <a16:creationId xmlns:a16="http://schemas.microsoft.com/office/drawing/2014/main" id="{423B9D4D-8C44-E8C2-4040-0D804DFDF0BA}"/>
              </a:ext>
            </a:extLst>
          </p:cNvPr>
          <p:cNvSpPr txBox="1"/>
          <p:nvPr/>
        </p:nvSpPr>
        <p:spPr>
          <a:xfrm>
            <a:off x="8855544" y="4022860"/>
            <a:ext cx="153888" cy="246221"/>
          </a:xfrm>
          <a:prstGeom prst="rect">
            <a:avLst/>
          </a:prstGeom>
          <a:noFill/>
        </p:spPr>
        <p:txBody>
          <a:bodyPr wrap="none" lIns="0" tIns="0" rIns="0" bIns="0" anchor="ctr">
            <a:spAutoFit/>
          </a:bodyPr>
          <a:lstStyle/>
          <a:p>
            <a:pPr algn="l"/>
            <a:r>
              <a:rPr sz="1600" b="1" i="0">
                <a:solidFill>
                  <a:srgbClr val="20A060"/>
                </a:solidFill>
                <a:latin typeface="Times New Roman" panose="02020603050405020304" pitchFamily="18" charset="0"/>
                <a:cs typeface="Times New Roman" panose="02020603050405020304" pitchFamily="18" charset="0"/>
              </a:rPr>
              <a:t>✓</a:t>
            </a:r>
          </a:p>
        </p:txBody>
      </p:sp>
      <p:sp>
        <p:nvSpPr>
          <p:cNvPr id="75" name="39_Feature_PASS">
            <a:extLst>
              <a:ext uri="{FF2B5EF4-FFF2-40B4-BE49-F238E27FC236}">
                <a16:creationId xmlns:a16="http://schemas.microsoft.com/office/drawing/2014/main" id="{AF642C1D-2962-97B4-0EA6-2E58B7C29C70}"/>
              </a:ext>
            </a:extLst>
          </p:cNvPr>
          <p:cNvSpPr txBox="1"/>
          <p:nvPr/>
        </p:nvSpPr>
        <p:spPr>
          <a:xfrm>
            <a:off x="9148152" y="4022860"/>
            <a:ext cx="484876" cy="246221"/>
          </a:xfrm>
          <a:prstGeom prst="rect">
            <a:avLst/>
          </a:prstGeom>
          <a:noFill/>
        </p:spPr>
        <p:txBody>
          <a:bodyPr wrap="none" lIns="0" tIns="0" rIns="0" bIns="0" anchor="ctr">
            <a:spAutoFit/>
          </a:bodyPr>
          <a:lstStyle/>
          <a:p>
            <a:pPr algn="l"/>
            <a:r>
              <a:rPr sz="1600" b="1" i="0">
                <a:solidFill>
                  <a:srgbClr val="20A060"/>
                </a:solidFill>
                <a:latin typeface="Times New Roman" panose="02020603050405020304" pitchFamily="18" charset="0"/>
                <a:cs typeface="Times New Roman" panose="02020603050405020304" pitchFamily="18" charset="0"/>
              </a:rPr>
              <a:t>PASS</a:t>
            </a:r>
          </a:p>
        </p:txBody>
      </p:sp>
      <p:cxnSp>
        <p:nvCxnSpPr>
          <p:cNvPr id="76" name="39a_Validation_Sep1">
            <a:extLst>
              <a:ext uri="{FF2B5EF4-FFF2-40B4-BE49-F238E27FC236}">
                <a16:creationId xmlns:a16="http://schemas.microsoft.com/office/drawing/2014/main" id="{56E6908A-0A45-CD29-4D81-E63F9FD851EF}"/>
              </a:ext>
            </a:extLst>
          </p:cNvPr>
          <p:cNvCxnSpPr/>
          <p:nvPr/>
        </p:nvCxnSpPr>
        <p:spPr>
          <a:xfrm>
            <a:off x="8809824" y="2884098"/>
            <a:ext cx="2697480" cy="0"/>
          </a:xfrm>
          <a:prstGeom prst="line">
            <a:avLst/>
          </a:prstGeom>
          <a:ln w="6985">
            <a:solidFill>
              <a:srgbClr val="E7EAED"/>
            </a:solidFill>
          </a:ln>
        </p:spPr>
        <p:style>
          <a:lnRef idx="2">
            <a:schemeClr val="accent1"/>
          </a:lnRef>
          <a:fillRef idx="0">
            <a:schemeClr val="accent1"/>
          </a:fillRef>
          <a:effectRef idx="1">
            <a:schemeClr val="accent1"/>
          </a:effectRef>
          <a:fontRef idx="minor">
            <a:schemeClr val="tx1"/>
          </a:fontRef>
        </p:style>
      </p:cxnSp>
      <p:cxnSp>
        <p:nvCxnSpPr>
          <p:cNvPr id="77" name="39b_Validation_Sep2">
            <a:extLst>
              <a:ext uri="{FF2B5EF4-FFF2-40B4-BE49-F238E27FC236}">
                <a16:creationId xmlns:a16="http://schemas.microsoft.com/office/drawing/2014/main" id="{2DF0FD58-57BC-E514-688E-9B838F6511DE}"/>
              </a:ext>
            </a:extLst>
          </p:cNvPr>
          <p:cNvCxnSpPr/>
          <p:nvPr/>
        </p:nvCxnSpPr>
        <p:spPr>
          <a:xfrm>
            <a:off x="8809824" y="3615618"/>
            <a:ext cx="2697480" cy="0"/>
          </a:xfrm>
          <a:prstGeom prst="line">
            <a:avLst/>
          </a:prstGeom>
          <a:ln w="6985">
            <a:solidFill>
              <a:srgbClr val="E7EAED"/>
            </a:solidFill>
          </a:ln>
        </p:spPr>
        <p:style>
          <a:lnRef idx="2">
            <a:schemeClr val="accent1"/>
          </a:lnRef>
          <a:fillRef idx="0">
            <a:schemeClr val="accent1"/>
          </a:fillRef>
          <a:effectRef idx="1">
            <a:schemeClr val="accent1"/>
          </a:effectRef>
          <a:fontRef idx="minor">
            <a:schemeClr val="tx1"/>
          </a:fontRef>
        </p:style>
      </p:cxnSp>
      <p:sp>
        <p:nvSpPr>
          <p:cNvPr id="78" name="40_Validation_Route_Note">
            <a:extLst>
              <a:ext uri="{FF2B5EF4-FFF2-40B4-BE49-F238E27FC236}">
                <a16:creationId xmlns:a16="http://schemas.microsoft.com/office/drawing/2014/main" id="{CC37D651-A987-5F0F-7CDE-36262F971AC1}"/>
              </a:ext>
            </a:extLst>
          </p:cNvPr>
          <p:cNvSpPr txBox="1"/>
          <p:nvPr/>
        </p:nvSpPr>
        <p:spPr>
          <a:xfrm>
            <a:off x="8809824" y="4415605"/>
            <a:ext cx="1421864" cy="338554"/>
          </a:xfrm>
          <a:prstGeom prst="rect">
            <a:avLst/>
          </a:prstGeom>
          <a:noFill/>
        </p:spPr>
        <p:txBody>
          <a:bodyPr wrap="none" lIns="0" tIns="0" rIns="0" bIns="0" anchor="ctr">
            <a:spAutoFit/>
          </a:bodyPr>
          <a:lstStyle/>
          <a:p>
            <a:pPr algn="l"/>
            <a:r>
              <a:rPr sz="1100" b="0" i="0">
                <a:solidFill>
                  <a:srgbClr val="666666"/>
                </a:solidFill>
                <a:latin typeface="Times New Roman" panose="02020603050405020304" pitchFamily="18" charset="0"/>
                <a:cs typeface="Times New Roman" panose="02020603050405020304" pitchFamily="18" charset="0"/>
              </a:rPr>
              <a:t>All checks use the frozen
Gate 3 validation route</a:t>
            </a:r>
          </a:p>
        </p:txBody>
      </p:sp>
      <p:cxnSp>
        <p:nvCxnSpPr>
          <p:cNvPr id="79" name="41_Footer_Divider">
            <a:extLst>
              <a:ext uri="{FF2B5EF4-FFF2-40B4-BE49-F238E27FC236}">
                <a16:creationId xmlns:a16="http://schemas.microsoft.com/office/drawing/2014/main" id="{0EEEA59B-C5C0-D27D-3B7B-79D6970AFB01}"/>
              </a:ext>
            </a:extLst>
          </p:cNvPr>
          <p:cNvCxnSpPr/>
          <p:nvPr/>
        </p:nvCxnSpPr>
        <p:spPr>
          <a:xfrm>
            <a:off x="632460" y="5661248"/>
            <a:ext cx="10927080" cy="0"/>
          </a:xfrm>
          <a:prstGeom prst="line">
            <a:avLst/>
          </a:prstGeom>
          <a:ln w="8890">
            <a:solidFill>
              <a:srgbClr val="D9DEE3"/>
            </a:solidFill>
          </a:ln>
        </p:spPr>
        <p:style>
          <a:lnRef idx="2">
            <a:schemeClr val="accent1"/>
          </a:lnRef>
          <a:fillRef idx="0">
            <a:schemeClr val="accent1"/>
          </a:fillRef>
          <a:effectRef idx="1">
            <a:schemeClr val="accent1"/>
          </a:effectRef>
          <a:fontRef idx="minor">
            <a:schemeClr val="tx1"/>
          </a:fontRef>
        </p:style>
      </p:cxnSp>
      <p:sp>
        <p:nvSpPr>
          <p:cNvPr id="80" name="42_Footer_DemoRole">
            <a:extLst>
              <a:ext uri="{FF2B5EF4-FFF2-40B4-BE49-F238E27FC236}">
                <a16:creationId xmlns:a16="http://schemas.microsoft.com/office/drawing/2014/main" id="{E2196870-A84F-EA29-45D0-AA44A5E21855}"/>
              </a:ext>
            </a:extLst>
          </p:cNvPr>
          <p:cNvSpPr txBox="1"/>
          <p:nvPr/>
        </p:nvSpPr>
        <p:spPr>
          <a:xfrm>
            <a:off x="627706" y="5998827"/>
            <a:ext cx="1436291" cy="430887"/>
          </a:xfrm>
          <a:prstGeom prst="rect">
            <a:avLst/>
          </a:prstGeom>
          <a:noFill/>
        </p:spPr>
        <p:txBody>
          <a:bodyPr wrap="none" lIns="0" tIns="0" rIns="0" bIns="0" anchor="ctr">
            <a:spAutoFit/>
          </a:bodyPr>
          <a:lstStyle/>
          <a:p>
            <a:pPr algn="l"/>
            <a:r>
              <a:rPr lang="en-US" sz="1400" b="0" i="0" dirty="0">
                <a:solidFill>
                  <a:srgbClr val="666666"/>
                </a:solidFill>
                <a:latin typeface="Times New Roman" panose="02020603050405020304" pitchFamily="18" charset="0"/>
                <a:cs typeface="Times New Roman" panose="02020603050405020304" pitchFamily="18" charset="0"/>
              </a:rPr>
              <a:t>evidence_role</a:t>
            </a:r>
          </a:p>
          <a:p>
            <a:pPr algn="l"/>
            <a:r>
              <a:rPr lang="en-US" sz="1400" b="0" i="0" dirty="0">
                <a:solidFill>
                  <a:srgbClr val="666666"/>
                </a:solidFill>
                <a:latin typeface="Times New Roman" panose="02020603050405020304" pitchFamily="18" charset="0"/>
                <a:cs typeface="Times New Roman" panose="02020603050405020304" pitchFamily="18" charset="0"/>
              </a:rPr>
              <a:t>demonstration_only</a:t>
            </a:r>
            <a:endParaRPr sz="1400" b="0" i="0" dirty="0">
              <a:solidFill>
                <a:srgbClr val="666666"/>
              </a:solidFill>
              <a:latin typeface="Times New Roman" panose="02020603050405020304" pitchFamily="18" charset="0"/>
              <a:cs typeface="Times New Roman" panose="02020603050405020304" pitchFamily="18" charset="0"/>
            </a:endParaRPr>
          </a:p>
        </p:txBody>
      </p:sp>
      <p:sp>
        <p:nvSpPr>
          <p:cNvPr id="81" name="43_Footer_FormalEvaluation">
            <a:extLst>
              <a:ext uri="{FF2B5EF4-FFF2-40B4-BE49-F238E27FC236}">
                <a16:creationId xmlns:a16="http://schemas.microsoft.com/office/drawing/2014/main" id="{09D2963E-148F-B8EE-A79D-8212D3DF5A85}"/>
              </a:ext>
            </a:extLst>
          </p:cNvPr>
          <p:cNvSpPr txBox="1"/>
          <p:nvPr/>
        </p:nvSpPr>
        <p:spPr>
          <a:xfrm>
            <a:off x="2773066" y="6008919"/>
            <a:ext cx="1316066" cy="430887"/>
          </a:xfrm>
          <a:prstGeom prst="rect">
            <a:avLst/>
          </a:prstGeom>
          <a:noFill/>
        </p:spPr>
        <p:txBody>
          <a:bodyPr wrap="none" lIns="0" tIns="0" rIns="0" bIns="0" anchor="ctr">
            <a:spAutoFit/>
          </a:bodyPr>
          <a:lstStyle/>
          <a:p>
            <a:r>
              <a:rPr lang="en-US" sz="1400" dirty="0">
                <a:solidFill>
                  <a:srgbClr val="666666"/>
                </a:solidFill>
                <a:latin typeface="Times New Roman" panose="02020603050405020304" pitchFamily="18" charset="0"/>
                <a:cs typeface="Times New Roman" panose="02020603050405020304" pitchFamily="18" charset="0"/>
              </a:rPr>
              <a:t>formal_evaluation</a:t>
            </a:r>
          </a:p>
          <a:p>
            <a:r>
              <a:rPr lang="en-US" sz="1400" dirty="0">
                <a:solidFill>
                  <a:srgbClr val="666666"/>
                </a:solidFill>
                <a:latin typeface="Times New Roman" panose="02020603050405020304" pitchFamily="18" charset="0"/>
                <a:cs typeface="Times New Roman" panose="02020603050405020304" pitchFamily="18" charset="0"/>
              </a:rPr>
              <a:t>false</a:t>
            </a:r>
            <a:endParaRPr sz="1400" b="0" i="0" dirty="0">
              <a:solidFill>
                <a:srgbClr val="666666"/>
              </a:solidFill>
              <a:latin typeface="Times New Roman" panose="02020603050405020304" pitchFamily="18" charset="0"/>
              <a:cs typeface="Times New Roman" panose="02020603050405020304" pitchFamily="18" charset="0"/>
            </a:endParaRPr>
          </a:p>
        </p:txBody>
      </p:sp>
      <p:sp>
        <p:nvSpPr>
          <p:cNvPr id="82" name="44_Footer_SourceSplit">
            <a:extLst>
              <a:ext uri="{FF2B5EF4-FFF2-40B4-BE49-F238E27FC236}">
                <a16:creationId xmlns:a16="http://schemas.microsoft.com/office/drawing/2014/main" id="{8A7F823B-CEED-E690-408E-3BC258C5DDCF}"/>
              </a:ext>
            </a:extLst>
          </p:cNvPr>
          <p:cNvSpPr txBox="1"/>
          <p:nvPr/>
        </p:nvSpPr>
        <p:spPr>
          <a:xfrm>
            <a:off x="4798202" y="6003401"/>
            <a:ext cx="928139" cy="430887"/>
          </a:xfrm>
          <a:prstGeom prst="rect">
            <a:avLst/>
          </a:prstGeom>
          <a:noFill/>
        </p:spPr>
        <p:txBody>
          <a:bodyPr wrap="none" lIns="0" tIns="0" rIns="0" bIns="0" anchor="ctr">
            <a:spAutoFit/>
          </a:bodyPr>
          <a:lstStyle/>
          <a:p>
            <a:r>
              <a:rPr lang="en-US" sz="1400" dirty="0">
                <a:solidFill>
                  <a:srgbClr val="666666"/>
                </a:solidFill>
                <a:latin typeface="Times New Roman" panose="02020603050405020304" pitchFamily="18" charset="0"/>
                <a:cs typeface="Times New Roman" panose="02020603050405020304" pitchFamily="18" charset="0"/>
              </a:rPr>
              <a:t>source_split</a:t>
            </a:r>
          </a:p>
          <a:p>
            <a:r>
              <a:rPr lang="en-US" sz="1400" dirty="0">
                <a:solidFill>
                  <a:srgbClr val="666666"/>
                </a:solidFill>
                <a:latin typeface="Times New Roman" panose="02020603050405020304" pitchFamily="18" charset="0"/>
                <a:cs typeface="Times New Roman" panose="02020603050405020304" pitchFamily="18" charset="0"/>
              </a:rPr>
              <a:t>development</a:t>
            </a:r>
            <a:endParaRPr sz="1400" b="0" i="0" dirty="0">
              <a:solidFill>
                <a:srgbClr val="666666"/>
              </a:solidFill>
              <a:latin typeface="Times New Roman" panose="02020603050405020304" pitchFamily="18" charset="0"/>
              <a:cs typeface="Times New Roman" panose="02020603050405020304" pitchFamily="18" charset="0"/>
            </a:endParaRPr>
          </a:p>
        </p:txBody>
      </p:sp>
      <p:sp>
        <p:nvSpPr>
          <p:cNvPr id="83" name="45_Footer_Scope">
            <a:extLst>
              <a:ext uri="{FF2B5EF4-FFF2-40B4-BE49-F238E27FC236}">
                <a16:creationId xmlns:a16="http://schemas.microsoft.com/office/drawing/2014/main" id="{DB1D5D5F-A50B-C779-0BA9-EBF271AEE9FA}"/>
              </a:ext>
            </a:extLst>
          </p:cNvPr>
          <p:cNvSpPr txBox="1"/>
          <p:nvPr/>
        </p:nvSpPr>
        <p:spPr>
          <a:xfrm>
            <a:off x="7837421" y="5905721"/>
            <a:ext cx="3747309" cy="246221"/>
          </a:xfrm>
          <a:prstGeom prst="rect">
            <a:avLst/>
          </a:prstGeom>
          <a:noFill/>
        </p:spPr>
        <p:txBody>
          <a:bodyPr wrap="none" lIns="0" tIns="0" rIns="0" bIns="0" anchor="ctr">
            <a:spAutoFit/>
          </a:bodyPr>
          <a:lstStyle/>
          <a:p>
            <a:pPr algn="r"/>
            <a:r>
              <a:rPr sz="1600" b="1" i="0" dirty="0">
                <a:solidFill>
                  <a:srgbClr val="071A55"/>
                </a:solidFill>
                <a:latin typeface="Times New Roman" panose="02020603050405020304" pitchFamily="18" charset="0"/>
                <a:cs typeface="Times New Roman" panose="02020603050405020304" pitchFamily="18" charset="0"/>
              </a:rPr>
              <a:t>Scope: one straight cylindrical through cut</a:t>
            </a:r>
          </a:p>
        </p:txBody>
      </p:sp>
      <p:sp>
        <p:nvSpPr>
          <p:cNvPr id="84" name="46_Footer_UnsupportedBoundary">
            <a:extLst>
              <a:ext uri="{FF2B5EF4-FFF2-40B4-BE49-F238E27FC236}">
                <a16:creationId xmlns:a16="http://schemas.microsoft.com/office/drawing/2014/main" id="{E00BFCBD-F3FC-E27C-D324-F6B67D4424A6}"/>
              </a:ext>
            </a:extLst>
          </p:cNvPr>
          <p:cNvSpPr txBox="1"/>
          <p:nvPr/>
        </p:nvSpPr>
        <p:spPr>
          <a:xfrm>
            <a:off x="6249272" y="6331335"/>
            <a:ext cx="5456186" cy="430887"/>
          </a:xfrm>
          <a:prstGeom prst="rect">
            <a:avLst/>
          </a:prstGeom>
          <a:noFill/>
        </p:spPr>
        <p:txBody>
          <a:bodyPr wrap="square" lIns="0" tIns="0" rIns="0" bIns="0" anchor="ctr">
            <a:spAutoFit/>
          </a:bodyPr>
          <a:lstStyle/>
          <a:p>
            <a:pPr algn="r"/>
            <a:r>
              <a:rPr lang="en-US" sz="1400" b="0" i="0" dirty="0">
                <a:solidFill>
                  <a:srgbClr val="666666"/>
                </a:solidFill>
                <a:latin typeface="Times New Roman" panose="02020603050405020304" pitchFamily="18" charset="0"/>
                <a:cs typeface="Times New Roman" panose="02020603050405020304" pitchFamily="18" charset="0"/>
              </a:rPr>
              <a:t>Not evidence for blind, stepped, tapered, multiple, intersecting,</a:t>
            </a:r>
          </a:p>
          <a:p>
            <a:pPr algn="r"/>
            <a:r>
              <a:rPr lang="en-US" sz="1400" b="0" i="0" dirty="0">
                <a:solidFill>
                  <a:srgbClr val="666666"/>
                </a:solidFill>
                <a:latin typeface="Times New Roman" panose="02020603050405020304" pitchFamily="18" charset="0"/>
                <a:cs typeface="Times New Roman" panose="02020603050405020304" pitchFamily="18" charset="0"/>
              </a:rPr>
              <a:t>threaded, counterbored, countersunk, or patterned holes.</a:t>
            </a:r>
            <a:endParaRPr sz="1400" b="0" i="0" dirty="0">
              <a:solidFill>
                <a:srgbClr val="666666"/>
              </a:solidFill>
              <a:latin typeface="Times New Roman" panose="02020603050405020304" pitchFamily="18" charset="0"/>
              <a:cs typeface="Times New Roman" panose="02020603050405020304" pitchFamily="18" charset="0"/>
            </a:endParaRPr>
          </a:p>
        </p:txBody>
      </p:sp>
      <p:pic>
        <p:nvPicPr>
          <p:cNvPr id="88" name="图片 87">
            <a:extLst>
              <a:ext uri="{FF2B5EF4-FFF2-40B4-BE49-F238E27FC236}">
                <a16:creationId xmlns:a16="http://schemas.microsoft.com/office/drawing/2014/main" id="{BDBD1CC0-CE02-D0C3-115F-A7304A026B00}"/>
              </a:ext>
            </a:extLst>
          </p:cNvPr>
          <p:cNvPicPr>
            <a:picLocks noChangeAspect="1"/>
          </p:cNvPicPr>
          <p:nvPr/>
        </p:nvPicPr>
        <p:blipFill>
          <a:blip r:embed="rId3"/>
          <a:stretch>
            <a:fillRect/>
          </a:stretch>
        </p:blipFill>
        <p:spPr>
          <a:xfrm>
            <a:off x="193330" y="2068763"/>
            <a:ext cx="4030462" cy="2176670"/>
          </a:xfrm>
          <a:prstGeom prst="rect">
            <a:avLst/>
          </a:prstGeom>
        </p:spPr>
      </p:pic>
    </p:spTree>
    <p:extLst>
      <p:ext uri="{BB962C8B-B14F-4D97-AF65-F5344CB8AC3E}">
        <p14:creationId xmlns:p14="http://schemas.microsoft.com/office/powerpoint/2010/main" val="3002956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4D836-C9F3-7052-C624-DB3AD72AFE1E}"/>
            </a:ext>
          </a:extLst>
        </p:cNvPr>
        <p:cNvGrpSpPr/>
        <p:nvPr/>
      </p:nvGrpSpPr>
      <p:grpSpPr>
        <a:xfrm>
          <a:off x="0" y="0"/>
          <a:ext cx="0" cy="0"/>
          <a:chOff x="0" y="0"/>
          <a:chExt cx="0" cy="0"/>
        </a:xfrm>
      </p:grpSpPr>
      <p:sp>
        <p:nvSpPr>
          <p:cNvPr id="32" name="矩形 31">
            <a:extLst>
              <a:ext uri="{FF2B5EF4-FFF2-40B4-BE49-F238E27FC236}">
                <a16:creationId xmlns:a16="http://schemas.microsoft.com/office/drawing/2014/main" id="{27181D75-0A20-16E5-32DA-F62FB9AC0A6B}"/>
              </a:ext>
            </a:extLst>
          </p:cNvPr>
          <p:cNvSpPr/>
          <p:nvPr/>
        </p:nvSpPr>
        <p:spPr>
          <a:xfrm>
            <a:off x="92842" y="620688"/>
            <a:ext cx="6904941" cy="107184"/>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kumimoji="1" lang="zh-CN" altLang="en-US" dirty="0">
              <a:solidFill>
                <a:schemeClr val="tx1"/>
              </a:solidFill>
            </a:endParaRPr>
          </a:p>
        </p:txBody>
      </p:sp>
      <p:sp>
        <p:nvSpPr>
          <p:cNvPr id="3" name="标题 2">
            <a:extLst>
              <a:ext uri="{FF2B5EF4-FFF2-40B4-BE49-F238E27FC236}">
                <a16:creationId xmlns:a16="http://schemas.microsoft.com/office/drawing/2014/main" id="{8486BDE2-5669-D692-F889-28D09589D33B}"/>
              </a:ext>
            </a:extLst>
          </p:cNvPr>
          <p:cNvSpPr>
            <a:spLocks noGrp="1"/>
          </p:cNvSpPr>
          <p:nvPr>
            <p:ph type="title"/>
          </p:nvPr>
        </p:nvSpPr>
        <p:spPr>
          <a:xfrm>
            <a:off x="119336" y="76228"/>
            <a:ext cx="9695205" cy="531544"/>
          </a:xfrm>
        </p:spPr>
        <p:txBody>
          <a:bodyPr/>
          <a:lstStyle/>
          <a:p>
            <a:r>
              <a:rPr lang="en-US" altLang="zh-CN" dirty="0">
                <a:solidFill>
                  <a:srgbClr val="071A55"/>
                </a:solidFill>
                <a:latin typeface="Aptos Display"/>
              </a:rPr>
              <a:t>D-S01 Sealed Ambiguity Evidence</a:t>
            </a:r>
          </a:p>
        </p:txBody>
      </p:sp>
      <p:sp>
        <p:nvSpPr>
          <p:cNvPr id="5" name="04_Sealed_Source_Label">
            <a:extLst>
              <a:ext uri="{FF2B5EF4-FFF2-40B4-BE49-F238E27FC236}">
                <a16:creationId xmlns:a16="http://schemas.microsoft.com/office/drawing/2014/main" id="{C46824D0-67F9-4354-2EDC-A0AD754D15CE}"/>
              </a:ext>
            </a:extLst>
          </p:cNvPr>
          <p:cNvSpPr txBox="1"/>
          <p:nvPr/>
        </p:nvSpPr>
        <p:spPr>
          <a:xfrm>
            <a:off x="308326" y="867060"/>
            <a:ext cx="2717860" cy="246221"/>
          </a:xfrm>
          <a:prstGeom prst="rect">
            <a:avLst/>
          </a:prstGeom>
          <a:noFill/>
        </p:spPr>
        <p:txBody>
          <a:bodyPr wrap="none" lIns="0" tIns="0" rIns="0" bIns="0" anchor="ctr">
            <a:spAutoFit/>
          </a:bodyPr>
          <a:lstStyle/>
          <a:p>
            <a:pPr algn="l"/>
            <a:r>
              <a:rPr sz="1600" b="1" i="0" dirty="0">
                <a:solidFill>
                  <a:srgbClr val="071A55"/>
                </a:solidFill>
                <a:latin typeface="Times New Roman" panose="02020603050405020304" pitchFamily="18" charset="0"/>
                <a:cs typeface="Times New Roman" panose="02020603050405020304" pitchFamily="18" charset="0"/>
              </a:rPr>
              <a:t>SEALED GATE 4 EVIDENCE</a:t>
            </a:r>
          </a:p>
        </p:txBody>
      </p:sp>
      <p:sp>
        <p:nvSpPr>
          <p:cNvPr id="9" name="05_Source_Mode">
            <a:extLst>
              <a:ext uri="{FF2B5EF4-FFF2-40B4-BE49-F238E27FC236}">
                <a16:creationId xmlns:a16="http://schemas.microsoft.com/office/drawing/2014/main" id="{DDBE0A5D-E56E-30E5-09B9-3FB414509F33}"/>
              </a:ext>
            </a:extLst>
          </p:cNvPr>
          <p:cNvSpPr txBox="1"/>
          <p:nvPr/>
        </p:nvSpPr>
        <p:spPr>
          <a:xfrm>
            <a:off x="308326" y="1138480"/>
            <a:ext cx="2606483" cy="215444"/>
          </a:xfrm>
          <a:prstGeom prst="rect">
            <a:avLst/>
          </a:prstGeom>
          <a:noFill/>
        </p:spPr>
        <p:txBody>
          <a:bodyPr wrap="none" lIns="0" tIns="0" rIns="0" bIns="0" anchor="ctr">
            <a:spAutoFit/>
          </a:bodyPr>
          <a:lstStyle/>
          <a:p>
            <a:pPr algn="l"/>
            <a:r>
              <a:rPr sz="1400" b="0" i="0" dirty="0" err="1">
                <a:solidFill>
                  <a:srgbClr val="666666"/>
                </a:solidFill>
                <a:latin typeface="Times New Roman" panose="02020603050405020304" pitchFamily="18" charset="0"/>
                <a:cs typeface="Times New Roman" panose="02020603050405020304" pitchFamily="18" charset="0"/>
              </a:rPr>
              <a:t>source_mode</a:t>
            </a:r>
            <a:r>
              <a:rPr sz="1400" b="0" i="0" dirty="0">
                <a:solidFill>
                  <a:srgbClr val="666666"/>
                </a:solidFill>
                <a:latin typeface="Times New Roman" panose="02020603050405020304" pitchFamily="18" charset="0"/>
                <a:cs typeface="Times New Roman" panose="02020603050405020304" pitchFamily="18" charset="0"/>
              </a:rPr>
              <a:t> = </a:t>
            </a:r>
            <a:r>
              <a:rPr sz="1400" b="0" i="0" dirty="0" err="1">
                <a:solidFill>
                  <a:srgbClr val="666666"/>
                </a:solidFill>
                <a:latin typeface="Times New Roman" panose="02020603050405020304" pitchFamily="18" charset="0"/>
                <a:cs typeface="Times New Roman" panose="02020603050405020304" pitchFamily="18" charset="0"/>
              </a:rPr>
              <a:t>sealed_artifact_only</a:t>
            </a:r>
            <a:endParaRPr sz="1400" b="0" i="0" dirty="0">
              <a:solidFill>
                <a:srgbClr val="666666"/>
              </a:solidFill>
              <a:latin typeface="Times New Roman" panose="02020603050405020304" pitchFamily="18" charset="0"/>
              <a:cs typeface="Times New Roman" panose="02020603050405020304" pitchFamily="18" charset="0"/>
            </a:endParaRPr>
          </a:p>
        </p:txBody>
      </p:sp>
      <p:sp>
        <p:nvSpPr>
          <p:cNvPr id="10" name="06_ReadOnly_Label">
            <a:extLst>
              <a:ext uri="{FF2B5EF4-FFF2-40B4-BE49-F238E27FC236}">
                <a16:creationId xmlns:a16="http://schemas.microsoft.com/office/drawing/2014/main" id="{772BC068-AAB8-1A48-F47E-D070F2F20156}"/>
              </a:ext>
            </a:extLst>
          </p:cNvPr>
          <p:cNvSpPr txBox="1"/>
          <p:nvPr/>
        </p:nvSpPr>
        <p:spPr>
          <a:xfrm>
            <a:off x="9620605" y="1881346"/>
            <a:ext cx="2316340" cy="215444"/>
          </a:xfrm>
          <a:prstGeom prst="rect">
            <a:avLst/>
          </a:prstGeom>
          <a:noFill/>
        </p:spPr>
        <p:txBody>
          <a:bodyPr wrap="none" lIns="0" tIns="0" rIns="0" bIns="0" anchor="ctr">
            <a:spAutoFit/>
          </a:bodyPr>
          <a:lstStyle/>
          <a:p>
            <a:pPr algn="r"/>
            <a:r>
              <a:rPr lang="en-US" sz="1400" b="0" i="0" dirty="0">
                <a:solidFill>
                  <a:srgbClr val="666666"/>
                </a:solidFill>
                <a:latin typeface="Times New Roman" panose="02020603050405020304" pitchFamily="18" charset="0"/>
                <a:cs typeface="Times New Roman" panose="02020603050405020304" pitchFamily="18" charset="0"/>
              </a:rPr>
              <a:t>Read-only sealed Gate 4 artifact</a:t>
            </a:r>
            <a:endParaRPr sz="1400" b="0" i="0" dirty="0">
              <a:solidFill>
                <a:srgbClr val="666666"/>
              </a:solidFill>
              <a:latin typeface="Times New Roman" panose="02020603050405020304" pitchFamily="18" charset="0"/>
              <a:cs typeface="Times New Roman" panose="02020603050405020304" pitchFamily="18" charset="0"/>
            </a:endParaRPr>
          </a:p>
        </p:txBody>
      </p:sp>
      <p:sp>
        <p:nvSpPr>
          <p:cNvPr id="17" name="07_Observed_Header">
            <a:extLst>
              <a:ext uri="{FF2B5EF4-FFF2-40B4-BE49-F238E27FC236}">
                <a16:creationId xmlns:a16="http://schemas.microsoft.com/office/drawing/2014/main" id="{969CDCBD-7F40-7846-E26C-D9F38C4A9B8E}"/>
              </a:ext>
            </a:extLst>
          </p:cNvPr>
          <p:cNvSpPr txBox="1"/>
          <p:nvPr/>
        </p:nvSpPr>
        <p:spPr>
          <a:xfrm>
            <a:off x="246702" y="1619044"/>
            <a:ext cx="1714380" cy="246221"/>
          </a:xfrm>
          <a:prstGeom prst="rect">
            <a:avLst/>
          </a:prstGeom>
          <a:noFill/>
        </p:spPr>
        <p:txBody>
          <a:bodyPr wrap="none" lIns="0" tIns="0" rIns="0" bIns="0" anchor="ctr">
            <a:spAutoFit/>
          </a:bodyPr>
          <a:lstStyle/>
          <a:p>
            <a:pPr algn="l"/>
            <a:r>
              <a:rPr sz="1600" b="1" i="0" dirty="0">
                <a:solidFill>
                  <a:srgbClr val="071A55"/>
                </a:solidFill>
                <a:latin typeface="Times New Roman" panose="02020603050405020304" pitchFamily="18" charset="0"/>
                <a:cs typeface="Times New Roman" panose="02020603050405020304" pitchFamily="18" charset="0"/>
              </a:rPr>
              <a:t>OBSERVED CASE</a:t>
            </a:r>
          </a:p>
        </p:txBody>
      </p:sp>
      <p:sp>
        <p:nvSpPr>
          <p:cNvPr id="21" name="14_Candidate_Header">
            <a:extLst>
              <a:ext uri="{FF2B5EF4-FFF2-40B4-BE49-F238E27FC236}">
                <a16:creationId xmlns:a16="http://schemas.microsoft.com/office/drawing/2014/main" id="{4BF40AF0-7C15-9AF8-2F85-BE4B61B3F8B8}"/>
              </a:ext>
            </a:extLst>
          </p:cNvPr>
          <p:cNvSpPr txBox="1"/>
          <p:nvPr/>
        </p:nvSpPr>
        <p:spPr>
          <a:xfrm>
            <a:off x="3692337" y="1627812"/>
            <a:ext cx="2639312" cy="246221"/>
          </a:xfrm>
          <a:prstGeom prst="rect">
            <a:avLst/>
          </a:prstGeom>
          <a:noFill/>
        </p:spPr>
        <p:txBody>
          <a:bodyPr wrap="none" lIns="0" tIns="0" rIns="0" bIns="0" anchor="ctr">
            <a:spAutoFit/>
          </a:bodyPr>
          <a:lstStyle/>
          <a:p>
            <a:pPr algn="l"/>
            <a:r>
              <a:rPr sz="1600" b="1" i="0" dirty="0">
                <a:solidFill>
                  <a:srgbClr val="071A55"/>
                </a:solidFill>
                <a:latin typeface="Times New Roman" panose="02020603050405020304" pitchFamily="18" charset="0"/>
                <a:cs typeface="Times New Roman" panose="02020603050405020304" pitchFamily="18" charset="0"/>
              </a:rPr>
              <a:t>PRE-FUSION CANDIDATES</a:t>
            </a:r>
          </a:p>
        </p:txBody>
      </p:sp>
      <p:sp>
        <p:nvSpPr>
          <p:cNvPr id="25" name="31_Right_Header">
            <a:extLst>
              <a:ext uri="{FF2B5EF4-FFF2-40B4-BE49-F238E27FC236}">
                <a16:creationId xmlns:a16="http://schemas.microsoft.com/office/drawing/2014/main" id="{1B2E0350-453B-2AEC-9739-CB4D137F713C}"/>
              </a:ext>
            </a:extLst>
          </p:cNvPr>
          <p:cNvSpPr txBox="1"/>
          <p:nvPr/>
        </p:nvSpPr>
        <p:spPr>
          <a:xfrm>
            <a:off x="7754604" y="1632920"/>
            <a:ext cx="3130472" cy="246221"/>
          </a:xfrm>
          <a:prstGeom prst="rect">
            <a:avLst/>
          </a:prstGeom>
          <a:noFill/>
        </p:spPr>
        <p:txBody>
          <a:bodyPr wrap="none" lIns="0" tIns="0" rIns="0" bIns="0" anchor="ctr">
            <a:spAutoFit/>
          </a:bodyPr>
          <a:lstStyle/>
          <a:p>
            <a:pPr algn="l"/>
            <a:r>
              <a:rPr sz="1600" b="1" i="0" dirty="0">
                <a:solidFill>
                  <a:srgbClr val="071A55"/>
                </a:solidFill>
                <a:latin typeface="Times New Roman" panose="02020603050405020304" pitchFamily="18" charset="0"/>
                <a:cs typeface="Times New Roman" panose="02020603050405020304" pitchFamily="18" charset="0"/>
              </a:rPr>
              <a:t>CANONICAL EXECUTION PATH</a:t>
            </a:r>
          </a:p>
        </p:txBody>
      </p:sp>
      <p:sp>
        <p:nvSpPr>
          <p:cNvPr id="33" name="09_DS01_Image_Border">
            <a:extLst>
              <a:ext uri="{FF2B5EF4-FFF2-40B4-BE49-F238E27FC236}">
                <a16:creationId xmlns:a16="http://schemas.microsoft.com/office/drawing/2014/main" id="{688E7DE1-435D-1B00-0DB7-0CC8D7996D3E}"/>
              </a:ext>
            </a:extLst>
          </p:cNvPr>
          <p:cNvSpPr/>
          <p:nvPr/>
        </p:nvSpPr>
        <p:spPr>
          <a:xfrm>
            <a:off x="119336" y="2330772"/>
            <a:ext cx="2850267" cy="1598684"/>
          </a:xfrm>
          <a:prstGeom prst="rect">
            <a:avLst/>
          </a:prstGeom>
          <a:noFill/>
          <a:ln w="11430">
            <a:solidFill>
              <a:srgbClr val="D9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4" name="10_DS01_ID">
            <a:extLst>
              <a:ext uri="{FF2B5EF4-FFF2-40B4-BE49-F238E27FC236}">
                <a16:creationId xmlns:a16="http://schemas.microsoft.com/office/drawing/2014/main" id="{D8A6F7EB-BEBB-AC64-F43B-2CF3BB8A336D}"/>
              </a:ext>
            </a:extLst>
          </p:cNvPr>
          <p:cNvSpPr txBox="1"/>
          <p:nvPr/>
        </p:nvSpPr>
        <p:spPr>
          <a:xfrm>
            <a:off x="171548" y="4351591"/>
            <a:ext cx="535403" cy="246221"/>
          </a:xfrm>
          <a:prstGeom prst="rect">
            <a:avLst/>
          </a:prstGeom>
          <a:noFill/>
        </p:spPr>
        <p:txBody>
          <a:bodyPr wrap="none" lIns="0" tIns="0" rIns="0" bIns="0" anchor="ctr">
            <a:spAutoFit/>
          </a:bodyPr>
          <a:lstStyle/>
          <a:p>
            <a:pPr algn="l"/>
            <a:r>
              <a:rPr sz="1600" b="1" i="0" dirty="0">
                <a:solidFill>
                  <a:srgbClr val="071A55"/>
                </a:solidFill>
                <a:latin typeface="Times New Roman" panose="02020603050405020304" pitchFamily="18" charset="0"/>
                <a:cs typeface="Times New Roman" panose="02020603050405020304" pitchFamily="18" charset="0"/>
              </a:rPr>
              <a:t>D-S01</a:t>
            </a:r>
          </a:p>
        </p:txBody>
      </p:sp>
      <p:sp>
        <p:nvSpPr>
          <p:cNvPr id="35" name="11_DS01_Description">
            <a:extLst>
              <a:ext uri="{FF2B5EF4-FFF2-40B4-BE49-F238E27FC236}">
                <a16:creationId xmlns:a16="http://schemas.microsoft.com/office/drawing/2014/main" id="{41B0ABBC-CA0C-B301-63D4-BB614EA0B01E}"/>
              </a:ext>
            </a:extLst>
          </p:cNvPr>
          <p:cNvSpPr txBox="1"/>
          <p:nvPr/>
        </p:nvSpPr>
        <p:spPr>
          <a:xfrm>
            <a:off x="779565" y="4386001"/>
            <a:ext cx="2610138" cy="192360"/>
          </a:xfrm>
          <a:prstGeom prst="rect">
            <a:avLst/>
          </a:prstGeom>
          <a:noFill/>
        </p:spPr>
        <p:txBody>
          <a:bodyPr wrap="none" lIns="0" tIns="0" rIns="0" bIns="0" anchor="ctr">
            <a:spAutoFit/>
          </a:bodyPr>
          <a:lstStyle/>
          <a:p>
            <a:pPr algn="l"/>
            <a:r>
              <a:rPr lang="en-US" sz="1250" b="0" i="0" dirty="0">
                <a:solidFill>
                  <a:srgbClr val="666666"/>
                </a:solidFill>
                <a:latin typeface="Times New Roman" panose="02020603050405020304" pitchFamily="18" charset="0"/>
                <a:cs typeface="Times New Roman" panose="02020603050405020304" pitchFamily="18" charset="0"/>
              </a:rPr>
              <a:t> Sealed canonical replay STEP in Fusion</a:t>
            </a:r>
            <a:endParaRPr sz="1250" b="0" i="0" dirty="0">
              <a:solidFill>
                <a:srgbClr val="666666"/>
              </a:solidFill>
              <a:latin typeface="Times New Roman" panose="02020603050405020304" pitchFamily="18" charset="0"/>
              <a:cs typeface="Times New Roman" panose="02020603050405020304" pitchFamily="18" charset="0"/>
            </a:endParaRPr>
          </a:p>
        </p:txBody>
      </p:sp>
      <p:sp>
        <p:nvSpPr>
          <p:cNvPr id="36" name="12_DS01_Input">
            <a:extLst>
              <a:ext uri="{FF2B5EF4-FFF2-40B4-BE49-F238E27FC236}">
                <a16:creationId xmlns:a16="http://schemas.microsoft.com/office/drawing/2014/main" id="{83B0AE4F-4AEC-2401-3B75-C6E26465099F}"/>
              </a:ext>
            </a:extLst>
          </p:cNvPr>
          <p:cNvSpPr txBox="1"/>
          <p:nvPr/>
        </p:nvSpPr>
        <p:spPr>
          <a:xfrm>
            <a:off x="289401" y="4719544"/>
            <a:ext cx="2229778" cy="215444"/>
          </a:xfrm>
          <a:prstGeom prst="rect">
            <a:avLst/>
          </a:prstGeom>
          <a:noFill/>
        </p:spPr>
        <p:txBody>
          <a:bodyPr wrap="none" lIns="0" tIns="0" rIns="0" bIns="0" anchor="ctr">
            <a:spAutoFit/>
          </a:bodyPr>
          <a:lstStyle/>
          <a:p>
            <a:pPr algn="l"/>
            <a:r>
              <a:rPr sz="1400" b="0" i="0" dirty="0">
                <a:solidFill>
                  <a:srgbClr val="666666"/>
                </a:solidFill>
                <a:latin typeface="Times New Roman" panose="02020603050405020304" pitchFamily="18" charset="0"/>
                <a:cs typeface="Times New Roman" panose="02020603050405020304" pitchFamily="18" charset="0"/>
              </a:rPr>
              <a:t>Input: history-free STEP/B-rep</a:t>
            </a:r>
          </a:p>
        </p:txBody>
      </p:sp>
      <p:cxnSp>
        <p:nvCxnSpPr>
          <p:cNvPr id="38" name="13_Left_Middle_Divider">
            <a:extLst>
              <a:ext uri="{FF2B5EF4-FFF2-40B4-BE49-F238E27FC236}">
                <a16:creationId xmlns:a16="http://schemas.microsoft.com/office/drawing/2014/main" id="{0C17385E-F08C-769B-74AD-E3A5427898E2}"/>
              </a:ext>
            </a:extLst>
          </p:cNvPr>
          <p:cNvCxnSpPr/>
          <p:nvPr/>
        </p:nvCxnSpPr>
        <p:spPr>
          <a:xfrm>
            <a:off x="3428999" y="1810512"/>
            <a:ext cx="0" cy="3337560"/>
          </a:xfrm>
          <a:prstGeom prst="line">
            <a:avLst/>
          </a:prstGeom>
          <a:ln w="8890">
            <a:solidFill>
              <a:srgbClr val="D9DEE3"/>
            </a:solidFill>
          </a:ln>
        </p:spPr>
        <p:style>
          <a:lnRef idx="2">
            <a:schemeClr val="accent1"/>
          </a:lnRef>
          <a:fillRef idx="0">
            <a:schemeClr val="accent1"/>
          </a:fillRef>
          <a:effectRef idx="1">
            <a:schemeClr val="accent1"/>
          </a:effectRef>
          <a:fontRef idx="minor">
            <a:schemeClr val="tx1"/>
          </a:fontRef>
        </p:style>
      </p:cxnSp>
      <p:sp>
        <p:nvSpPr>
          <p:cNvPr id="39" name="15_Candidate_Description">
            <a:extLst>
              <a:ext uri="{FF2B5EF4-FFF2-40B4-BE49-F238E27FC236}">
                <a16:creationId xmlns:a16="http://schemas.microsoft.com/office/drawing/2014/main" id="{1C270990-27C8-55F8-BFAD-C4AD49BD0048}"/>
              </a:ext>
            </a:extLst>
          </p:cNvPr>
          <p:cNvSpPr txBox="1"/>
          <p:nvPr/>
        </p:nvSpPr>
        <p:spPr>
          <a:xfrm>
            <a:off x="3694174" y="1920604"/>
            <a:ext cx="2545569" cy="430887"/>
          </a:xfrm>
          <a:prstGeom prst="rect">
            <a:avLst/>
          </a:prstGeom>
          <a:noFill/>
        </p:spPr>
        <p:txBody>
          <a:bodyPr wrap="none" lIns="0" tIns="0" rIns="0" bIns="0" anchor="ctr">
            <a:spAutoFit/>
          </a:bodyPr>
          <a:lstStyle/>
          <a:p>
            <a:pPr algn="l"/>
            <a:r>
              <a:rPr sz="1400" b="0" i="0" dirty="0">
                <a:solidFill>
                  <a:srgbClr val="666666"/>
                </a:solidFill>
                <a:latin typeface="Times New Roman" panose="02020603050405020304" pitchFamily="18" charset="0"/>
                <a:cs typeface="Times New Roman" panose="02020603050405020304" pitchFamily="18" charset="0"/>
              </a:rPr>
              <a:t>Three hypotheses satisfy the frozen
pre-Fusion acceptance contract</a:t>
            </a:r>
          </a:p>
        </p:txBody>
      </p:sp>
      <p:sp>
        <p:nvSpPr>
          <p:cNvPr id="40" name="16_C1_Number">
            <a:extLst>
              <a:ext uri="{FF2B5EF4-FFF2-40B4-BE49-F238E27FC236}">
                <a16:creationId xmlns:a16="http://schemas.microsoft.com/office/drawing/2014/main" id="{E6C7B38E-7064-36D3-C5A7-FC48E12A6F57}"/>
              </a:ext>
            </a:extLst>
          </p:cNvPr>
          <p:cNvSpPr txBox="1"/>
          <p:nvPr/>
        </p:nvSpPr>
        <p:spPr>
          <a:xfrm>
            <a:off x="3749039" y="2437568"/>
            <a:ext cx="250068" cy="246221"/>
          </a:xfrm>
          <a:prstGeom prst="rect">
            <a:avLst/>
          </a:prstGeom>
          <a:noFill/>
        </p:spPr>
        <p:txBody>
          <a:bodyPr wrap="none" lIns="0" tIns="0" rIns="0" bIns="0" anchor="ctr">
            <a:spAutoFit/>
          </a:bodyPr>
          <a:lstStyle/>
          <a:p>
            <a:pPr algn="l"/>
            <a:r>
              <a:rPr sz="1600" b="1" i="0">
                <a:solidFill>
                  <a:srgbClr val="071A55"/>
                </a:solidFill>
                <a:latin typeface="Times New Roman" panose="02020603050405020304" pitchFamily="18" charset="0"/>
                <a:cs typeface="Times New Roman" panose="02020603050405020304" pitchFamily="18" charset="0"/>
              </a:rPr>
              <a:t>C1</a:t>
            </a:r>
          </a:p>
        </p:txBody>
      </p:sp>
      <p:sp>
        <p:nvSpPr>
          <p:cNvPr id="41" name="17_C1_ID">
            <a:extLst>
              <a:ext uri="{FF2B5EF4-FFF2-40B4-BE49-F238E27FC236}">
                <a16:creationId xmlns:a16="http://schemas.microsoft.com/office/drawing/2014/main" id="{0A3166DA-B54C-5F31-F593-550925E2CD36}"/>
              </a:ext>
            </a:extLst>
          </p:cNvPr>
          <p:cNvSpPr txBox="1"/>
          <p:nvPr/>
        </p:nvSpPr>
        <p:spPr>
          <a:xfrm>
            <a:off x="4160519" y="2411808"/>
            <a:ext cx="2043829" cy="215444"/>
          </a:xfrm>
          <a:prstGeom prst="rect">
            <a:avLst/>
          </a:prstGeom>
          <a:noFill/>
        </p:spPr>
        <p:txBody>
          <a:bodyPr wrap="none" lIns="0" tIns="0" rIns="0" bIns="0" anchor="ctr">
            <a:spAutoFit/>
          </a:bodyPr>
          <a:lstStyle/>
          <a:p>
            <a:pPr algn="l"/>
            <a:r>
              <a:rPr sz="1400" b="0" i="0">
                <a:solidFill>
                  <a:srgbClr val="111111"/>
                </a:solidFill>
                <a:latin typeface="Times New Roman" panose="02020603050405020304" pitchFamily="18" charset="0"/>
                <a:cs typeface="Times New Roman" panose="02020603050405020304" pitchFamily="18" charset="0"/>
              </a:rPr>
              <a:t>extrusion-face-000-face-001</a:t>
            </a:r>
          </a:p>
        </p:txBody>
      </p:sp>
      <p:sp>
        <p:nvSpPr>
          <p:cNvPr id="42" name="18_C1_Status">
            <a:extLst>
              <a:ext uri="{FF2B5EF4-FFF2-40B4-BE49-F238E27FC236}">
                <a16:creationId xmlns:a16="http://schemas.microsoft.com/office/drawing/2014/main" id="{87673C7D-E2B1-6CD9-3015-8C020360F9B0}"/>
              </a:ext>
            </a:extLst>
          </p:cNvPr>
          <p:cNvSpPr txBox="1"/>
          <p:nvPr/>
        </p:nvSpPr>
        <p:spPr>
          <a:xfrm>
            <a:off x="4160519" y="2643308"/>
            <a:ext cx="719749" cy="246221"/>
          </a:xfrm>
          <a:prstGeom prst="rect">
            <a:avLst/>
          </a:prstGeom>
          <a:noFill/>
        </p:spPr>
        <p:txBody>
          <a:bodyPr wrap="none" lIns="0" tIns="0" rIns="0" bIns="0" anchor="ctr">
            <a:spAutoFit/>
          </a:bodyPr>
          <a:lstStyle/>
          <a:p>
            <a:pPr algn="l"/>
            <a:r>
              <a:rPr sz="1600" b="0" i="0">
                <a:solidFill>
                  <a:srgbClr val="666666"/>
                </a:solidFill>
                <a:latin typeface="Times New Roman" panose="02020603050405020304" pitchFamily="18" charset="0"/>
                <a:cs typeface="Times New Roman" panose="02020603050405020304" pitchFamily="18" charset="0"/>
              </a:rPr>
              <a:t>accepted</a:t>
            </a:r>
          </a:p>
        </p:txBody>
      </p:sp>
      <p:sp>
        <p:nvSpPr>
          <p:cNvPr id="45" name="19_C2_Selected_Accent">
            <a:extLst>
              <a:ext uri="{FF2B5EF4-FFF2-40B4-BE49-F238E27FC236}">
                <a16:creationId xmlns:a16="http://schemas.microsoft.com/office/drawing/2014/main" id="{701328D1-4CAC-0008-5207-7B1D5C32EF5C}"/>
              </a:ext>
            </a:extLst>
          </p:cNvPr>
          <p:cNvSpPr/>
          <p:nvPr/>
        </p:nvSpPr>
        <p:spPr>
          <a:xfrm>
            <a:off x="3676335" y="3072384"/>
            <a:ext cx="32004" cy="640080"/>
          </a:xfrm>
          <a:prstGeom prst="rect">
            <a:avLst/>
          </a:prstGeom>
          <a:solidFill>
            <a:srgbClr val="00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Times New Roman" panose="02020603050405020304" pitchFamily="18" charset="0"/>
              <a:cs typeface="Times New Roman" panose="02020603050405020304" pitchFamily="18" charset="0"/>
            </a:endParaRPr>
          </a:p>
        </p:txBody>
      </p:sp>
      <p:sp>
        <p:nvSpPr>
          <p:cNvPr id="46" name="20_C2_Number">
            <a:extLst>
              <a:ext uri="{FF2B5EF4-FFF2-40B4-BE49-F238E27FC236}">
                <a16:creationId xmlns:a16="http://schemas.microsoft.com/office/drawing/2014/main" id="{F9DE97BA-4057-26F7-9F0B-49C7BD905C9B}"/>
              </a:ext>
            </a:extLst>
          </p:cNvPr>
          <p:cNvSpPr txBox="1"/>
          <p:nvPr/>
        </p:nvSpPr>
        <p:spPr>
          <a:xfrm>
            <a:off x="3773443" y="3151419"/>
            <a:ext cx="250068" cy="246221"/>
          </a:xfrm>
          <a:prstGeom prst="rect">
            <a:avLst/>
          </a:prstGeom>
          <a:noFill/>
        </p:spPr>
        <p:txBody>
          <a:bodyPr wrap="none" lIns="0" tIns="0" rIns="0" bIns="0" anchor="ctr">
            <a:spAutoFit/>
          </a:bodyPr>
          <a:lstStyle/>
          <a:p>
            <a:pPr algn="l"/>
            <a:r>
              <a:rPr sz="1600" b="1" i="0">
                <a:solidFill>
                  <a:srgbClr val="00A9E6"/>
                </a:solidFill>
                <a:latin typeface="Times New Roman" panose="02020603050405020304" pitchFamily="18" charset="0"/>
                <a:cs typeface="Times New Roman" panose="02020603050405020304" pitchFamily="18" charset="0"/>
              </a:rPr>
              <a:t>C2</a:t>
            </a:r>
          </a:p>
        </p:txBody>
      </p:sp>
      <p:sp>
        <p:nvSpPr>
          <p:cNvPr id="47" name="21_C2_ID">
            <a:extLst>
              <a:ext uri="{FF2B5EF4-FFF2-40B4-BE49-F238E27FC236}">
                <a16:creationId xmlns:a16="http://schemas.microsoft.com/office/drawing/2014/main" id="{BC20701F-467F-93BF-6C49-57A71E44B9E7}"/>
              </a:ext>
            </a:extLst>
          </p:cNvPr>
          <p:cNvSpPr txBox="1"/>
          <p:nvPr/>
        </p:nvSpPr>
        <p:spPr>
          <a:xfrm>
            <a:off x="4184923" y="3125659"/>
            <a:ext cx="2112758" cy="215444"/>
          </a:xfrm>
          <a:prstGeom prst="rect">
            <a:avLst/>
          </a:prstGeom>
          <a:noFill/>
        </p:spPr>
        <p:txBody>
          <a:bodyPr wrap="none" lIns="0" tIns="0" rIns="0" bIns="0" anchor="ctr">
            <a:spAutoFit/>
          </a:bodyPr>
          <a:lstStyle/>
          <a:p>
            <a:pPr algn="l"/>
            <a:r>
              <a:rPr sz="1400" b="1" i="0">
                <a:solidFill>
                  <a:srgbClr val="111111"/>
                </a:solidFill>
                <a:latin typeface="Times New Roman" panose="02020603050405020304" pitchFamily="18" charset="0"/>
                <a:cs typeface="Times New Roman" panose="02020603050405020304" pitchFamily="18" charset="0"/>
              </a:rPr>
              <a:t>extrusion-face-002-face-003</a:t>
            </a:r>
          </a:p>
        </p:txBody>
      </p:sp>
      <p:sp>
        <p:nvSpPr>
          <p:cNvPr id="48" name="22_C2_Accepted">
            <a:extLst>
              <a:ext uri="{FF2B5EF4-FFF2-40B4-BE49-F238E27FC236}">
                <a16:creationId xmlns:a16="http://schemas.microsoft.com/office/drawing/2014/main" id="{3C4C9331-29E7-EB55-F7A5-D3971C2B1A94}"/>
              </a:ext>
            </a:extLst>
          </p:cNvPr>
          <p:cNvSpPr txBox="1"/>
          <p:nvPr/>
        </p:nvSpPr>
        <p:spPr>
          <a:xfrm>
            <a:off x="4184923" y="3357159"/>
            <a:ext cx="719749" cy="246221"/>
          </a:xfrm>
          <a:prstGeom prst="rect">
            <a:avLst/>
          </a:prstGeom>
          <a:noFill/>
        </p:spPr>
        <p:txBody>
          <a:bodyPr wrap="none" lIns="0" tIns="0" rIns="0" bIns="0" anchor="ctr">
            <a:spAutoFit/>
          </a:bodyPr>
          <a:lstStyle/>
          <a:p>
            <a:pPr algn="l"/>
            <a:r>
              <a:rPr sz="1600" b="0" i="0">
                <a:solidFill>
                  <a:srgbClr val="666666"/>
                </a:solidFill>
                <a:latin typeface="Times New Roman" panose="02020603050405020304" pitchFamily="18" charset="0"/>
                <a:cs typeface="Times New Roman" panose="02020603050405020304" pitchFamily="18" charset="0"/>
              </a:rPr>
              <a:t>accepted</a:t>
            </a:r>
          </a:p>
        </p:txBody>
      </p:sp>
      <p:sp>
        <p:nvSpPr>
          <p:cNvPr id="49" name="22b_C2_Dot">
            <a:extLst>
              <a:ext uri="{FF2B5EF4-FFF2-40B4-BE49-F238E27FC236}">
                <a16:creationId xmlns:a16="http://schemas.microsoft.com/office/drawing/2014/main" id="{24A195A0-7180-C0C9-F066-D31BF92FE1D9}"/>
              </a:ext>
            </a:extLst>
          </p:cNvPr>
          <p:cNvSpPr txBox="1"/>
          <p:nvPr/>
        </p:nvSpPr>
        <p:spPr>
          <a:xfrm>
            <a:off x="4991706" y="3357159"/>
            <a:ext cx="68930" cy="246221"/>
          </a:xfrm>
          <a:prstGeom prst="rect">
            <a:avLst/>
          </a:prstGeom>
          <a:noFill/>
        </p:spPr>
        <p:txBody>
          <a:bodyPr wrap="none" lIns="0" tIns="0" rIns="0" bIns="0" anchor="ctr">
            <a:spAutoFit/>
          </a:bodyPr>
          <a:lstStyle/>
          <a:p>
            <a:pPr algn="ctr"/>
            <a:r>
              <a:rPr sz="1600" b="0" i="0">
                <a:solidFill>
                  <a:srgbClr val="666666"/>
                </a:solidFill>
                <a:latin typeface="Times New Roman" panose="02020603050405020304" pitchFamily="18" charset="0"/>
                <a:cs typeface="Times New Roman" panose="02020603050405020304" pitchFamily="18" charset="0"/>
              </a:rPr>
              <a:t>·</a:t>
            </a:r>
          </a:p>
        </p:txBody>
      </p:sp>
      <p:sp>
        <p:nvSpPr>
          <p:cNvPr id="50" name="23_C2_Selected">
            <a:extLst>
              <a:ext uri="{FF2B5EF4-FFF2-40B4-BE49-F238E27FC236}">
                <a16:creationId xmlns:a16="http://schemas.microsoft.com/office/drawing/2014/main" id="{02FDE101-A656-1E16-77C5-376BA6B1A339}"/>
              </a:ext>
            </a:extLst>
          </p:cNvPr>
          <p:cNvSpPr txBox="1"/>
          <p:nvPr/>
        </p:nvSpPr>
        <p:spPr>
          <a:xfrm>
            <a:off x="5126755" y="3357159"/>
            <a:ext cx="686085" cy="246221"/>
          </a:xfrm>
          <a:prstGeom prst="rect">
            <a:avLst/>
          </a:prstGeom>
          <a:noFill/>
        </p:spPr>
        <p:txBody>
          <a:bodyPr wrap="none" lIns="0" tIns="0" rIns="0" bIns="0" anchor="ctr">
            <a:spAutoFit/>
          </a:bodyPr>
          <a:lstStyle/>
          <a:p>
            <a:pPr algn="l"/>
            <a:r>
              <a:rPr sz="1600" b="1" i="0">
                <a:solidFill>
                  <a:srgbClr val="00A9E6"/>
                </a:solidFill>
                <a:latin typeface="Times New Roman" panose="02020603050405020304" pitchFamily="18" charset="0"/>
                <a:cs typeface="Times New Roman" panose="02020603050405020304" pitchFamily="18" charset="0"/>
              </a:rPr>
              <a:t>selected</a:t>
            </a:r>
          </a:p>
        </p:txBody>
      </p:sp>
      <p:sp>
        <p:nvSpPr>
          <p:cNvPr id="51" name="24_C3_Number">
            <a:extLst>
              <a:ext uri="{FF2B5EF4-FFF2-40B4-BE49-F238E27FC236}">
                <a16:creationId xmlns:a16="http://schemas.microsoft.com/office/drawing/2014/main" id="{33C8687E-06FD-A33C-80D8-D6B6F426F932}"/>
              </a:ext>
            </a:extLst>
          </p:cNvPr>
          <p:cNvSpPr txBox="1"/>
          <p:nvPr/>
        </p:nvSpPr>
        <p:spPr>
          <a:xfrm>
            <a:off x="3784434" y="4105370"/>
            <a:ext cx="250068" cy="246221"/>
          </a:xfrm>
          <a:prstGeom prst="rect">
            <a:avLst/>
          </a:prstGeom>
          <a:noFill/>
        </p:spPr>
        <p:txBody>
          <a:bodyPr wrap="none" lIns="0" tIns="0" rIns="0" bIns="0" anchor="ctr">
            <a:spAutoFit/>
          </a:bodyPr>
          <a:lstStyle/>
          <a:p>
            <a:pPr algn="l"/>
            <a:r>
              <a:rPr sz="1600" b="1" i="0">
                <a:solidFill>
                  <a:srgbClr val="071A55"/>
                </a:solidFill>
                <a:latin typeface="Times New Roman" panose="02020603050405020304" pitchFamily="18" charset="0"/>
                <a:cs typeface="Times New Roman" panose="02020603050405020304" pitchFamily="18" charset="0"/>
              </a:rPr>
              <a:t>C3</a:t>
            </a:r>
          </a:p>
        </p:txBody>
      </p:sp>
      <p:sp>
        <p:nvSpPr>
          <p:cNvPr id="52" name="25_C3_ID">
            <a:extLst>
              <a:ext uri="{FF2B5EF4-FFF2-40B4-BE49-F238E27FC236}">
                <a16:creationId xmlns:a16="http://schemas.microsoft.com/office/drawing/2014/main" id="{C7E3244F-B95D-14A3-89C1-93C8BFF5D5C9}"/>
              </a:ext>
            </a:extLst>
          </p:cNvPr>
          <p:cNvSpPr txBox="1"/>
          <p:nvPr/>
        </p:nvSpPr>
        <p:spPr>
          <a:xfrm>
            <a:off x="4195914" y="4079611"/>
            <a:ext cx="2043829" cy="215444"/>
          </a:xfrm>
          <a:prstGeom prst="rect">
            <a:avLst/>
          </a:prstGeom>
          <a:noFill/>
        </p:spPr>
        <p:txBody>
          <a:bodyPr wrap="none" lIns="0" tIns="0" rIns="0" bIns="0" anchor="ctr">
            <a:spAutoFit/>
          </a:bodyPr>
          <a:lstStyle/>
          <a:p>
            <a:pPr algn="l"/>
            <a:r>
              <a:rPr sz="1400" b="0" i="0">
                <a:solidFill>
                  <a:srgbClr val="111111"/>
                </a:solidFill>
                <a:latin typeface="Times New Roman" panose="02020603050405020304" pitchFamily="18" charset="0"/>
                <a:cs typeface="Times New Roman" panose="02020603050405020304" pitchFamily="18" charset="0"/>
              </a:rPr>
              <a:t>extrusion-face-004-face-005</a:t>
            </a:r>
          </a:p>
        </p:txBody>
      </p:sp>
      <p:sp>
        <p:nvSpPr>
          <p:cNvPr id="53" name="26_C3_Status">
            <a:extLst>
              <a:ext uri="{FF2B5EF4-FFF2-40B4-BE49-F238E27FC236}">
                <a16:creationId xmlns:a16="http://schemas.microsoft.com/office/drawing/2014/main" id="{F6A73AE2-17B1-377D-CDCD-DE4B1019E4D4}"/>
              </a:ext>
            </a:extLst>
          </p:cNvPr>
          <p:cNvSpPr txBox="1"/>
          <p:nvPr/>
        </p:nvSpPr>
        <p:spPr>
          <a:xfrm>
            <a:off x="4195914" y="4311111"/>
            <a:ext cx="719749" cy="246221"/>
          </a:xfrm>
          <a:prstGeom prst="rect">
            <a:avLst/>
          </a:prstGeom>
          <a:noFill/>
        </p:spPr>
        <p:txBody>
          <a:bodyPr wrap="none" lIns="0" tIns="0" rIns="0" bIns="0" anchor="ctr">
            <a:spAutoFit/>
          </a:bodyPr>
          <a:lstStyle/>
          <a:p>
            <a:pPr algn="l"/>
            <a:r>
              <a:rPr sz="1600" b="0" i="0">
                <a:solidFill>
                  <a:srgbClr val="666666"/>
                </a:solidFill>
                <a:latin typeface="Times New Roman" panose="02020603050405020304" pitchFamily="18" charset="0"/>
                <a:cs typeface="Times New Roman" panose="02020603050405020304" pitchFamily="18" charset="0"/>
              </a:rPr>
              <a:t>accepted</a:t>
            </a:r>
          </a:p>
        </p:txBody>
      </p:sp>
      <p:sp>
        <p:nvSpPr>
          <p:cNvPr id="54" name="26b_Ambiguity_Background">
            <a:extLst>
              <a:ext uri="{FF2B5EF4-FFF2-40B4-BE49-F238E27FC236}">
                <a16:creationId xmlns:a16="http://schemas.microsoft.com/office/drawing/2014/main" id="{E9B21BFA-4CEE-AE07-EFD8-879B3D02D7E3}"/>
              </a:ext>
            </a:extLst>
          </p:cNvPr>
          <p:cNvSpPr/>
          <p:nvPr/>
        </p:nvSpPr>
        <p:spPr>
          <a:xfrm>
            <a:off x="3749039" y="4901184"/>
            <a:ext cx="3108960" cy="530352"/>
          </a:xfrm>
          <a:prstGeom prst="rect">
            <a:avLst/>
          </a:prstGeom>
          <a:solidFill>
            <a:srgbClr val="FFF7DF"/>
          </a:solidFill>
          <a:ln w="6350">
            <a:solidFill>
              <a:srgbClr val="F2DF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5" name="26c_Ambiguity_Dot">
            <a:extLst>
              <a:ext uri="{FF2B5EF4-FFF2-40B4-BE49-F238E27FC236}">
                <a16:creationId xmlns:a16="http://schemas.microsoft.com/office/drawing/2014/main" id="{DD88F75F-B0D1-28EE-D0C2-8CA3BA451BEE}"/>
              </a:ext>
            </a:extLst>
          </p:cNvPr>
          <p:cNvSpPr txBox="1"/>
          <p:nvPr/>
        </p:nvSpPr>
        <p:spPr>
          <a:xfrm>
            <a:off x="3915742" y="5023958"/>
            <a:ext cx="68930" cy="138499"/>
          </a:xfrm>
          <a:prstGeom prst="rect">
            <a:avLst/>
          </a:prstGeom>
          <a:noFill/>
        </p:spPr>
        <p:txBody>
          <a:bodyPr wrap="none" lIns="0" tIns="0" rIns="0" bIns="0" anchor="ctr">
            <a:spAutoFit/>
          </a:bodyPr>
          <a:lstStyle/>
          <a:p>
            <a:pPr algn="ctr"/>
            <a:r>
              <a:rPr sz="900" b="0" i="0">
                <a:solidFill>
                  <a:srgbClr val="FFC857"/>
                </a:solidFill>
                <a:latin typeface="Times New Roman" panose="02020603050405020304" pitchFamily="18" charset="0"/>
                <a:cs typeface="Times New Roman" panose="02020603050405020304" pitchFamily="18" charset="0"/>
              </a:rPr>
              <a:t>●</a:t>
            </a:r>
          </a:p>
        </p:txBody>
      </p:sp>
      <p:sp>
        <p:nvSpPr>
          <p:cNvPr id="56" name="27_Ambiguous_Field">
            <a:extLst>
              <a:ext uri="{FF2B5EF4-FFF2-40B4-BE49-F238E27FC236}">
                <a16:creationId xmlns:a16="http://schemas.microsoft.com/office/drawing/2014/main" id="{0B3119E5-4230-C6A6-350A-0D3376D60184}"/>
              </a:ext>
            </a:extLst>
          </p:cNvPr>
          <p:cNvSpPr txBox="1"/>
          <p:nvPr/>
        </p:nvSpPr>
        <p:spPr>
          <a:xfrm>
            <a:off x="4087367" y="4953482"/>
            <a:ext cx="934551" cy="215444"/>
          </a:xfrm>
          <a:prstGeom prst="rect">
            <a:avLst/>
          </a:prstGeom>
          <a:noFill/>
        </p:spPr>
        <p:txBody>
          <a:bodyPr wrap="none" lIns="0" tIns="0" rIns="0" bIns="0" anchor="ctr">
            <a:spAutoFit/>
          </a:bodyPr>
          <a:lstStyle/>
          <a:p>
            <a:pPr algn="l"/>
            <a:r>
              <a:rPr sz="1400" b="0" i="0" dirty="0">
                <a:solidFill>
                  <a:srgbClr val="666666"/>
                </a:solidFill>
                <a:latin typeface="Times New Roman" panose="02020603050405020304" pitchFamily="18" charset="0"/>
                <a:cs typeface="Times New Roman" panose="02020603050405020304" pitchFamily="18" charset="0"/>
              </a:rPr>
              <a:t>ambiguous =</a:t>
            </a:r>
          </a:p>
        </p:txBody>
      </p:sp>
      <p:sp>
        <p:nvSpPr>
          <p:cNvPr id="57" name="28_Ambiguous_Value">
            <a:extLst>
              <a:ext uri="{FF2B5EF4-FFF2-40B4-BE49-F238E27FC236}">
                <a16:creationId xmlns:a16="http://schemas.microsoft.com/office/drawing/2014/main" id="{CE0DADE9-EB5B-8200-1580-73F9AC453E2E}"/>
              </a:ext>
            </a:extLst>
          </p:cNvPr>
          <p:cNvSpPr txBox="1"/>
          <p:nvPr/>
        </p:nvSpPr>
        <p:spPr>
          <a:xfrm>
            <a:off x="5175503" y="4928950"/>
            <a:ext cx="365485" cy="246221"/>
          </a:xfrm>
          <a:prstGeom prst="rect">
            <a:avLst/>
          </a:prstGeom>
          <a:noFill/>
        </p:spPr>
        <p:txBody>
          <a:bodyPr wrap="none" lIns="0" tIns="0" rIns="0" bIns="0" anchor="ctr">
            <a:spAutoFit/>
          </a:bodyPr>
          <a:lstStyle/>
          <a:p>
            <a:pPr algn="l"/>
            <a:r>
              <a:rPr sz="1600" b="1" i="0" dirty="0">
                <a:solidFill>
                  <a:srgbClr val="B77900"/>
                </a:solidFill>
                <a:latin typeface="Times New Roman" panose="02020603050405020304" pitchFamily="18" charset="0"/>
                <a:cs typeface="Times New Roman" panose="02020603050405020304" pitchFamily="18" charset="0"/>
              </a:rPr>
              <a:t>true</a:t>
            </a:r>
          </a:p>
        </p:txBody>
      </p:sp>
      <p:sp>
        <p:nvSpPr>
          <p:cNvPr id="58" name="29_Ambiguity_Note">
            <a:extLst>
              <a:ext uri="{FF2B5EF4-FFF2-40B4-BE49-F238E27FC236}">
                <a16:creationId xmlns:a16="http://schemas.microsoft.com/office/drawing/2014/main" id="{5A4402D3-E18B-631F-D4CC-0AB7A8E8DDB3}"/>
              </a:ext>
            </a:extLst>
          </p:cNvPr>
          <p:cNvSpPr txBox="1"/>
          <p:nvPr/>
        </p:nvSpPr>
        <p:spPr>
          <a:xfrm>
            <a:off x="4062043" y="5174524"/>
            <a:ext cx="2585644" cy="215444"/>
          </a:xfrm>
          <a:prstGeom prst="rect">
            <a:avLst/>
          </a:prstGeom>
          <a:noFill/>
        </p:spPr>
        <p:txBody>
          <a:bodyPr wrap="none" lIns="0" tIns="0" rIns="0" bIns="0" anchor="ctr">
            <a:spAutoFit/>
          </a:bodyPr>
          <a:lstStyle/>
          <a:p>
            <a:pPr algn="l"/>
            <a:r>
              <a:rPr sz="1400" b="0" i="0" dirty="0">
                <a:solidFill>
                  <a:srgbClr val="666666"/>
                </a:solidFill>
                <a:latin typeface="Times New Roman" panose="02020603050405020304" pitchFamily="18" charset="0"/>
                <a:cs typeface="Times New Roman" panose="02020603050405020304" pitchFamily="18" charset="0"/>
              </a:rPr>
              <a:t>Candidate-space ambiguity retained</a:t>
            </a:r>
          </a:p>
        </p:txBody>
      </p:sp>
      <p:cxnSp>
        <p:nvCxnSpPr>
          <p:cNvPr id="59" name="30_Middle_Right_Divider">
            <a:extLst>
              <a:ext uri="{FF2B5EF4-FFF2-40B4-BE49-F238E27FC236}">
                <a16:creationId xmlns:a16="http://schemas.microsoft.com/office/drawing/2014/main" id="{9DF90C79-8F7A-0FDA-13D1-51B4242F7EEE}"/>
              </a:ext>
            </a:extLst>
          </p:cNvPr>
          <p:cNvCxnSpPr/>
          <p:nvPr/>
        </p:nvCxnSpPr>
        <p:spPr>
          <a:xfrm>
            <a:off x="7406638" y="1810512"/>
            <a:ext cx="0" cy="3657600"/>
          </a:xfrm>
          <a:prstGeom prst="line">
            <a:avLst/>
          </a:prstGeom>
          <a:ln w="8890">
            <a:solidFill>
              <a:srgbClr val="D9DEE3"/>
            </a:solidFill>
          </a:ln>
        </p:spPr>
        <p:style>
          <a:lnRef idx="2">
            <a:schemeClr val="accent1"/>
          </a:lnRef>
          <a:fillRef idx="0">
            <a:schemeClr val="accent1"/>
          </a:fillRef>
          <a:effectRef idx="1">
            <a:schemeClr val="accent1"/>
          </a:effectRef>
          <a:fontRef idx="minor">
            <a:schemeClr val="tx1"/>
          </a:fontRef>
        </p:style>
      </p:cxnSp>
      <p:cxnSp>
        <p:nvCxnSpPr>
          <p:cNvPr id="60" name="30_Selected_Path_Arrow">
            <a:extLst>
              <a:ext uri="{FF2B5EF4-FFF2-40B4-BE49-F238E27FC236}">
                <a16:creationId xmlns:a16="http://schemas.microsoft.com/office/drawing/2014/main" id="{73E7091C-E98B-4346-EE7C-7E0412EFCB9B}"/>
              </a:ext>
            </a:extLst>
          </p:cNvPr>
          <p:cNvCxnSpPr>
            <a:cxnSpLocks/>
          </p:cNvCxnSpPr>
          <p:nvPr/>
        </p:nvCxnSpPr>
        <p:spPr>
          <a:xfrm flipV="1">
            <a:off x="6473951" y="2437568"/>
            <a:ext cx="1217645" cy="1055440"/>
          </a:xfrm>
          <a:prstGeom prst="line">
            <a:avLst/>
          </a:prstGeom>
          <a:ln w="20320">
            <a:solidFill>
              <a:srgbClr val="00BFFF"/>
            </a:solidFill>
            <a:tailEnd type="triangle" w="sm" len="sm"/>
          </a:ln>
        </p:spPr>
        <p:style>
          <a:lnRef idx="2">
            <a:schemeClr val="accent1"/>
          </a:lnRef>
          <a:fillRef idx="0">
            <a:schemeClr val="accent1"/>
          </a:fillRef>
          <a:effectRef idx="1">
            <a:schemeClr val="accent1"/>
          </a:effectRef>
          <a:fontRef idx="minor">
            <a:schemeClr val="tx1"/>
          </a:fontRef>
        </p:style>
      </p:cxnSp>
      <p:sp>
        <p:nvSpPr>
          <p:cNvPr id="61" name="32_Canonical_Title">
            <a:extLst>
              <a:ext uri="{FF2B5EF4-FFF2-40B4-BE49-F238E27FC236}">
                <a16:creationId xmlns:a16="http://schemas.microsoft.com/office/drawing/2014/main" id="{C97CA1E6-2689-138F-A324-3202F87BA259}"/>
              </a:ext>
            </a:extLst>
          </p:cNvPr>
          <p:cNvSpPr txBox="1"/>
          <p:nvPr/>
        </p:nvSpPr>
        <p:spPr>
          <a:xfrm>
            <a:off x="8015972" y="2159239"/>
            <a:ext cx="1798569" cy="261610"/>
          </a:xfrm>
          <a:prstGeom prst="rect">
            <a:avLst/>
          </a:prstGeom>
          <a:noFill/>
        </p:spPr>
        <p:txBody>
          <a:bodyPr wrap="none" lIns="0" tIns="0" rIns="0" bIns="0" anchor="ctr">
            <a:spAutoFit/>
          </a:bodyPr>
          <a:lstStyle/>
          <a:p>
            <a:pPr algn="l"/>
            <a:r>
              <a:rPr sz="1700" b="1" i="0" dirty="0">
                <a:solidFill>
                  <a:srgbClr val="071A55"/>
                </a:solidFill>
                <a:latin typeface="Times New Roman" panose="02020603050405020304" pitchFamily="18" charset="0"/>
                <a:cs typeface="Times New Roman" panose="02020603050405020304" pitchFamily="18" charset="0"/>
              </a:rPr>
              <a:t>Canonical selection</a:t>
            </a:r>
          </a:p>
        </p:txBody>
      </p:sp>
      <p:sp>
        <p:nvSpPr>
          <p:cNvPr id="62" name="33_Canonical_ID">
            <a:extLst>
              <a:ext uri="{FF2B5EF4-FFF2-40B4-BE49-F238E27FC236}">
                <a16:creationId xmlns:a16="http://schemas.microsoft.com/office/drawing/2014/main" id="{368481C6-D422-83F6-1656-20BC5640F60B}"/>
              </a:ext>
            </a:extLst>
          </p:cNvPr>
          <p:cNvSpPr txBox="1"/>
          <p:nvPr/>
        </p:nvSpPr>
        <p:spPr>
          <a:xfrm>
            <a:off x="8015972" y="2481176"/>
            <a:ext cx="1756891" cy="184666"/>
          </a:xfrm>
          <a:prstGeom prst="rect">
            <a:avLst/>
          </a:prstGeom>
          <a:noFill/>
        </p:spPr>
        <p:txBody>
          <a:bodyPr wrap="none" lIns="0" tIns="0" rIns="0" bIns="0" anchor="ctr">
            <a:spAutoFit/>
          </a:bodyPr>
          <a:lstStyle/>
          <a:p>
            <a:pPr algn="l"/>
            <a:r>
              <a:rPr sz="1200" b="0" i="0" dirty="0">
                <a:solidFill>
                  <a:srgbClr val="666666"/>
                </a:solidFill>
                <a:latin typeface="Times New Roman" panose="02020603050405020304" pitchFamily="18" charset="0"/>
                <a:cs typeface="Times New Roman" panose="02020603050405020304" pitchFamily="18" charset="0"/>
              </a:rPr>
              <a:t>extrusion-face-002-face-003</a:t>
            </a:r>
          </a:p>
        </p:txBody>
      </p:sp>
      <p:sp>
        <p:nvSpPr>
          <p:cNvPr id="68" name="34_Replay_Arrow">
            <a:extLst>
              <a:ext uri="{FF2B5EF4-FFF2-40B4-BE49-F238E27FC236}">
                <a16:creationId xmlns:a16="http://schemas.microsoft.com/office/drawing/2014/main" id="{5098ABA8-E424-A5C4-0950-A1E2F38A5286}"/>
              </a:ext>
            </a:extLst>
          </p:cNvPr>
          <p:cNvSpPr txBox="1"/>
          <p:nvPr/>
        </p:nvSpPr>
        <p:spPr>
          <a:xfrm>
            <a:off x="9229281" y="2723045"/>
            <a:ext cx="115416" cy="276999"/>
          </a:xfrm>
          <a:prstGeom prst="rect">
            <a:avLst/>
          </a:prstGeom>
          <a:noFill/>
        </p:spPr>
        <p:txBody>
          <a:bodyPr wrap="none" lIns="0" tIns="0" rIns="0" bIns="0" anchor="ctr">
            <a:spAutoFit/>
          </a:bodyPr>
          <a:lstStyle/>
          <a:p>
            <a:pPr algn="ctr"/>
            <a:r>
              <a:rPr sz="1800" b="0" i="0" dirty="0">
                <a:solidFill>
                  <a:srgbClr val="00BFFF"/>
                </a:solidFill>
                <a:latin typeface="Times New Roman" panose="02020603050405020304" pitchFamily="18" charset="0"/>
                <a:cs typeface="Times New Roman" panose="02020603050405020304" pitchFamily="18" charset="0"/>
              </a:rPr>
              <a:t>↓</a:t>
            </a:r>
          </a:p>
        </p:txBody>
      </p:sp>
      <p:sp>
        <p:nvSpPr>
          <p:cNvPr id="70" name="35_Replay_Title">
            <a:extLst>
              <a:ext uri="{FF2B5EF4-FFF2-40B4-BE49-F238E27FC236}">
                <a16:creationId xmlns:a16="http://schemas.microsoft.com/office/drawing/2014/main" id="{881F2371-A524-D6C3-0C1C-0A6F71B3C078}"/>
              </a:ext>
            </a:extLst>
          </p:cNvPr>
          <p:cNvSpPr txBox="1"/>
          <p:nvPr/>
        </p:nvSpPr>
        <p:spPr>
          <a:xfrm>
            <a:off x="8015972" y="3072189"/>
            <a:ext cx="1200137" cy="246221"/>
          </a:xfrm>
          <a:prstGeom prst="rect">
            <a:avLst/>
          </a:prstGeom>
          <a:noFill/>
        </p:spPr>
        <p:txBody>
          <a:bodyPr wrap="none" lIns="0" tIns="0" rIns="0" bIns="0" anchor="ctr">
            <a:spAutoFit/>
          </a:bodyPr>
          <a:lstStyle/>
          <a:p>
            <a:pPr algn="l"/>
            <a:r>
              <a:rPr sz="1600" b="1" i="0" dirty="0">
                <a:solidFill>
                  <a:srgbClr val="111111"/>
                </a:solidFill>
                <a:latin typeface="Times New Roman" panose="02020603050405020304" pitchFamily="18" charset="0"/>
                <a:cs typeface="Times New Roman" panose="02020603050405020304" pitchFamily="18" charset="0"/>
              </a:rPr>
              <a:t>Fusion replay</a:t>
            </a:r>
          </a:p>
        </p:txBody>
      </p:sp>
      <p:sp>
        <p:nvSpPr>
          <p:cNvPr id="72" name="36_Replay_Check">
            <a:extLst>
              <a:ext uri="{FF2B5EF4-FFF2-40B4-BE49-F238E27FC236}">
                <a16:creationId xmlns:a16="http://schemas.microsoft.com/office/drawing/2014/main" id="{0631BC3D-FADE-49BC-0082-FED71C9DFE7B}"/>
              </a:ext>
            </a:extLst>
          </p:cNvPr>
          <p:cNvSpPr txBox="1"/>
          <p:nvPr/>
        </p:nvSpPr>
        <p:spPr>
          <a:xfrm>
            <a:off x="8015972" y="3343610"/>
            <a:ext cx="134652" cy="215444"/>
          </a:xfrm>
          <a:prstGeom prst="rect">
            <a:avLst/>
          </a:prstGeom>
          <a:noFill/>
        </p:spPr>
        <p:txBody>
          <a:bodyPr wrap="none" lIns="0" tIns="0" rIns="0" bIns="0" anchor="ctr">
            <a:spAutoFit/>
          </a:bodyPr>
          <a:lstStyle/>
          <a:p>
            <a:pPr algn="l"/>
            <a:r>
              <a:rPr sz="1400" b="1" i="0">
                <a:solidFill>
                  <a:srgbClr val="20A060"/>
                </a:solidFill>
                <a:latin typeface="Times New Roman" panose="02020603050405020304" pitchFamily="18" charset="0"/>
                <a:cs typeface="Times New Roman" panose="02020603050405020304" pitchFamily="18" charset="0"/>
              </a:rPr>
              <a:t>✓</a:t>
            </a:r>
          </a:p>
        </p:txBody>
      </p:sp>
      <p:sp>
        <p:nvSpPr>
          <p:cNvPr id="85" name="37_Replay_PASS">
            <a:extLst>
              <a:ext uri="{FF2B5EF4-FFF2-40B4-BE49-F238E27FC236}">
                <a16:creationId xmlns:a16="http://schemas.microsoft.com/office/drawing/2014/main" id="{22253E14-122F-C23B-821B-EA192164CB71}"/>
              </a:ext>
            </a:extLst>
          </p:cNvPr>
          <p:cNvSpPr txBox="1"/>
          <p:nvPr/>
        </p:nvSpPr>
        <p:spPr>
          <a:xfrm>
            <a:off x="8317724" y="3343610"/>
            <a:ext cx="424283" cy="215444"/>
          </a:xfrm>
          <a:prstGeom prst="rect">
            <a:avLst/>
          </a:prstGeom>
          <a:noFill/>
        </p:spPr>
        <p:txBody>
          <a:bodyPr wrap="none" lIns="0" tIns="0" rIns="0" bIns="0" anchor="ctr">
            <a:spAutoFit/>
          </a:bodyPr>
          <a:lstStyle/>
          <a:p>
            <a:pPr algn="l"/>
            <a:r>
              <a:rPr sz="1400" b="1" i="0">
                <a:solidFill>
                  <a:srgbClr val="20A060"/>
                </a:solidFill>
                <a:latin typeface="Times New Roman" panose="02020603050405020304" pitchFamily="18" charset="0"/>
                <a:cs typeface="Times New Roman" panose="02020603050405020304" pitchFamily="18" charset="0"/>
              </a:rPr>
              <a:t>PASS</a:t>
            </a:r>
          </a:p>
        </p:txBody>
      </p:sp>
      <p:sp>
        <p:nvSpPr>
          <p:cNvPr id="86" name="38_Validation_Arrow">
            <a:extLst>
              <a:ext uri="{FF2B5EF4-FFF2-40B4-BE49-F238E27FC236}">
                <a16:creationId xmlns:a16="http://schemas.microsoft.com/office/drawing/2014/main" id="{645128A4-46C4-9906-C97C-8F96FDB05EEE}"/>
              </a:ext>
            </a:extLst>
          </p:cNvPr>
          <p:cNvSpPr txBox="1"/>
          <p:nvPr/>
        </p:nvSpPr>
        <p:spPr>
          <a:xfrm>
            <a:off x="9229281" y="3664877"/>
            <a:ext cx="115416" cy="276999"/>
          </a:xfrm>
          <a:prstGeom prst="rect">
            <a:avLst/>
          </a:prstGeom>
          <a:noFill/>
        </p:spPr>
        <p:txBody>
          <a:bodyPr wrap="none" lIns="0" tIns="0" rIns="0" bIns="0" anchor="ctr">
            <a:spAutoFit/>
          </a:bodyPr>
          <a:lstStyle/>
          <a:p>
            <a:pPr algn="ctr"/>
            <a:r>
              <a:rPr sz="1800" b="0" i="0">
                <a:solidFill>
                  <a:srgbClr val="00BFFF"/>
                </a:solidFill>
                <a:latin typeface="Times New Roman" panose="02020603050405020304" pitchFamily="18" charset="0"/>
                <a:cs typeface="Times New Roman" panose="02020603050405020304" pitchFamily="18" charset="0"/>
              </a:rPr>
              <a:t>↓</a:t>
            </a:r>
          </a:p>
        </p:txBody>
      </p:sp>
      <p:sp>
        <p:nvSpPr>
          <p:cNvPr id="87" name="39_Validation_Title">
            <a:extLst>
              <a:ext uri="{FF2B5EF4-FFF2-40B4-BE49-F238E27FC236}">
                <a16:creationId xmlns:a16="http://schemas.microsoft.com/office/drawing/2014/main" id="{43714862-F615-F636-A77E-3FC4727E0481}"/>
              </a:ext>
            </a:extLst>
          </p:cNvPr>
          <p:cNvSpPr txBox="1"/>
          <p:nvPr/>
        </p:nvSpPr>
        <p:spPr>
          <a:xfrm>
            <a:off x="8015972" y="4032309"/>
            <a:ext cx="1811393" cy="246221"/>
          </a:xfrm>
          <a:prstGeom prst="rect">
            <a:avLst/>
          </a:prstGeom>
          <a:noFill/>
        </p:spPr>
        <p:txBody>
          <a:bodyPr wrap="none" lIns="0" tIns="0" rIns="0" bIns="0" anchor="ctr">
            <a:spAutoFit/>
          </a:bodyPr>
          <a:lstStyle/>
          <a:p>
            <a:pPr algn="l"/>
            <a:r>
              <a:rPr sz="1600" b="1" i="0">
                <a:solidFill>
                  <a:srgbClr val="111111"/>
                </a:solidFill>
                <a:latin typeface="Times New Roman" panose="02020603050405020304" pitchFamily="18" charset="0"/>
                <a:cs typeface="Times New Roman" panose="02020603050405020304" pitchFamily="18" charset="0"/>
              </a:rPr>
              <a:t>Geometry validation</a:t>
            </a:r>
          </a:p>
        </p:txBody>
      </p:sp>
      <p:sp>
        <p:nvSpPr>
          <p:cNvPr id="89" name="40_Validation_Check">
            <a:extLst>
              <a:ext uri="{FF2B5EF4-FFF2-40B4-BE49-F238E27FC236}">
                <a16:creationId xmlns:a16="http://schemas.microsoft.com/office/drawing/2014/main" id="{2A948D75-141F-AEAB-F39A-A37CAB472B93}"/>
              </a:ext>
            </a:extLst>
          </p:cNvPr>
          <p:cNvSpPr txBox="1"/>
          <p:nvPr/>
        </p:nvSpPr>
        <p:spPr>
          <a:xfrm>
            <a:off x="8015972" y="4303730"/>
            <a:ext cx="134652" cy="215444"/>
          </a:xfrm>
          <a:prstGeom prst="rect">
            <a:avLst/>
          </a:prstGeom>
          <a:noFill/>
        </p:spPr>
        <p:txBody>
          <a:bodyPr wrap="none" lIns="0" tIns="0" rIns="0" bIns="0" anchor="ctr">
            <a:spAutoFit/>
          </a:bodyPr>
          <a:lstStyle/>
          <a:p>
            <a:pPr algn="l"/>
            <a:r>
              <a:rPr sz="1400" b="1" i="0">
                <a:solidFill>
                  <a:srgbClr val="20A060"/>
                </a:solidFill>
                <a:latin typeface="Times New Roman" panose="02020603050405020304" pitchFamily="18" charset="0"/>
                <a:cs typeface="Times New Roman" panose="02020603050405020304" pitchFamily="18" charset="0"/>
              </a:rPr>
              <a:t>✓</a:t>
            </a:r>
          </a:p>
        </p:txBody>
      </p:sp>
      <p:sp>
        <p:nvSpPr>
          <p:cNvPr id="90" name="41_Validation_PASS">
            <a:extLst>
              <a:ext uri="{FF2B5EF4-FFF2-40B4-BE49-F238E27FC236}">
                <a16:creationId xmlns:a16="http://schemas.microsoft.com/office/drawing/2014/main" id="{930A246F-9E43-0260-2EE0-ED0C3B0631FC}"/>
              </a:ext>
            </a:extLst>
          </p:cNvPr>
          <p:cNvSpPr txBox="1"/>
          <p:nvPr/>
        </p:nvSpPr>
        <p:spPr>
          <a:xfrm>
            <a:off x="8317724" y="4303730"/>
            <a:ext cx="424283" cy="215444"/>
          </a:xfrm>
          <a:prstGeom prst="rect">
            <a:avLst/>
          </a:prstGeom>
          <a:noFill/>
        </p:spPr>
        <p:txBody>
          <a:bodyPr wrap="none" lIns="0" tIns="0" rIns="0" bIns="0" anchor="ctr">
            <a:spAutoFit/>
          </a:bodyPr>
          <a:lstStyle/>
          <a:p>
            <a:pPr algn="l"/>
            <a:r>
              <a:rPr sz="1400" b="1" i="0">
                <a:solidFill>
                  <a:srgbClr val="20A060"/>
                </a:solidFill>
                <a:latin typeface="Times New Roman" panose="02020603050405020304" pitchFamily="18" charset="0"/>
                <a:cs typeface="Times New Roman" panose="02020603050405020304" pitchFamily="18" charset="0"/>
              </a:rPr>
              <a:t>PASS</a:t>
            </a:r>
          </a:p>
        </p:txBody>
      </p:sp>
      <p:sp>
        <p:nvSpPr>
          <p:cNvPr id="91" name="42_Replay_Boundary_Note">
            <a:extLst>
              <a:ext uri="{FF2B5EF4-FFF2-40B4-BE49-F238E27FC236}">
                <a16:creationId xmlns:a16="http://schemas.microsoft.com/office/drawing/2014/main" id="{0B3173B2-2A51-29C3-3CF8-9B3895667B9A}"/>
              </a:ext>
            </a:extLst>
          </p:cNvPr>
          <p:cNvSpPr txBox="1"/>
          <p:nvPr/>
        </p:nvSpPr>
        <p:spPr>
          <a:xfrm>
            <a:off x="8015972" y="4785797"/>
            <a:ext cx="2196114" cy="430887"/>
          </a:xfrm>
          <a:prstGeom prst="rect">
            <a:avLst/>
          </a:prstGeom>
          <a:noFill/>
        </p:spPr>
        <p:txBody>
          <a:bodyPr wrap="none" lIns="0" tIns="0" rIns="0" bIns="0" anchor="ctr">
            <a:spAutoFit/>
          </a:bodyPr>
          <a:lstStyle/>
          <a:p>
            <a:pPr algn="l"/>
            <a:r>
              <a:rPr sz="1400" b="0" i="0" dirty="0">
                <a:solidFill>
                  <a:srgbClr val="666666"/>
                </a:solidFill>
                <a:latin typeface="Times New Roman" panose="02020603050405020304" pitchFamily="18" charset="0"/>
                <a:cs typeface="Times New Roman" panose="02020603050405020304" pitchFamily="18" charset="0"/>
              </a:rPr>
              <a:t>Formal replay evidence exists
for the selected candidate only</a:t>
            </a:r>
          </a:p>
        </p:txBody>
      </p:sp>
      <p:cxnSp>
        <p:nvCxnSpPr>
          <p:cNvPr id="92" name="43_Bottom_Divider">
            <a:extLst>
              <a:ext uri="{FF2B5EF4-FFF2-40B4-BE49-F238E27FC236}">
                <a16:creationId xmlns:a16="http://schemas.microsoft.com/office/drawing/2014/main" id="{5F4DE660-1313-1A4B-183A-F3C439767607}"/>
              </a:ext>
            </a:extLst>
          </p:cNvPr>
          <p:cNvCxnSpPr/>
          <p:nvPr/>
        </p:nvCxnSpPr>
        <p:spPr>
          <a:xfrm>
            <a:off x="516832" y="5867426"/>
            <a:ext cx="10927080" cy="0"/>
          </a:xfrm>
          <a:prstGeom prst="line">
            <a:avLst/>
          </a:prstGeom>
          <a:ln w="8890">
            <a:solidFill>
              <a:srgbClr val="D9DEE3"/>
            </a:solidFill>
          </a:ln>
        </p:spPr>
        <p:style>
          <a:lnRef idx="2">
            <a:schemeClr val="accent1"/>
          </a:lnRef>
          <a:fillRef idx="0">
            <a:schemeClr val="accent1"/>
          </a:fillRef>
          <a:effectRef idx="1">
            <a:schemeClr val="accent1"/>
          </a:effectRef>
          <a:fontRef idx="minor">
            <a:schemeClr val="tx1"/>
          </a:fontRef>
        </p:style>
      </p:cxnSp>
      <p:sp>
        <p:nvSpPr>
          <p:cNvPr id="93" name="44_Bottom_Accepted_Text">
            <a:extLst>
              <a:ext uri="{FF2B5EF4-FFF2-40B4-BE49-F238E27FC236}">
                <a16:creationId xmlns:a16="http://schemas.microsoft.com/office/drawing/2014/main" id="{2EED2AED-3F6A-77D0-6FF6-0B66D98C8880}"/>
              </a:ext>
            </a:extLst>
          </p:cNvPr>
          <p:cNvSpPr txBox="1"/>
          <p:nvPr/>
        </p:nvSpPr>
        <p:spPr>
          <a:xfrm>
            <a:off x="2418652" y="6067255"/>
            <a:ext cx="2167260" cy="276999"/>
          </a:xfrm>
          <a:prstGeom prst="rect">
            <a:avLst/>
          </a:prstGeom>
          <a:noFill/>
        </p:spPr>
        <p:txBody>
          <a:bodyPr wrap="none" lIns="0" tIns="0" rIns="0" bIns="0" anchor="ctr">
            <a:spAutoFit/>
          </a:bodyPr>
          <a:lstStyle/>
          <a:p>
            <a:pPr algn="r"/>
            <a:r>
              <a:rPr lang="en-US" sz="1800" b="1" i="0" dirty="0">
                <a:solidFill>
                  <a:srgbClr val="071A55"/>
                </a:solidFill>
                <a:latin typeface="Times New Roman" panose="02020603050405020304" pitchFamily="18" charset="0"/>
                <a:cs typeface="Times New Roman" panose="02020603050405020304" pitchFamily="18" charset="0"/>
              </a:rPr>
              <a:t>3 accepted hypotheses</a:t>
            </a:r>
            <a:endParaRPr sz="1800" b="1" i="0" dirty="0">
              <a:solidFill>
                <a:srgbClr val="071A55"/>
              </a:solidFill>
              <a:latin typeface="Times New Roman" panose="02020603050405020304" pitchFamily="18" charset="0"/>
              <a:cs typeface="Times New Roman" panose="02020603050405020304" pitchFamily="18" charset="0"/>
            </a:endParaRPr>
          </a:p>
        </p:txBody>
      </p:sp>
      <p:sp>
        <p:nvSpPr>
          <p:cNvPr id="94" name="45_Bottom_NotEqual">
            <a:extLst>
              <a:ext uri="{FF2B5EF4-FFF2-40B4-BE49-F238E27FC236}">
                <a16:creationId xmlns:a16="http://schemas.microsoft.com/office/drawing/2014/main" id="{2EE56ECA-6561-2ED9-F020-0A8FE982EE78}"/>
              </a:ext>
            </a:extLst>
          </p:cNvPr>
          <p:cNvSpPr txBox="1"/>
          <p:nvPr/>
        </p:nvSpPr>
        <p:spPr>
          <a:xfrm>
            <a:off x="4995440" y="6051866"/>
            <a:ext cx="141064" cy="307777"/>
          </a:xfrm>
          <a:prstGeom prst="rect">
            <a:avLst/>
          </a:prstGeom>
          <a:noFill/>
        </p:spPr>
        <p:txBody>
          <a:bodyPr wrap="none" lIns="0" tIns="0" rIns="0" bIns="0" anchor="ctr">
            <a:spAutoFit/>
          </a:bodyPr>
          <a:lstStyle/>
          <a:p>
            <a:pPr algn="ctr"/>
            <a:r>
              <a:rPr sz="2000" b="1" i="0">
                <a:solidFill>
                  <a:srgbClr val="00BFFF"/>
                </a:solidFill>
                <a:latin typeface="Times New Roman" panose="02020603050405020304" pitchFamily="18" charset="0"/>
                <a:cs typeface="Times New Roman" panose="02020603050405020304" pitchFamily="18" charset="0"/>
              </a:rPr>
              <a:t>≠</a:t>
            </a:r>
          </a:p>
        </p:txBody>
      </p:sp>
      <p:sp>
        <p:nvSpPr>
          <p:cNvPr id="95" name="46_Bottom_Replay_Text">
            <a:extLst>
              <a:ext uri="{FF2B5EF4-FFF2-40B4-BE49-F238E27FC236}">
                <a16:creationId xmlns:a16="http://schemas.microsoft.com/office/drawing/2014/main" id="{9F0A0CE8-F14E-870C-A447-688B5331C393}"/>
              </a:ext>
            </a:extLst>
          </p:cNvPr>
          <p:cNvSpPr txBox="1"/>
          <p:nvPr/>
        </p:nvSpPr>
        <p:spPr>
          <a:xfrm>
            <a:off x="5454592" y="6067255"/>
            <a:ext cx="3432671" cy="276999"/>
          </a:xfrm>
          <a:prstGeom prst="rect">
            <a:avLst/>
          </a:prstGeom>
          <a:noFill/>
        </p:spPr>
        <p:txBody>
          <a:bodyPr wrap="none" lIns="0" tIns="0" rIns="0" bIns="0" anchor="ctr">
            <a:spAutoFit/>
          </a:bodyPr>
          <a:lstStyle/>
          <a:p>
            <a:pPr algn="l"/>
            <a:r>
              <a:rPr lang="en-US" sz="1800" b="1" i="0" dirty="0">
                <a:solidFill>
                  <a:srgbClr val="071A55"/>
                </a:solidFill>
                <a:latin typeface="Times New Roman" panose="02020603050405020304" pitchFamily="18" charset="0"/>
                <a:cs typeface="Times New Roman" panose="02020603050405020304" pitchFamily="18" charset="0"/>
              </a:rPr>
              <a:t> 3 independently replayed histories</a:t>
            </a:r>
            <a:endParaRPr sz="1800" b="1" i="0" dirty="0">
              <a:solidFill>
                <a:srgbClr val="071A55"/>
              </a:solidFill>
              <a:latin typeface="Times New Roman" panose="02020603050405020304" pitchFamily="18" charset="0"/>
              <a:cs typeface="Times New Roman" panose="02020603050405020304" pitchFamily="18" charset="0"/>
            </a:endParaRPr>
          </a:p>
        </p:txBody>
      </p:sp>
      <p:sp>
        <p:nvSpPr>
          <p:cNvPr id="96" name="47_Footer_SourceMode">
            <a:extLst>
              <a:ext uri="{FF2B5EF4-FFF2-40B4-BE49-F238E27FC236}">
                <a16:creationId xmlns:a16="http://schemas.microsoft.com/office/drawing/2014/main" id="{110054BB-C090-01B1-D94A-76CD3525D333}"/>
              </a:ext>
            </a:extLst>
          </p:cNvPr>
          <p:cNvSpPr txBox="1"/>
          <p:nvPr/>
        </p:nvSpPr>
        <p:spPr>
          <a:xfrm>
            <a:off x="2920884" y="6451749"/>
            <a:ext cx="1253548" cy="184666"/>
          </a:xfrm>
          <a:prstGeom prst="rect">
            <a:avLst/>
          </a:prstGeom>
          <a:noFill/>
        </p:spPr>
        <p:txBody>
          <a:bodyPr wrap="none" lIns="0" tIns="0" rIns="0" bIns="0" anchor="ctr">
            <a:spAutoFit/>
          </a:bodyPr>
          <a:lstStyle/>
          <a:p>
            <a:pPr algn="r"/>
            <a:r>
              <a:rPr sz="1200" b="0" i="0">
                <a:solidFill>
                  <a:srgbClr val="666666"/>
                </a:solidFill>
                <a:latin typeface="Times New Roman" panose="02020603050405020304" pitchFamily="18" charset="0"/>
                <a:cs typeface="Times New Roman" panose="02020603050405020304" pitchFamily="18" charset="0"/>
              </a:rPr>
              <a:t>sealed_artifact_only</a:t>
            </a:r>
          </a:p>
        </p:txBody>
      </p:sp>
      <p:sp>
        <p:nvSpPr>
          <p:cNvPr id="97" name="48_Footer_NoFreshInference">
            <a:extLst>
              <a:ext uri="{FF2B5EF4-FFF2-40B4-BE49-F238E27FC236}">
                <a16:creationId xmlns:a16="http://schemas.microsoft.com/office/drawing/2014/main" id="{9D7B5C7A-4CE0-7A54-C716-F89FAB3DABB8}"/>
              </a:ext>
            </a:extLst>
          </p:cNvPr>
          <p:cNvSpPr txBox="1"/>
          <p:nvPr/>
        </p:nvSpPr>
        <p:spPr>
          <a:xfrm>
            <a:off x="4858727" y="6451749"/>
            <a:ext cx="1328890" cy="184666"/>
          </a:xfrm>
          <a:prstGeom prst="rect">
            <a:avLst/>
          </a:prstGeom>
          <a:noFill/>
        </p:spPr>
        <p:txBody>
          <a:bodyPr wrap="none" lIns="0" tIns="0" rIns="0" bIns="0" anchor="ctr">
            <a:spAutoFit/>
          </a:bodyPr>
          <a:lstStyle/>
          <a:p>
            <a:pPr algn="ctr"/>
            <a:r>
              <a:rPr sz="1200" b="0" i="0">
                <a:solidFill>
                  <a:srgbClr val="666666"/>
                </a:solidFill>
                <a:latin typeface="Times New Roman" panose="02020603050405020304" pitchFamily="18" charset="0"/>
                <a:cs typeface="Times New Roman" panose="02020603050405020304" pitchFamily="18" charset="0"/>
              </a:rPr>
              <a:t>|  no fresh inference  |</a:t>
            </a:r>
          </a:p>
        </p:txBody>
      </p:sp>
      <p:sp>
        <p:nvSpPr>
          <p:cNvPr id="98" name="49_Footer_NoCorrection">
            <a:extLst>
              <a:ext uri="{FF2B5EF4-FFF2-40B4-BE49-F238E27FC236}">
                <a16:creationId xmlns:a16="http://schemas.microsoft.com/office/drawing/2014/main" id="{6E3224A4-2BF0-8034-6B9F-3FA5B2988F3A}"/>
              </a:ext>
            </a:extLst>
          </p:cNvPr>
          <p:cNvSpPr txBox="1"/>
          <p:nvPr/>
        </p:nvSpPr>
        <p:spPr>
          <a:xfrm>
            <a:off x="6835336" y="6451749"/>
            <a:ext cx="1223092" cy="184666"/>
          </a:xfrm>
          <a:prstGeom prst="rect">
            <a:avLst/>
          </a:prstGeom>
          <a:noFill/>
        </p:spPr>
        <p:txBody>
          <a:bodyPr wrap="none" lIns="0" tIns="0" rIns="0" bIns="0" anchor="ctr">
            <a:spAutoFit/>
          </a:bodyPr>
          <a:lstStyle/>
          <a:p>
            <a:pPr algn="l"/>
            <a:r>
              <a:rPr sz="1200" b="0" i="0">
                <a:solidFill>
                  <a:srgbClr val="666666"/>
                </a:solidFill>
                <a:latin typeface="Times New Roman" panose="02020603050405020304" pitchFamily="18" charset="0"/>
                <a:cs typeface="Times New Roman" panose="02020603050405020304" pitchFamily="18" charset="0"/>
              </a:rPr>
              <a:t>no JSON correction</a:t>
            </a:r>
          </a:p>
        </p:txBody>
      </p:sp>
      <p:pic>
        <p:nvPicPr>
          <p:cNvPr id="143" name="图片 142">
            <a:extLst>
              <a:ext uri="{FF2B5EF4-FFF2-40B4-BE49-F238E27FC236}">
                <a16:creationId xmlns:a16="http://schemas.microsoft.com/office/drawing/2014/main" id="{90780F6E-4158-21B2-6427-E012E3D1B8A7}"/>
              </a:ext>
            </a:extLst>
          </p:cNvPr>
          <p:cNvPicPr>
            <a:picLocks noChangeAspect="1"/>
          </p:cNvPicPr>
          <p:nvPr/>
        </p:nvPicPr>
        <p:blipFill>
          <a:blip r:embed="rId3"/>
          <a:stretch>
            <a:fillRect/>
          </a:stretch>
        </p:blipFill>
        <p:spPr>
          <a:xfrm>
            <a:off x="233577" y="2420849"/>
            <a:ext cx="2648993" cy="1421764"/>
          </a:xfrm>
          <a:prstGeom prst="rect">
            <a:avLst/>
          </a:prstGeom>
        </p:spPr>
      </p:pic>
    </p:spTree>
    <p:extLst>
      <p:ext uri="{BB962C8B-B14F-4D97-AF65-F5344CB8AC3E}">
        <p14:creationId xmlns:p14="http://schemas.microsoft.com/office/powerpoint/2010/main" val="1296754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864A1-C2E5-6D09-1C01-223A3A875E29}"/>
            </a:ext>
          </a:extLst>
        </p:cNvPr>
        <p:cNvGrpSpPr/>
        <p:nvPr/>
      </p:nvGrpSpPr>
      <p:grpSpPr>
        <a:xfrm>
          <a:off x="0" y="0"/>
          <a:ext cx="0" cy="0"/>
          <a:chOff x="0" y="0"/>
          <a:chExt cx="0" cy="0"/>
        </a:xfrm>
      </p:grpSpPr>
      <p:sp>
        <p:nvSpPr>
          <p:cNvPr id="32" name="矩形 31">
            <a:extLst>
              <a:ext uri="{FF2B5EF4-FFF2-40B4-BE49-F238E27FC236}">
                <a16:creationId xmlns:a16="http://schemas.microsoft.com/office/drawing/2014/main" id="{89D46B62-3E9C-A4E9-DD78-3C00FD645368}"/>
              </a:ext>
            </a:extLst>
          </p:cNvPr>
          <p:cNvSpPr/>
          <p:nvPr/>
        </p:nvSpPr>
        <p:spPr>
          <a:xfrm>
            <a:off x="92842" y="620688"/>
            <a:ext cx="6904941" cy="107184"/>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kumimoji="1" lang="zh-CN" altLang="en-US" dirty="0">
              <a:solidFill>
                <a:schemeClr val="tx1"/>
              </a:solidFill>
            </a:endParaRPr>
          </a:p>
        </p:txBody>
      </p:sp>
      <p:sp>
        <p:nvSpPr>
          <p:cNvPr id="3" name="标题 2">
            <a:extLst>
              <a:ext uri="{FF2B5EF4-FFF2-40B4-BE49-F238E27FC236}">
                <a16:creationId xmlns:a16="http://schemas.microsoft.com/office/drawing/2014/main" id="{25B74569-BECD-A6D1-188B-A07FA6719FCB}"/>
              </a:ext>
            </a:extLst>
          </p:cNvPr>
          <p:cNvSpPr>
            <a:spLocks noGrp="1"/>
          </p:cNvSpPr>
          <p:nvPr>
            <p:ph type="title"/>
          </p:nvPr>
        </p:nvSpPr>
        <p:spPr>
          <a:xfrm>
            <a:off x="119336" y="76228"/>
            <a:ext cx="9695205" cy="531544"/>
          </a:xfrm>
        </p:spPr>
        <p:txBody>
          <a:bodyPr/>
          <a:lstStyle/>
          <a:p>
            <a:r>
              <a:rPr lang="en-US" altLang="zh-CN" dirty="0">
                <a:solidFill>
                  <a:srgbClr val="071A55"/>
                </a:solidFill>
                <a:latin typeface="Aptos Display"/>
              </a:rPr>
              <a:t>Validated Scope and Open Question</a:t>
            </a:r>
          </a:p>
        </p:txBody>
      </p:sp>
      <p:cxnSp>
        <p:nvCxnSpPr>
          <p:cNvPr id="2" name="04_Validated_Accent">
            <a:extLst>
              <a:ext uri="{FF2B5EF4-FFF2-40B4-BE49-F238E27FC236}">
                <a16:creationId xmlns:a16="http://schemas.microsoft.com/office/drawing/2014/main" id="{9128A65C-F254-D922-0CE5-5E200C42E01D}"/>
              </a:ext>
            </a:extLst>
          </p:cNvPr>
          <p:cNvCxnSpPr/>
          <p:nvPr/>
        </p:nvCxnSpPr>
        <p:spPr>
          <a:xfrm>
            <a:off x="475488" y="1078992"/>
            <a:ext cx="0" cy="146304"/>
          </a:xfrm>
          <a:prstGeom prst="line">
            <a:avLst/>
          </a:prstGeom>
          <a:ln w="31750">
            <a:solidFill>
              <a:srgbClr val="00BFFF"/>
            </a:solidFill>
          </a:ln>
        </p:spPr>
        <p:style>
          <a:lnRef idx="2">
            <a:schemeClr val="accent1"/>
          </a:lnRef>
          <a:fillRef idx="0">
            <a:schemeClr val="accent1"/>
          </a:fillRef>
          <a:effectRef idx="1">
            <a:schemeClr val="accent1"/>
          </a:effectRef>
          <a:fontRef idx="minor">
            <a:schemeClr val="tx1"/>
          </a:fontRef>
        </p:style>
      </p:cxnSp>
      <p:sp>
        <p:nvSpPr>
          <p:cNvPr id="4" name="05_Validated_Header">
            <a:extLst>
              <a:ext uri="{FF2B5EF4-FFF2-40B4-BE49-F238E27FC236}">
                <a16:creationId xmlns:a16="http://schemas.microsoft.com/office/drawing/2014/main" id="{D905711A-B292-554F-E587-4E4885641E96}"/>
              </a:ext>
            </a:extLst>
          </p:cNvPr>
          <p:cNvSpPr txBox="1"/>
          <p:nvPr/>
        </p:nvSpPr>
        <p:spPr>
          <a:xfrm>
            <a:off x="594360" y="1029034"/>
            <a:ext cx="1918730" cy="246221"/>
          </a:xfrm>
          <a:prstGeom prst="rect">
            <a:avLst/>
          </a:prstGeom>
          <a:noFill/>
        </p:spPr>
        <p:txBody>
          <a:bodyPr wrap="none" lIns="0" tIns="0" rIns="0" bIns="0" anchor="ctr">
            <a:spAutoFit/>
          </a:bodyPr>
          <a:lstStyle/>
          <a:p>
            <a:pPr algn="l"/>
            <a:r>
              <a:rPr sz="1600" b="1" dirty="0">
                <a:solidFill>
                  <a:srgbClr val="071A55"/>
                </a:solidFill>
                <a:latin typeface="Times New Roman" panose="02020603050405020304" pitchFamily="18" charset="0"/>
                <a:cs typeface="Times New Roman" panose="02020603050405020304" pitchFamily="18" charset="0"/>
              </a:rPr>
              <a:t>VALIDATED SCOPE</a:t>
            </a:r>
          </a:p>
        </p:txBody>
      </p:sp>
      <p:cxnSp>
        <p:nvCxnSpPr>
          <p:cNvPr id="6" name="07_Scope_Branch_Line_V1">
            <a:extLst>
              <a:ext uri="{FF2B5EF4-FFF2-40B4-BE49-F238E27FC236}">
                <a16:creationId xmlns:a16="http://schemas.microsoft.com/office/drawing/2014/main" id="{18FBEE4D-336F-F90F-F093-9CF4041659AB}"/>
              </a:ext>
            </a:extLst>
          </p:cNvPr>
          <p:cNvCxnSpPr/>
          <p:nvPr/>
        </p:nvCxnSpPr>
        <p:spPr>
          <a:xfrm>
            <a:off x="6099048" y="1810512"/>
            <a:ext cx="0" cy="137160"/>
          </a:xfrm>
          <a:prstGeom prst="line">
            <a:avLst/>
          </a:prstGeom>
          <a:ln w="18415">
            <a:solidFill>
              <a:srgbClr val="00BFFF"/>
            </a:solidFill>
          </a:ln>
        </p:spPr>
        <p:style>
          <a:lnRef idx="2">
            <a:schemeClr val="accent1"/>
          </a:lnRef>
          <a:fillRef idx="0">
            <a:schemeClr val="accent1"/>
          </a:fillRef>
          <a:effectRef idx="1">
            <a:schemeClr val="accent1"/>
          </a:effectRef>
          <a:fontRef idx="minor">
            <a:schemeClr val="tx1"/>
          </a:fontRef>
        </p:style>
      </p:cxnSp>
      <p:cxnSp>
        <p:nvCxnSpPr>
          <p:cNvPr id="7" name="07_Scope_Branch_Line_H">
            <a:extLst>
              <a:ext uri="{FF2B5EF4-FFF2-40B4-BE49-F238E27FC236}">
                <a16:creationId xmlns:a16="http://schemas.microsoft.com/office/drawing/2014/main" id="{026F8B0D-4793-49BE-0941-4232DAEA53AB}"/>
              </a:ext>
            </a:extLst>
          </p:cNvPr>
          <p:cNvCxnSpPr/>
          <p:nvPr/>
        </p:nvCxnSpPr>
        <p:spPr>
          <a:xfrm>
            <a:off x="2834640" y="1947672"/>
            <a:ext cx="6492240" cy="0"/>
          </a:xfrm>
          <a:prstGeom prst="line">
            <a:avLst/>
          </a:prstGeom>
          <a:ln w="18415">
            <a:solidFill>
              <a:srgbClr val="00BFFF"/>
            </a:solidFill>
          </a:ln>
        </p:spPr>
        <p:style>
          <a:lnRef idx="2">
            <a:schemeClr val="accent1"/>
          </a:lnRef>
          <a:fillRef idx="0">
            <a:schemeClr val="accent1"/>
          </a:fillRef>
          <a:effectRef idx="1">
            <a:schemeClr val="accent1"/>
          </a:effectRef>
          <a:fontRef idx="minor">
            <a:schemeClr val="tx1"/>
          </a:fontRef>
        </p:style>
      </p:cxnSp>
      <p:cxnSp>
        <p:nvCxnSpPr>
          <p:cNvPr id="8" name="07_Scope_Branch_Line_Left">
            <a:extLst>
              <a:ext uri="{FF2B5EF4-FFF2-40B4-BE49-F238E27FC236}">
                <a16:creationId xmlns:a16="http://schemas.microsoft.com/office/drawing/2014/main" id="{5C5B8CEA-7BCA-47EA-ED63-113F0F4B68DC}"/>
              </a:ext>
            </a:extLst>
          </p:cNvPr>
          <p:cNvCxnSpPr/>
          <p:nvPr/>
        </p:nvCxnSpPr>
        <p:spPr>
          <a:xfrm>
            <a:off x="2834640" y="1947672"/>
            <a:ext cx="0" cy="155448"/>
          </a:xfrm>
          <a:prstGeom prst="line">
            <a:avLst/>
          </a:prstGeom>
          <a:ln w="18415">
            <a:solidFill>
              <a:srgbClr val="00BFFF"/>
            </a:solidFill>
          </a:ln>
        </p:spPr>
        <p:style>
          <a:lnRef idx="2">
            <a:schemeClr val="accent1"/>
          </a:lnRef>
          <a:fillRef idx="0">
            <a:schemeClr val="accent1"/>
          </a:fillRef>
          <a:effectRef idx="1">
            <a:schemeClr val="accent1"/>
          </a:effectRef>
          <a:fontRef idx="minor">
            <a:schemeClr val="tx1"/>
          </a:fontRef>
        </p:style>
      </p:cxnSp>
      <p:cxnSp>
        <p:nvCxnSpPr>
          <p:cNvPr id="11" name="07_Scope_Branch_Line_Right">
            <a:extLst>
              <a:ext uri="{FF2B5EF4-FFF2-40B4-BE49-F238E27FC236}">
                <a16:creationId xmlns:a16="http://schemas.microsoft.com/office/drawing/2014/main" id="{E32226F3-C45A-9950-E32A-1100569D7CF5}"/>
              </a:ext>
            </a:extLst>
          </p:cNvPr>
          <p:cNvCxnSpPr/>
          <p:nvPr/>
        </p:nvCxnSpPr>
        <p:spPr>
          <a:xfrm>
            <a:off x="9326880" y="1947672"/>
            <a:ext cx="0" cy="155448"/>
          </a:xfrm>
          <a:prstGeom prst="line">
            <a:avLst/>
          </a:prstGeom>
          <a:ln w="18415">
            <a:solidFill>
              <a:srgbClr val="00BFFF"/>
            </a:solidFill>
          </a:ln>
        </p:spPr>
        <p:style>
          <a:lnRef idx="2">
            <a:schemeClr val="accent1"/>
          </a:lnRef>
          <a:fillRef idx="0">
            <a:schemeClr val="accent1"/>
          </a:fillRef>
          <a:effectRef idx="1">
            <a:schemeClr val="accent1"/>
          </a:effectRef>
          <a:fontRef idx="minor">
            <a:schemeClr val="tx1"/>
          </a:fontRef>
        </p:style>
      </p:cxnSp>
      <p:sp>
        <p:nvSpPr>
          <p:cNvPr id="12" name="06_Scope_Main_Claim">
            <a:extLst>
              <a:ext uri="{FF2B5EF4-FFF2-40B4-BE49-F238E27FC236}">
                <a16:creationId xmlns:a16="http://schemas.microsoft.com/office/drawing/2014/main" id="{5F9E2F4C-62EC-C6D6-D93A-600FF760F603}"/>
              </a:ext>
            </a:extLst>
          </p:cNvPr>
          <p:cNvSpPr txBox="1"/>
          <p:nvPr/>
        </p:nvSpPr>
        <p:spPr>
          <a:xfrm>
            <a:off x="4015229" y="1455456"/>
            <a:ext cx="4222503" cy="307777"/>
          </a:xfrm>
          <a:prstGeom prst="rect">
            <a:avLst/>
          </a:prstGeom>
          <a:noFill/>
        </p:spPr>
        <p:txBody>
          <a:bodyPr wrap="none" lIns="0" tIns="0" rIns="0" bIns="0" anchor="ctr">
            <a:spAutoFit/>
          </a:bodyPr>
          <a:lstStyle/>
          <a:p>
            <a:pPr algn="ctr"/>
            <a:r>
              <a:rPr sz="2000" b="1" dirty="0">
                <a:solidFill>
                  <a:srgbClr val="071A55"/>
                </a:solidFill>
                <a:latin typeface="Times New Roman" panose="02020603050405020304" pitchFamily="18" charset="0"/>
                <a:cs typeface="Times New Roman" panose="02020603050405020304" pitchFamily="18" charset="0"/>
              </a:rPr>
              <a:t>Constrained executable reconstruction</a:t>
            </a:r>
          </a:p>
        </p:txBody>
      </p:sp>
      <p:sp>
        <p:nvSpPr>
          <p:cNvPr id="13" name="08_Single_Icon_Back">
            <a:extLst>
              <a:ext uri="{FF2B5EF4-FFF2-40B4-BE49-F238E27FC236}">
                <a16:creationId xmlns:a16="http://schemas.microsoft.com/office/drawing/2014/main" id="{5D906C2D-2B02-F8B2-FFED-34E2EFD07305}"/>
              </a:ext>
            </a:extLst>
          </p:cNvPr>
          <p:cNvSpPr/>
          <p:nvPr/>
        </p:nvSpPr>
        <p:spPr>
          <a:xfrm>
            <a:off x="1435608" y="2084831"/>
            <a:ext cx="530352" cy="384048"/>
          </a:xfrm>
          <a:prstGeom prst="rect">
            <a:avLst/>
          </a:prstGeom>
          <a:solidFill>
            <a:srgbClr val="F5FAFD"/>
          </a:solidFill>
          <a:ln w="127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 name="08_Single_Icon_Front">
            <a:extLst>
              <a:ext uri="{FF2B5EF4-FFF2-40B4-BE49-F238E27FC236}">
                <a16:creationId xmlns:a16="http://schemas.microsoft.com/office/drawing/2014/main" id="{EA7B7FC1-F142-A19D-1726-AFE7A7D0EB40}"/>
              </a:ext>
            </a:extLst>
          </p:cNvPr>
          <p:cNvSpPr/>
          <p:nvPr/>
        </p:nvSpPr>
        <p:spPr>
          <a:xfrm>
            <a:off x="1325880" y="2157984"/>
            <a:ext cx="530352" cy="384048"/>
          </a:xfrm>
          <a:prstGeom prst="rect">
            <a:avLst/>
          </a:prstGeom>
          <a:solidFill>
            <a:srgbClr val="FFFFFF"/>
          </a:solidFill>
          <a:ln w="127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09_Single_Title">
            <a:extLst>
              <a:ext uri="{FF2B5EF4-FFF2-40B4-BE49-F238E27FC236}">
                <a16:creationId xmlns:a16="http://schemas.microsoft.com/office/drawing/2014/main" id="{5B44906B-1B66-4545-94B6-AD6D8DEFEF97}"/>
              </a:ext>
            </a:extLst>
          </p:cNvPr>
          <p:cNvSpPr txBox="1"/>
          <p:nvPr/>
        </p:nvSpPr>
        <p:spPr>
          <a:xfrm>
            <a:off x="2148840" y="2120069"/>
            <a:ext cx="1583767" cy="276999"/>
          </a:xfrm>
          <a:prstGeom prst="rect">
            <a:avLst/>
          </a:prstGeom>
          <a:noFill/>
        </p:spPr>
        <p:txBody>
          <a:bodyPr wrap="none" lIns="0" tIns="0" rIns="0" bIns="0" anchor="ctr">
            <a:spAutoFit/>
          </a:bodyPr>
          <a:lstStyle/>
          <a:p>
            <a:pPr algn="l"/>
            <a:r>
              <a:rPr sz="1800" b="1" dirty="0">
                <a:solidFill>
                  <a:srgbClr val="111111"/>
                </a:solidFill>
                <a:latin typeface="Times New Roman" panose="02020603050405020304" pitchFamily="18" charset="0"/>
                <a:cs typeface="Times New Roman" panose="02020603050405020304" pitchFamily="18" charset="0"/>
              </a:rPr>
              <a:t>Single extrusion</a:t>
            </a:r>
          </a:p>
        </p:txBody>
      </p:sp>
      <p:sp>
        <p:nvSpPr>
          <p:cNvPr id="16" name="10_Single_Description">
            <a:extLst>
              <a:ext uri="{FF2B5EF4-FFF2-40B4-BE49-F238E27FC236}">
                <a16:creationId xmlns:a16="http://schemas.microsoft.com/office/drawing/2014/main" id="{5F296758-738B-CC83-12C4-9D438AF9BF37}"/>
              </a:ext>
            </a:extLst>
          </p:cNvPr>
          <p:cNvSpPr txBox="1"/>
          <p:nvPr/>
        </p:nvSpPr>
        <p:spPr>
          <a:xfrm>
            <a:off x="2148840" y="2507462"/>
            <a:ext cx="2558393" cy="215444"/>
          </a:xfrm>
          <a:prstGeom prst="rect">
            <a:avLst/>
          </a:prstGeom>
          <a:noFill/>
        </p:spPr>
        <p:txBody>
          <a:bodyPr wrap="none" lIns="0" tIns="0" rIns="0" bIns="0" anchor="ctr">
            <a:spAutoFit/>
          </a:bodyPr>
          <a:lstStyle/>
          <a:p>
            <a:pPr algn="l"/>
            <a:r>
              <a:rPr sz="1400" b="0" dirty="0">
                <a:solidFill>
                  <a:srgbClr val="666666"/>
                </a:solidFill>
                <a:latin typeface="Times New Roman" panose="02020603050405020304" pitchFamily="18" charset="0"/>
                <a:cs typeface="Times New Roman" panose="02020603050405020304" pitchFamily="18" charset="0"/>
              </a:rPr>
              <a:t>One planar profile → one extrusion</a:t>
            </a:r>
          </a:p>
        </p:txBody>
      </p:sp>
      <p:sp>
        <p:nvSpPr>
          <p:cNvPr id="18" name="11_ThroughCut_Icon_Base">
            <a:extLst>
              <a:ext uri="{FF2B5EF4-FFF2-40B4-BE49-F238E27FC236}">
                <a16:creationId xmlns:a16="http://schemas.microsoft.com/office/drawing/2014/main" id="{B00FBD29-BC96-596D-D607-69F11F5650E4}"/>
              </a:ext>
            </a:extLst>
          </p:cNvPr>
          <p:cNvSpPr/>
          <p:nvPr/>
        </p:nvSpPr>
        <p:spPr>
          <a:xfrm>
            <a:off x="6675120" y="2139696"/>
            <a:ext cx="795528" cy="393192"/>
          </a:xfrm>
          <a:prstGeom prst="rect">
            <a:avLst/>
          </a:prstGeom>
          <a:solidFill>
            <a:srgbClr val="FFFFFF"/>
          </a:solidFill>
          <a:ln w="127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11_ThroughCut_Entrance">
            <a:extLst>
              <a:ext uri="{FF2B5EF4-FFF2-40B4-BE49-F238E27FC236}">
                <a16:creationId xmlns:a16="http://schemas.microsoft.com/office/drawing/2014/main" id="{17994DEE-213C-6CC0-9D11-A1E66C11FD6C}"/>
              </a:ext>
            </a:extLst>
          </p:cNvPr>
          <p:cNvSpPr/>
          <p:nvPr/>
        </p:nvSpPr>
        <p:spPr>
          <a:xfrm>
            <a:off x="6858000" y="2258568"/>
            <a:ext cx="210312" cy="164592"/>
          </a:xfrm>
          <a:prstGeom prst="ellipse">
            <a:avLst/>
          </a:prstGeom>
          <a:noFill/>
          <a:ln w="1143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11_ThroughCut_Exit">
            <a:extLst>
              <a:ext uri="{FF2B5EF4-FFF2-40B4-BE49-F238E27FC236}">
                <a16:creationId xmlns:a16="http://schemas.microsoft.com/office/drawing/2014/main" id="{AC70B8A8-3F94-208E-48F0-4873938D1A57}"/>
              </a:ext>
            </a:extLst>
          </p:cNvPr>
          <p:cNvSpPr/>
          <p:nvPr/>
        </p:nvSpPr>
        <p:spPr>
          <a:xfrm>
            <a:off x="7150608" y="2221992"/>
            <a:ext cx="210312" cy="164592"/>
          </a:xfrm>
          <a:prstGeom prst="ellipse">
            <a:avLst/>
          </a:prstGeom>
          <a:noFill/>
          <a:ln w="10160">
            <a:solidFill>
              <a:srgbClr val="66666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cxnSp>
        <p:nvCxnSpPr>
          <p:cNvPr id="22" name="11_ThroughCut_Axis1">
            <a:extLst>
              <a:ext uri="{FF2B5EF4-FFF2-40B4-BE49-F238E27FC236}">
                <a16:creationId xmlns:a16="http://schemas.microsoft.com/office/drawing/2014/main" id="{0FAF18AD-5DA1-8E21-7DEF-541DD4ED6DE0}"/>
              </a:ext>
            </a:extLst>
          </p:cNvPr>
          <p:cNvCxnSpPr/>
          <p:nvPr/>
        </p:nvCxnSpPr>
        <p:spPr>
          <a:xfrm flipV="1">
            <a:off x="6963156" y="2267712"/>
            <a:ext cx="292608" cy="36576"/>
          </a:xfrm>
          <a:prstGeom prst="line">
            <a:avLst/>
          </a:prstGeom>
          <a:ln w="6985">
            <a:solidFill>
              <a:srgbClr val="666666"/>
            </a:solidFill>
            <a:prstDash val="dash"/>
          </a:ln>
        </p:spPr>
        <p:style>
          <a:lnRef idx="2">
            <a:schemeClr val="accent1"/>
          </a:lnRef>
          <a:fillRef idx="0">
            <a:schemeClr val="accent1"/>
          </a:fillRef>
          <a:effectRef idx="1">
            <a:schemeClr val="accent1"/>
          </a:effectRef>
          <a:fontRef idx="minor">
            <a:schemeClr val="tx1"/>
          </a:fontRef>
        </p:style>
      </p:cxnSp>
      <p:cxnSp>
        <p:nvCxnSpPr>
          <p:cNvPr id="23" name="11_ThroughCut_Axis2">
            <a:extLst>
              <a:ext uri="{FF2B5EF4-FFF2-40B4-BE49-F238E27FC236}">
                <a16:creationId xmlns:a16="http://schemas.microsoft.com/office/drawing/2014/main" id="{01B65EB2-EB3E-82D2-EA0A-675914CD0B3D}"/>
              </a:ext>
            </a:extLst>
          </p:cNvPr>
          <p:cNvCxnSpPr/>
          <p:nvPr/>
        </p:nvCxnSpPr>
        <p:spPr>
          <a:xfrm flipV="1">
            <a:off x="6963156" y="2340864"/>
            <a:ext cx="292608" cy="36576"/>
          </a:xfrm>
          <a:prstGeom prst="line">
            <a:avLst/>
          </a:prstGeom>
          <a:ln w="6985">
            <a:solidFill>
              <a:srgbClr val="666666"/>
            </a:solidFill>
            <a:prstDash val="dash"/>
          </a:ln>
        </p:spPr>
        <p:style>
          <a:lnRef idx="2">
            <a:schemeClr val="accent1"/>
          </a:lnRef>
          <a:fillRef idx="0">
            <a:schemeClr val="accent1"/>
          </a:fillRef>
          <a:effectRef idx="1">
            <a:schemeClr val="accent1"/>
          </a:effectRef>
          <a:fontRef idx="minor">
            <a:schemeClr val="tx1"/>
          </a:fontRef>
        </p:style>
      </p:cxnSp>
      <p:sp>
        <p:nvSpPr>
          <p:cNvPr id="24" name="12_ThroughCut_Title">
            <a:extLst>
              <a:ext uri="{FF2B5EF4-FFF2-40B4-BE49-F238E27FC236}">
                <a16:creationId xmlns:a16="http://schemas.microsoft.com/office/drawing/2014/main" id="{C3D5AF89-6170-D8B0-8FC5-793DE9CC5171}"/>
              </a:ext>
            </a:extLst>
          </p:cNvPr>
          <p:cNvSpPr txBox="1"/>
          <p:nvPr/>
        </p:nvSpPr>
        <p:spPr>
          <a:xfrm>
            <a:off x="7772400" y="2063865"/>
            <a:ext cx="2862963" cy="553998"/>
          </a:xfrm>
          <a:prstGeom prst="rect">
            <a:avLst/>
          </a:prstGeom>
          <a:noFill/>
        </p:spPr>
        <p:txBody>
          <a:bodyPr wrap="none" lIns="0" tIns="0" rIns="0" bIns="0" anchor="ctr">
            <a:spAutoFit/>
          </a:bodyPr>
          <a:lstStyle/>
          <a:p>
            <a:pPr algn="l"/>
            <a:r>
              <a:rPr sz="1800" b="1" dirty="0">
                <a:solidFill>
                  <a:srgbClr val="111111"/>
                </a:solidFill>
                <a:latin typeface="Times New Roman" panose="02020603050405020304" pitchFamily="18" charset="0"/>
                <a:cs typeface="Times New Roman" panose="02020603050405020304" pitchFamily="18" charset="0"/>
              </a:rPr>
              <a:t>Base extrusion + one straight</a:t>
            </a:r>
          </a:p>
          <a:p>
            <a:pPr algn="l"/>
            <a:r>
              <a:rPr sz="1800" b="1" dirty="0">
                <a:solidFill>
                  <a:srgbClr val="111111"/>
                </a:solidFill>
                <a:latin typeface="Times New Roman" panose="02020603050405020304" pitchFamily="18" charset="0"/>
                <a:cs typeface="Times New Roman" panose="02020603050405020304" pitchFamily="18" charset="0"/>
              </a:rPr>
              <a:t>through cylindrical cut</a:t>
            </a:r>
          </a:p>
        </p:txBody>
      </p:sp>
      <p:sp>
        <p:nvSpPr>
          <p:cNvPr id="26" name="13_ThroughCut_Description">
            <a:extLst>
              <a:ext uri="{FF2B5EF4-FFF2-40B4-BE49-F238E27FC236}">
                <a16:creationId xmlns:a16="http://schemas.microsoft.com/office/drawing/2014/main" id="{4158A54F-71D8-2472-41CB-8A254B2E19A8}"/>
              </a:ext>
            </a:extLst>
          </p:cNvPr>
          <p:cNvSpPr txBox="1"/>
          <p:nvPr/>
        </p:nvSpPr>
        <p:spPr>
          <a:xfrm>
            <a:off x="7772400" y="2717774"/>
            <a:ext cx="2810065" cy="215444"/>
          </a:xfrm>
          <a:prstGeom prst="rect">
            <a:avLst/>
          </a:prstGeom>
          <a:noFill/>
        </p:spPr>
        <p:txBody>
          <a:bodyPr wrap="none" lIns="0" tIns="0" rIns="0" bIns="0" anchor="ctr">
            <a:spAutoFit/>
          </a:bodyPr>
          <a:lstStyle/>
          <a:p>
            <a:pPr algn="l"/>
            <a:r>
              <a:rPr sz="1400" b="0" dirty="0">
                <a:solidFill>
                  <a:srgbClr val="666666"/>
                </a:solidFill>
                <a:latin typeface="Times New Roman" panose="02020603050405020304" pitchFamily="18" charset="0"/>
                <a:cs typeface="Times New Roman" panose="02020603050405020304" pitchFamily="18" charset="0"/>
              </a:rPr>
              <a:t>One coupled base-and-cut construction</a:t>
            </a:r>
          </a:p>
        </p:txBody>
      </p:sp>
      <p:sp>
        <p:nvSpPr>
          <p:cNvPr id="27" name="14_Validation_Check">
            <a:extLst>
              <a:ext uri="{FF2B5EF4-FFF2-40B4-BE49-F238E27FC236}">
                <a16:creationId xmlns:a16="http://schemas.microsoft.com/office/drawing/2014/main" id="{22FF9B94-53FA-8042-EAEB-5AA4208E3B85}"/>
              </a:ext>
            </a:extLst>
          </p:cNvPr>
          <p:cNvSpPr txBox="1"/>
          <p:nvPr/>
        </p:nvSpPr>
        <p:spPr>
          <a:xfrm>
            <a:off x="3740408" y="2859165"/>
            <a:ext cx="129844" cy="207749"/>
          </a:xfrm>
          <a:prstGeom prst="rect">
            <a:avLst/>
          </a:prstGeom>
          <a:noFill/>
        </p:spPr>
        <p:txBody>
          <a:bodyPr wrap="none" lIns="0" tIns="0" rIns="0" bIns="0" anchor="ctr">
            <a:spAutoFit/>
          </a:bodyPr>
          <a:lstStyle/>
          <a:p>
            <a:pPr algn="l"/>
            <a:r>
              <a:rPr sz="1350" b="1" dirty="0">
                <a:solidFill>
                  <a:srgbClr val="20A060"/>
                </a:solidFill>
                <a:latin typeface="Times New Roman" panose="02020603050405020304" pitchFamily="18" charset="0"/>
                <a:cs typeface="Times New Roman" panose="02020603050405020304" pitchFamily="18" charset="0"/>
              </a:rPr>
              <a:t>✓</a:t>
            </a:r>
          </a:p>
        </p:txBody>
      </p:sp>
      <p:sp>
        <p:nvSpPr>
          <p:cNvPr id="28" name="15_Validation_Common_Text">
            <a:extLst>
              <a:ext uri="{FF2B5EF4-FFF2-40B4-BE49-F238E27FC236}">
                <a16:creationId xmlns:a16="http://schemas.microsoft.com/office/drawing/2014/main" id="{7FDBDF4F-3A78-A745-84DD-C7B19238CF46}"/>
              </a:ext>
            </a:extLst>
          </p:cNvPr>
          <p:cNvSpPr txBox="1"/>
          <p:nvPr/>
        </p:nvSpPr>
        <p:spPr>
          <a:xfrm>
            <a:off x="3987296" y="2867362"/>
            <a:ext cx="3810915" cy="246221"/>
          </a:xfrm>
          <a:prstGeom prst="rect">
            <a:avLst/>
          </a:prstGeom>
          <a:noFill/>
        </p:spPr>
        <p:txBody>
          <a:bodyPr wrap="none" lIns="0" tIns="0" rIns="0" bIns="0" anchor="ctr">
            <a:spAutoFit/>
          </a:bodyPr>
          <a:lstStyle/>
          <a:p>
            <a:pPr algn="l"/>
            <a:r>
              <a:rPr sz="1600" b="1" dirty="0">
                <a:solidFill>
                  <a:srgbClr val="071A55"/>
                </a:solidFill>
                <a:latin typeface="Times New Roman" panose="02020603050405020304" pitchFamily="18" charset="0"/>
                <a:cs typeface="Times New Roman" panose="02020603050405020304" pitchFamily="18" charset="0"/>
              </a:rPr>
              <a:t>Auditable replay + route-specific validation</a:t>
            </a:r>
          </a:p>
        </p:txBody>
      </p:sp>
      <p:sp>
        <p:nvSpPr>
          <p:cNvPr id="30" name="16_Scope_Boundary_Note">
            <a:extLst>
              <a:ext uri="{FF2B5EF4-FFF2-40B4-BE49-F238E27FC236}">
                <a16:creationId xmlns:a16="http://schemas.microsoft.com/office/drawing/2014/main" id="{4286999C-9727-E876-F685-B7FCD2500B9C}"/>
              </a:ext>
            </a:extLst>
          </p:cNvPr>
          <p:cNvSpPr txBox="1"/>
          <p:nvPr/>
        </p:nvSpPr>
        <p:spPr>
          <a:xfrm>
            <a:off x="2107412" y="3091026"/>
            <a:ext cx="7916575" cy="553998"/>
          </a:xfrm>
          <a:prstGeom prst="rect">
            <a:avLst/>
          </a:prstGeom>
          <a:noFill/>
        </p:spPr>
        <p:txBody>
          <a:bodyPr wrap="square" lIns="0" tIns="0" rIns="0" bIns="0" anchor="ctr">
            <a:spAutoFit/>
          </a:bodyPr>
          <a:lstStyle/>
          <a:p>
            <a:pPr algn="ctr"/>
            <a:r>
              <a:rPr lang="en-US" sz="1200" b="0" dirty="0">
                <a:solidFill>
                  <a:srgbClr val="666666"/>
                </a:solidFill>
                <a:latin typeface="Times New Roman" panose="02020603050405020304" pitchFamily="18" charset="0"/>
                <a:cs typeface="Times New Roman" panose="02020603050405020304" pitchFamily="18" charset="0"/>
              </a:rPr>
              <a:t>Evidence is limited to the tested construction classes and frozen environment.</a:t>
            </a:r>
          </a:p>
          <a:p>
            <a:pPr algn="ctr"/>
            <a:r>
              <a:rPr lang="en-US" sz="1200" b="0" dirty="0">
                <a:solidFill>
                  <a:srgbClr val="666666"/>
                </a:solidFill>
                <a:latin typeface="Times New Roman" panose="02020603050405020304" pitchFamily="18" charset="0"/>
                <a:cs typeface="Times New Roman" panose="02020603050405020304" pitchFamily="18" charset="0"/>
              </a:rPr>
              <a:t>It does not establish unique designer history, arbitrary-operation support,</a:t>
            </a:r>
          </a:p>
          <a:p>
            <a:pPr algn="ctr"/>
            <a:r>
              <a:rPr lang="en-US" sz="1200" b="0" dirty="0">
                <a:solidFill>
                  <a:srgbClr val="666666"/>
                </a:solidFill>
                <a:latin typeface="Times New Roman" panose="02020603050405020304" pitchFamily="18" charset="0"/>
                <a:cs typeface="Times New Roman" panose="02020603050405020304" pitchFamily="18" charset="0"/>
              </a:rPr>
              <a:t>industrial generalization, or universal validation thresholds.</a:t>
            </a:r>
            <a:endParaRPr sz="1200" b="0" dirty="0">
              <a:solidFill>
                <a:srgbClr val="666666"/>
              </a:solidFill>
              <a:latin typeface="Times New Roman" panose="02020603050405020304" pitchFamily="18" charset="0"/>
              <a:cs typeface="Times New Roman" panose="02020603050405020304" pitchFamily="18" charset="0"/>
            </a:endParaRPr>
          </a:p>
        </p:txBody>
      </p:sp>
      <p:cxnSp>
        <p:nvCxnSpPr>
          <p:cNvPr id="31" name="17_Section_Divider_1">
            <a:extLst>
              <a:ext uri="{FF2B5EF4-FFF2-40B4-BE49-F238E27FC236}">
                <a16:creationId xmlns:a16="http://schemas.microsoft.com/office/drawing/2014/main" id="{C82876D1-109C-AA90-424F-633D86673624}"/>
              </a:ext>
            </a:extLst>
          </p:cNvPr>
          <p:cNvCxnSpPr/>
          <p:nvPr/>
        </p:nvCxnSpPr>
        <p:spPr>
          <a:xfrm>
            <a:off x="594360" y="3645024"/>
            <a:ext cx="10927080" cy="0"/>
          </a:xfrm>
          <a:prstGeom prst="line">
            <a:avLst/>
          </a:prstGeom>
          <a:ln w="8890">
            <a:solidFill>
              <a:srgbClr val="D9DEE3"/>
            </a:solidFill>
          </a:ln>
        </p:spPr>
        <p:style>
          <a:lnRef idx="2">
            <a:schemeClr val="accent1"/>
          </a:lnRef>
          <a:fillRef idx="0">
            <a:schemeClr val="accent1"/>
          </a:fillRef>
          <a:effectRef idx="1">
            <a:schemeClr val="accent1"/>
          </a:effectRef>
          <a:fontRef idx="minor">
            <a:schemeClr val="tx1"/>
          </a:fontRef>
        </p:style>
      </p:cxnSp>
      <p:cxnSp>
        <p:nvCxnSpPr>
          <p:cNvPr id="37" name="18_Executor_Accent">
            <a:extLst>
              <a:ext uri="{FF2B5EF4-FFF2-40B4-BE49-F238E27FC236}">
                <a16:creationId xmlns:a16="http://schemas.microsoft.com/office/drawing/2014/main" id="{82F36853-AD0C-FBD8-5B3F-B0DAC23CAC1F}"/>
              </a:ext>
            </a:extLst>
          </p:cNvPr>
          <p:cNvCxnSpPr/>
          <p:nvPr/>
        </p:nvCxnSpPr>
        <p:spPr>
          <a:xfrm>
            <a:off x="475488" y="3785615"/>
            <a:ext cx="0" cy="146305"/>
          </a:xfrm>
          <a:prstGeom prst="line">
            <a:avLst/>
          </a:prstGeom>
          <a:ln w="31750">
            <a:solidFill>
              <a:srgbClr val="D99A00"/>
            </a:solidFill>
          </a:ln>
        </p:spPr>
        <p:style>
          <a:lnRef idx="2">
            <a:schemeClr val="accent1"/>
          </a:lnRef>
          <a:fillRef idx="0">
            <a:schemeClr val="accent1"/>
          </a:fillRef>
          <a:effectRef idx="1">
            <a:schemeClr val="accent1"/>
          </a:effectRef>
          <a:fontRef idx="minor">
            <a:schemeClr val="tx1"/>
          </a:fontRef>
        </p:style>
      </p:cxnSp>
      <p:sp>
        <p:nvSpPr>
          <p:cNvPr id="43" name="19_Executor_Header">
            <a:extLst>
              <a:ext uri="{FF2B5EF4-FFF2-40B4-BE49-F238E27FC236}">
                <a16:creationId xmlns:a16="http://schemas.microsoft.com/office/drawing/2014/main" id="{2C807ED1-41A6-2E06-A595-76CEE6278B38}"/>
              </a:ext>
            </a:extLst>
          </p:cNvPr>
          <p:cNvSpPr txBox="1"/>
          <p:nvPr/>
        </p:nvSpPr>
        <p:spPr>
          <a:xfrm>
            <a:off x="594360" y="3735658"/>
            <a:ext cx="3662285" cy="246221"/>
          </a:xfrm>
          <a:prstGeom prst="rect">
            <a:avLst/>
          </a:prstGeom>
          <a:noFill/>
        </p:spPr>
        <p:txBody>
          <a:bodyPr wrap="none" lIns="0" tIns="0" rIns="0" bIns="0" anchor="ctr">
            <a:spAutoFit/>
          </a:bodyPr>
          <a:lstStyle/>
          <a:p>
            <a:pPr algn="l"/>
            <a:r>
              <a:rPr sz="1600" b="1" dirty="0">
                <a:solidFill>
                  <a:srgbClr val="071A55"/>
                </a:solidFill>
                <a:latin typeface="Times New Roman" panose="02020603050405020304" pitchFamily="18" charset="0"/>
                <a:cs typeface="Times New Roman" panose="02020603050405020304" pitchFamily="18" charset="0"/>
              </a:rPr>
              <a:t>PRESERVED EXECUTOR BOUNDARY</a:t>
            </a:r>
          </a:p>
        </p:txBody>
      </p:sp>
      <p:cxnSp>
        <p:nvCxnSpPr>
          <p:cNvPr id="44" name="22_Arrow_TS07_Replay">
            <a:extLst>
              <a:ext uri="{FF2B5EF4-FFF2-40B4-BE49-F238E27FC236}">
                <a16:creationId xmlns:a16="http://schemas.microsoft.com/office/drawing/2014/main" id="{1DCD42D6-8762-638E-0C05-B21F341FED3B}"/>
              </a:ext>
            </a:extLst>
          </p:cNvPr>
          <p:cNvCxnSpPr/>
          <p:nvPr/>
        </p:nvCxnSpPr>
        <p:spPr>
          <a:xfrm>
            <a:off x="2725391" y="4439746"/>
            <a:ext cx="384049" cy="0"/>
          </a:xfrm>
          <a:prstGeom prst="line">
            <a:avLst/>
          </a:prstGeom>
          <a:ln w="17780">
            <a:solidFill>
              <a:srgbClr val="00BF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3" name="25_Arrow_Replay_Failure">
            <a:extLst>
              <a:ext uri="{FF2B5EF4-FFF2-40B4-BE49-F238E27FC236}">
                <a16:creationId xmlns:a16="http://schemas.microsoft.com/office/drawing/2014/main" id="{91C099C1-1CA7-0AD1-DB26-4A759D0D6D6D}"/>
              </a:ext>
            </a:extLst>
          </p:cNvPr>
          <p:cNvCxnSpPr/>
          <p:nvPr/>
        </p:nvCxnSpPr>
        <p:spPr>
          <a:xfrm>
            <a:off x="5074664" y="4439746"/>
            <a:ext cx="210312" cy="0"/>
          </a:xfrm>
          <a:prstGeom prst="line">
            <a:avLst/>
          </a:prstGeom>
          <a:ln w="17780">
            <a:solidFill>
              <a:srgbClr val="D99A0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4" name="30_Arrow_Failure_Preserved">
            <a:extLst>
              <a:ext uri="{FF2B5EF4-FFF2-40B4-BE49-F238E27FC236}">
                <a16:creationId xmlns:a16="http://schemas.microsoft.com/office/drawing/2014/main" id="{591266AA-FFA3-FF53-EAC7-CAB062A0EB3C}"/>
              </a:ext>
            </a:extLst>
          </p:cNvPr>
          <p:cNvCxnSpPr/>
          <p:nvPr/>
        </p:nvCxnSpPr>
        <p:spPr>
          <a:xfrm>
            <a:off x="8604984" y="4439746"/>
            <a:ext cx="292608" cy="0"/>
          </a:xfrm>
          <a:prstGeom prst="line">
            <a:avLst/>
          </a:prstGeom>
          <a:ln w="17780">
            <a:solidFill>
              <a:srgbClr val="D99A00"/>
            </a:solidFill>
            <a:tailEnd type="triangle" w="sm" len="sm"/>
          </a:ln>
        </p:spPr>
        <p:style>
          <a:lnRef idx="2">
            <a:schemeClr val="accent1"/>
          </a:lnRef>
          <a:fillRef idx="0">
            <a:schemeClr val="accent1"/>
          </a:fillRef>
          <a:effectRef idx="1">
            <a:schemeClr val="accent1"/>
          </a:effectRef>
          <a:fontRef idx="minor">
            <a:schemeClr val="tx1"/>
          </a:fontRef>
        </p:style>
      </p:cxnSp>
      <p:sp>
        <p:nvSpPr>
          <p:cNvPr id="65" name="20_TS07_ID">
            <a:extLst>
              <a:ext uri="{FF2B5EF4-FFF2-40B4-BE49-F238E27FC236}">
                <a16:creationId xmlns:a16="http://schemas.microsoft.com/office/drawing/2014/main" id="{137DE03D-5FA5-B17F-17CB-6EEF69AB5404}"/>
              </a:ext>
            </a:extLst>
          </p:cNvPr>
          <p:cNvSpPr txBox="1"/>
          <p:nvPr/>
        </p:nvSpPr>
        <p:spPr>
          <a:xfrm>
            <a:off x="1765272" y="4237015"/>
            <a:ext cx="662938" cy="323165"/>
          </a:xfrm>
          <a:prstGeom prst="rect">
            <a:avLst/>
          </a:prstGeom>
          <a:noFill/>
        </p:spPr>
        <p:txBody>
          <a:bodyPr wrap="none" lIns="0" tIns="0" rIns="0" bIns="0" anchor="ctr">
            <a:spAutoFit/>
          </a:bodyPr>
          <a:lstStyle/>
          <a:p>
            <a:pPr algn="l"/>
            <a:r>
              <a:rPr sz="2100" b="1">
                <a:solidFill>
                  <a:srgbClr val="071A55"/>
                </a:solidFill>
                <a:latin typeface="Times New Roman" panose="02020603050405020304" pitchFamily="18" charset="0"/>
                <a:cs typeface="Times New Roman" panose="02020603050405020304" pitchFamily="18" charset="0"/>
              </a:rPr>
              <a:t>T-S07</a:t>
            </a:r>
          </a:p>
        </p:txBody>
      </p:sp>
      <p:sp>
        <p:nvSpPr>
          <p:cNvPr id="66" name="21_TS07_Source">
            <a:extLst>
              <a:ext uri="{FF2B5EF4-FFF2-40B4-BE49-F238E27FC236}">
                <a16:creationId xmlns:a16="http://schemas.microsoft.com/office/drawing/2014/main" id="{E658F051-CA64-F056-D7A4-F3A494941B09}"/>
              </a:ext>
            </a:extLst>
          </p:cNvPr>
          <p:cNvSpPr txBox="1"/>
          <p:nvPr/>
        </p:nvSpPr>
        <p:spPr>
          <a:xfrm>
            <a:off x="1765272" y="4605808"/>
            <a:ext cx="721351" cy="326243"/>
          </a:xfrm>
          <a:prstGeom prst="rect">
            <a:avLst/>
          </a:prstGeom>
          <a:noFill/>
        </p:spPr>
        <p:txBody>
          <a:bodyPr wrap="none" lIns="0" tIns="0" rIns="0" bIns="0" anchor="ctr">
            <a:spAutoFit/>
          </a:bodyPr>
          <a:lstStyle/>
          <a:p>
            <a:pPr algn="l"/>
            <a:r>
              <a:rPr sz="1060" b="0">
                <a:solidFill>
                  <a:srgbClr val="666666"/>
                </a:solidFill>
                <a:latin typeface="Times New Roman" panose="02020603050405020304" pitchFamily="18" charset="0"/>
                <a:cs typeface="Times New Roman" panose="02020603050405020304" pitchFamily="18" charset="0"/>
              </a:rPr>
              <a:t>supported</a:t>
            </a:r>
          </a:p>
          <a:p>
            <a:pPr algn="l"/>
            <a:r>
              <a:rPr sz="1060" b="0">
                <a:solidFill>
                  <a:srgbClr val="666666"/>
                </a:solidFill>
                <a:latin typeface="Times New Roman" panose="02020603050405020304" pitchFamily="18" charset="0"/>
                <a:cs typeface="Times New Roman" panose="02020603050405020304" pitchFamily="18" charset="0"/>
              </a:rPr>
              <a:t>held-out case</a:t>
            </a:r>
          </a:p>
        </p:txBody>
      </p:sp>
      <p:sp>
        <p:nvSpPr>
          <p:cNvPr id="67" name="23_Replay_Title">
            <a:extLst>
              <a:ext uri="{FF2B5EF4-FFF2-40B4-BE49-F238E27FC236}">
                <a16:creationId xmlns:a16="http://schemas.microsoft.com/office/drawing/2014/main" id="{4A2D47CA-9675-3E74-D433-A0BE141916B3}"/>
              </a:ext>
            </a:extLst>
          </p:cNvPr>
          <p:cNvSpPr txBox="1"/>
          <p:nvPr/>
        </p:nvSpPr>
        <p:spPr>
          <a:xfrm>
            <a:off x="3182592" y="4199680"/>
            <a:ext cx="1605824" cy="480131"/>
          </a:xfrm>
          <a:prstGeom prst="rect">
            <a:avLst/>
          </a:prstGeom>
          <a:noFill/>
        </p:spPr>
        <p:txBody>
          <a:bodyPr wrap="none" lIns="0" tIns="0" rIns="0" bIns="0" anchor="ctr">
            <a:spAutoFit/>
          </a:bodyPr>
          <a:lstStyle/>
          <a:p>
            <a:pPr algn="l"/>
            <a:r>
              <a:rPr sz="1560" b="1">
                <a:solidFill>
                  <a:srgbClr val="111111"/>
                </a:solidFill>
                <a:latin typeface="Times New Roman" panose="02020603050405020304" pitchFamily="18" charset="0"/>
                <a:cs typeface="Times New Roman" panose="02020603050405020304" pitchFamily="18" charset="0"/>
              </a:rPr>
              <a:t>Candidate reached</a:t>
            </a:r>
          </a:p>
          <a:p>
            <a:pPr algn="l"/>
            <a:r>
              <a:rPr sz="1560" b="1">
                <a:solidFill>
                  <a:srgbClr val="111111"/>
                </a:solidFill>
                <a:latin typeface="Times New Roman" panose="02020603050405020304" pitchFamily="18" charset="0"/>
                <a:cs typeface="Times New Roman" panose="02020603050405020304" pitchFamily="18" charset="0"/>
              </a:rPr>
              <a:t>Fusion replay</a:t>
            </a:r>
          </a:p>
        </p:txBody>
      </p:sp>
      <p:sp>
        <p:nvSpPr>
          <p:cNvPr id="69" name="24_Replay_Subtitle">
            <a:extLst>
              <a:ext uri="{FF2B5EF4-FFF2-40B4-BE49-F238E27FC236}">
                <a16:creationId xmlns:a16="http://schemas.microsoft.com/office/drawing/2014/main" id="{15227C86-CB26-B2E4-80BF-32645CF5EF7A}"/>
              </a:ext>
            </a:extLst>
          </p:cNvPr>
          <p:cNvSpPr txBox="1"/>
          <p:nvPr/>
        </p:nvSpPr>
        <p:spPr>
          <a:xfrm>
            <a:off x="3182592" y="4774237"/>
            <a:ext cx="1627048" cy="163122"/>
          </a:xfrm>
          <a:prstGeom prst="rect">
            <a:avLst/>
          </a:prstGeom>
          <a:noFill/>
        </p:spPr>
        <p:txBody>
          <a:bodyPr wrap="none" lIns="0" tIns="0" rIns="0" bIns="0" anchor="ctr">
            <a:spAutoFit/>
          </a:bodyPr>
          <a:lstStyle/>
          <a:p>
            <a:pPr algn="l"/>
            <a:r>
              <a:rPr sz="1060" b="0">
                <a:solidFill>
                  <a:srgbClr val="666666"/>
                </a:solidFill>
                <a:latin typeface="Times New Roman" panose="02020603050405020304" pitchFamily="18" charset="0"/>
                <a:cs typeface="Times New Roman" panose="02020603050405020304" pitchFamily="18" charset="0"/>
              </a:rPr>
              <a:t>semantic inference completed</a:t>
            </a:r>
          </a:p>
        </p:txBody>
      </p:sp>
      <p:sp>
        <p:nvSpPr>
          <p:cNvPr id="71" name="29_Failure_Background">
            <a:extLst>
              <a:ext uri="{FF2B5EF4-FFF2-40B4-BE49-F238E27FC236}">
                <a16:creationId xmlns:a16="http://schemas.microsoft.com/office/drawing/2014/main" id="{4ED699E4-7A21-8A68-9380-6D5FCD03876D}"/>
              </a:ext>
            </a:extLst>
          </p:cNvPr>
          <p:cNvSpPr/>
          <p:nvPr/>
        </p:nvSpPr>
        <p:spPr>
          <a:xfrm>
            <a:off x="5434704" y="4000833"/>
            <a:ext cx="3170280" cy="850393"/>
          </a:xfrm>
          <a:prstGeom prst="rect">
            <a:avLst/>
          </a:prstGeom>
          <a:solidFill>
            <a:srgbClr val="FFF8E8"/>
          </a:solidFill>
          <a:ln w="10160">
            <a:solidFill>
              <a:srgbClr val="E7CF9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3" name="26_Failure_Header">
            <a:extLst>
              <a:ext uri="{FF2B5EF4-FFF2-40B4-BE49-F238E27FC236}">
                <a16:creationId xmlns:a16="http://schemas.microsoft.com/office/drawing/2014/main" id="{90E62D90-A90F-6ECE-E131-C683FDFAEFFF}"/>
              </a:ext>
            </a:extLst>
          </p:cNvPr>
          <p:cNvSpPr txBox="1"/>
          <p:nvPr/>
        </p:nvSpPr>
        <p:spPr>
          <a:xfrm>
            <a:off x="5522715" y="4027551"/>
            <a:ext cx="1215076" cy="147733"/>
          </a:xfrm>
          <a:prstGeom prst="rect">
            <a:avLst/>
          </a:prstGeom>
          <a:noFill/>
        </p:spPr>
        <p:txBody>
          <a:bodyPr wrap="none" lIns="0" tIns="0" rIns="0" bIns="0" anchor="ctr">
            <a:spAutoFit/>
          </a:bodyPr>
          <a:lstStyle/>
          <a:p>
            <a:pPr algn="l"/>
            <a:r>
              <a:rPr sz="960" b="1" dirty="0">
                <a:solidFill>
                  <a:srgbClr val="B77900"/>
                </a:solidFill>
                <a:latin typeface="Times New Roman" panose="02020603050405020304" pitchFamily="18" charset="0"/>
                <a:cs typeface="Times New Roman" panose="02020603050405020304" pitchFamily="18" charset="0"/>
              </a:rPr>
              <a:t>EXECUTOR RESULT</a:t>
            </a:r>
          </a:p>
        </p:txBody>
      </p:sp>
      <p:sp>
        <p:nvSpPr>
          <p:cNvPr id="74" name="27_Failure_Field">
            <a:extLst>
              <a:ext uri="{FF2B5EF4-FFF2-40B4-BE49-F238E27FC236}">
                <a16:creationId xmlns:a16="http://schemas.microsoft.com/office/drawing/2014/main" id="{0E225F2A-456B-FDEA-FE7E-752023F3517D}"/>
              </a:ext>
            </a:extLst>
          </p:cNvPr>
          <p:cNvSpPr txBox="1"/>
          <p:nvPr/>
        </p:nvSpPr>
        <p:spPr>
          <a:xfrm>
            <a:off x="5522715" y="4240082"/>
            <a:ext cx="670055" cy="161583"/>
          </a:xfrm>
          <a:prstGeom prst="rect">
            <a:avLst/>
          </a:prstGeom>
          <a:noFill/>
        </p:spPr>
        <p:txBody>
          <a:bodyPr wrap="none" lIns="0" tIns="0" rIns="0" bIns="0" anchor="ctr">
            <a:spAutoFit/>
          </a:bodyPr>
          <a:lstStyle/>
          <a:p>
            <a:pPr algn="l"/>
            <a:r>
              <a:rPr sz="1050" b="0" dirty="0" err="1">
                <a:solidFill>
                  <a:srgbClr val="666666"/>
                </a:solidFill>
                <a:latin typeface="Times New Roman" panose="02020603050405020304" pitchFamily="18" charset="0"/>
                <a:cs typeface="Times New Roman" panose="02020603050405020304" pitchFamily="18" charset="0"/>
              </a:rPr>
              <a:t>failure_code</a:t>
            </a:r>
            <a:endParaRPr sz="1050" b="0" dirty="0">
              <a:solidFill>
                <a:srgbClr val="666666"/>
              </a:solidFill>
              <a:latin typeface="Times New Roman" panose="02020603050405020304" pitchFamily="18" charset="0"/>
              <a:cs typeface="Times New Roman" panose="02020603050405020304" pitchFamily="18" charset="0"/>
            </a:endParaRPr>
          </a:p>
        </p:txBody>
      </p:sp>
      <p:sp>
        <p:nvSpPr>
          <p:cNvPr id="75" name="28_Failure_Value">
            <a:extLst>
              <a:ext uri="{FF2B5EF4-FFF2-40B4-BE49-F238E27FC236}">
                <a16:creationId xmlns:a16="http://schemas.microsoft.com/office/drawing/2014/main" id="{935EDDC8-4608-D7BA-26DF-EA0DA447B60E}"/>
              </a:ext>
            </a:extLst>
          </p:cNvPr>
          <p:cNvSpPr txBox="1"/>
          <p:nvPr/>
        </p:nvSpPr>
        <p:spPr>
          <a:xfrm>
            <a:off x="5522715" y="4481584"/>
            <a:ext cx="1811393" cy="172355"/>
          </a:xfrm>
          <a:prstGeom prst="rect">
            <a:avLst/>
          </a:prstGeom>
          <a:noFill/>
        </p:spPr>
        <p:txBody>
          <a:bodyPr wrap="none" lIns="0" tIns="0" rIns="0" bIns="0" anchor="ctr">
            <a:spAutoFit/>
          </a:bodyPr>
          <a:lstStyle/>
          <a:p>
            <a:pPr algn="l"/>
            <a:r>
              <a:rPr sz="1120" b="1" dirty="0" err="1">
                <a:solidFill>
                  <a:srgbClr val="B77900"/>
                </a:solidFill>
                <a:latin typeface="Times New Roman" panose="02020603050405020304" pitchFamily="18" charset="0"/>
                <a:cs typeface="Times New Roman" panose="02020603050405020304" pitchFamily="18" charset="0"/>
              </a:rPr>
              <a:t>unsupported_absolute_frame</a:t>
            </a:r>
            <a:endParaRPr sz="1120" b="1" dirty="0">
              <a:solidFill>
                <a:srgbClr val="B77900"/>
              </a:solidFill>
              <a:latin typeface="Times New Roman" panose="02020603050405020304" pitchFamily="18" charset="0"/>
              <a:cs typeface="Times New Roman" panose="02020603050405020304" pitchFamily="18" charset="0"/>
            </a:endParaRPr>
          </a:p>
        </p:txBody>
      </p:sp>
      <p:sp>
        <p:nvSpPr>
          <p:cNvPr id="76" name="28b_Failure_Note">
            <a:extLst>
              <a:ext uri="{FF2B5EF4-FFF2-40B4-BE49-F238E27FC236}">
                <a16:creationId xmlns:a16="http://schemas.microsoft.com/office/drawing/2014/main" id="{839D4CEE-E00E-E94A-36EC-D94423272996}"/>
              </a:ext>
            </a:extLst>
          </p:cNvPr>
          <p:cNvSpPr txBox="1"/>
          <p:nvPr/>
        </p:nvSpPr>
        <p:spPr>
          <a:xfrm>
            <a:off x="5522715" y="4685919"/>
            <a:ext cx="1585370" cy="147733"/>
          </a:xfrm>
          <a:prstGeom prst="rect">
            <a:avLst/>
          </a:prstGeom>
          <a:noFill/>
        </p:spPr>
        <p:txBody>
          <a:bodyPr wrap="none" lIns="0" tIns="0" rIns="0" bIns="0" anchor="ctr">
            <a:spAutoFit/>
          </a:bodyPr>
          <a:lstStyle/>
          <a:p>
            <a:pPr algn="l"/>
            <a:r>
              <a:rPr sz="960" b="0">
                <a:solidFill>
                  <a:srgbClr val="666666"/>
                </a:solidFill>
                <a:latin typeface="Times New Roman" panose="02020603050405020304" pitchFamily="18" charset="0"/>
                <a:cs typeface="Times New Roman" panose="02020603050405020304" pitchFamily="18" charset="0"/>
              </a:rPr>
              <a:t>absolute-frame replay capability</a:t>
            </a:r>
          </a:p>
        </p:txBody>
      </p:sp>
      <p:sp>
        <p:nvSpPr>
          <p:cNvPr id="77" name="31_Preserved_Title">
            <a:extLst>
              <a:ext uri="{FF2B5EF4-FFF2-40B4-BE49-F238E27FC236}">
                <a16:creationId xmlns:a16="http://schemas.microsoft.com/office/drawing/2014/main" id="{554E6BD7-CE7B-CB6E-1DFF-1CF6CAF14290}"/>
              </a:ext>
            </a:extLst>
          </p:cNvPr>
          <p:cNvSpPr txBox="1"/>
          <p:nvPr/>
        </p:nvSpPr>
        <p:spPr>
          <a:xfrm>
            <a:off x="8943312" y="4224079"/>
            <a:ext cx="1608261" cy="477054"/>
          </a:xfrm>
          <a:prstGeom prst="rect">
            <a:avLst/>
          </a:prstGeom>
          <a:noFill/>
        </p:spPr>
        <p:txBody>
          <a:bodyPr wrap="none" lIns="0" tIns="0" rIns="0" bIns="0" anchor="ctr">
            <a:spAutoFit/>
          </a:bodyPr>
          <a:lstStyle/>
          <a:p>
            <a:pPr algn="l"/>
            <a:r>
              <a:rPr sz="1550" b="1">
                <a:solidFill>
                  <a:srgbClr val="111111"/>
                </a:solidFill>
                <a:latin typeface="Times New Roman" panose="02020603050405020304" pitchFamily="18" charset="0"/>
                <a:cs typeface="Times New Roman" panose="02020603050405020304" pitchFamily="18" charset="0"/>
              </a:rPr>
              <a:t>Preserved without</a:t>
            </a:r>
          </a:p>
          <a:p>
            <a:pPr algn="l"/>
            <a:r>
              <a:rPr sz="1550" b="1">
                <a:solidFill>
                  <a:srgbClr val="111111"/>
                </a:solidFill>
                <a:latin typeface="Times New Roman" panose="02020603050405020304" pitchFamily="18" charset="0"/>
                <a:cs typeface="Times New Roman" panose="02020603050405020304" pitchFamily="18" charset="0"/>
              </a:rPr>
              <a:t>retry or relabelling</a:t>
            </a:r>
          </a:p>
        </p:txBody>
      </p:sp>
      <p:sp>
        <p:nvSpPr>
          <p:cNvPr id="78" name="32_Preserved_Subtitle">
            <a:extLst>
              <a:ext uri="{FF2B5EF4-FFF2-40B4-BE49-F238E27FC236}">
                <a16:creationId xmlns:a16="http://schemas.microsoft.com/office/drawing/2014/main" id="{7F33BE88-82AC-596C-0176-D0A9DB009D77}"/>
              </a:ext>
            </a:extLst>
          </p:cNvPr>
          <p:cNvSpPr txBox="1"/>
          <p:nvPr/>
        </p:nvSpPr>
        <p:spPr>
          <a:xfrm>
            <a:off x="8943312" y="4882426"/>
            <a:ext cx="1189428" cy="166199"/>
          </a:xfrm>
          <a:prstGeom prst="rect">
            <a:avLst/>
          </a:prstGeom>
          <a:noFill/>
        </p:spPr>
        <p:txBody>
          <a:bodyPr wrap="none" lIns="0" tIns="0" rIns="0" bIns="0" anchor="ctr">
            <a:spAutoFit/>
          </a:bodyPr>
          <a:lstStyle/>
          <a:p>
            <a:pPr algn="l"/>
            <a:r>
              <a:rPr sz="1080" b="0">
                <a:solidFill>
                  <a:srgbClr val="666666"/>
                </a:solidFill>
                <a:latin typeface="Times New Roman" panose="02020603050405020304" pitchFamily="18" charset="0"/>
                <a:cs typeface="Times New Roman" panose="02020603050405020304" pitchFamily="18" charset="0"/>
              </a:rPr>
              <a:t>No semantic retuning</a:t>
            </a:r>
          </a:p>
        </p:txBody>
      </p:sp>
      <p:sp>
        <p:nvSpPr>
          <p:cNvPr id="79" name="33_Executor_Boundary_Note">
            <a:extLst>
              <a:ext uri="{FF2B5EF4-FFF2-40B4-BE49-F238E27FC236}">
                <a16:creationId xmlns:a16="http://schemas.microsoft.com/office/drawing/2014/main" id="{9E282286-55B1-5239-77B8-1CA4FD276500}"/>
              </a:ext>
            </a:extLst>
          </p:cNvPr>
          <p:cNvSpPr txBox="1"/>
          <p:nvPr/>
        </p:nvSpPr>
        <p:spPr>
          <a:xfrm>
            <a:off x="6301782" y="5083252"/>
            <a:ext cx="4403449" cy="347788"/>
          </a:xfrm>
          <a:prstGeom prst="rect">
            <a:avLst/>
          </a:prstGeom>
          <a:noFill/>
        </p:spPr>
        <p:txBody>
          <a:bodyPr wrap="none" lIns="0" tIns="0" rIns="0" bIns="0" anchor="ctr">
            <a:spAutoFit/>
          </a:bodyPr>
          <a:lstStyle/>
          <a:p>
            <a:pPr algn="ctr"/>
            <a:r>
              <a:rPr sz="1130" b="1" dirty="0">
                <a:solidFill>
                  <a:srgbClr val="666666"/>
                </a:solidFill>
                <a:latin typeface="Times New Roman" panose="02020603050405020304" pitchFamily="18" charset="0"/>
                <a:cs typeface="Times New Roman" panose="02020603050405020304" pitchFamily="18" charset="0"/>
              </a:rPr>
              <a:t>Executor capability boundary</a:t>
            </a:r>
            <a:r>
              <a:rPr sz="1130" b="0" dirty="0">
                <a:solidFill>
                  <a:srgbClr val="666666"/>
                </a:solidFill>
                <a:latin typeface="Times New Roman" panose="02020603050405020304" pitchFamily="18" charset="0"/>
                <a:cs typeface="Times New Roman" panose="02020603050405020304" pitchFamily="18" charset="0"/>
              </a:rPr>
              <a:t> — </a:t>
            </a:r>
            <a:r>
              <a:rPr lang="en-US" sz="1130" b="0" dirty="0">
                <a:solidFill>
                  <a:srgbClr val="666666"/>
                </a:solidFill>
                <a:latin typeface="Times New Roman" panose="02020603050405020304" pitchFamily="18" charset="0"/>
                <a:cs typeface="Times New Roman" panose="02020603050405020304" pitchFamily="18" charset="0"/>
              </a:rPr>
              <a:t> neither a semantically unsupported case</a:t>
            </a:r>
          </a:p>
          <a:p>
            <a:pPr algn="ctr"/>
            <a:r>
              <a:rPr lang="en-US" sz="1130" b="0" dirty="0">
                <a:solidFill>
                  <a:srgbClr val="666666"/>
                </a:solidFill>
                <a:latin typeface="Times New Roman" panose="02020603050405020304" pitchFamily="18" charset="0"/>
                <a:cs typeface="Times New Roman" panose="02020603050405020304" pitchFamily="18" charset="0"/>
              </a:rPr>
              <a:t>nor evidence of history ambiguity.</a:t>
            </a:r>
            <a:endParaRPr sz="1130" b="0" dirty="0">
              <a:solidFill>
                <a:srgbClr val="666666"/>
              </a:solidFill>
              <a:latin typeface="Times New Roman" panose="02020603050405020304" pitchFamily="18" charset="0"/>
              <a:cs typeface="Times New Roman" panose="02020603050405020304" pitchFamily="18" charset="0"/>
            </a:endParaRPr>
          </a:p>
        </p:txBody>
      </p:sp>
      <p:cxnSp>
        <p:nvCxnSpPr>
          <p:cNvPr id="80" name="34_Section_Divider_2">
            <a:extLst>
              <a:ext uri="{FF2B5EF4-FFF2-40B4-BE49-F238E27FC236}">
                <a16:creationId xmlns:a16="http://schemas.microsoft.com/office/drawing/2014/main" id="{85F52641-9185-FAA1-6B71-66F9D690972F}"/>
              </a:ext>
            </a:extLst>
          </p:cNvPr>
          <p:cNvCxnSpPr/>
          <p:nvPr/>
        </p:nvCxnSpPr>
        <p:spPr>
          <a:xfrm>
            <a:off x="594360" y="5709250"/>
            <a:ext cx="10927080" cy="0"/>
          </a:xfrm>
          <a:prstGeom prst="line">
            <a:avLst/>
          </a:prstGeom>
          <a:ln w="8890">
            <a:solidFill>
              <a:srgbClr val="D9DEE3"/>
            </a:solidFill>
          </a:ln>
        </p:spPr>
        <p:style>
          <a:lnRef idx="2">
            <a:schemeClr val="accent1"/>
          </a:lnRef>
          <a:fillRef idx="0">
            <a:schemeClr val="accent1"/>
          </a:fillRef>
          <a:effectRef idx="1">
            <a:schemeClr val="accent1"/>
          </a:effectRef>
          <a:fontRef idx="minor">
            <a:schemeClr val="tx1"/>
          </a:fontRef>
        </p:style>
      </p:cxnSp>
      <p:sp>
        <p:nvSpPr>
          <p:cNvPr id="81" name="35_OpenQuestion_Header">
            <a:extLst>
              <a:ext uri="{FF2B5EF4-FFF2-40B4-BE49-F238E27FC236}">
                <a16:creationId xmlns:a16="http://schemas.microsoft.com/office/drawing/2014/main" id="{4B00E335-6AFB-1DBC-EB38-5A274932F69A}"/>
              </a:ext>
            </a:extLst>
          </p:cNvPr>
          <p:cNvSpPr txBox="1"/>
          <p:nvPr/>
        </p:nvSpPr>
        <p:spPr>
          <a:xfrm>
            <a:off x="594360" y="6015353"/>
            <a:ext cx="1702389" cy="246221"/>
          </a:xfrm>
          <a:prstGeom prst="rect">
            <a:avLst/>
          </a:prstGeom>
          <a:noFill/>
        </p:spPr>
        <p:txBody>
          <a:bodyPr wrap="none" lIns="0" tIns="0" rIns="0" bIns="0" anchor="ctr">
            <a:spAutoFit/>
          </a:bodyPr>
          <a:lstStyle/>
          <a:p>
            <a:pPr algn="l"/>
            <a:r>
              <a:rPr sz="1600" b="1" dirty="0">
                <a:solidFill>
                  <a:srgbClr val="071A55"/>
                </a:solidFill>
                <a:latin typeface="Times New Roman" panose="02020603050405020304" pitchFamily="18" charset="0"/>
                <a:cs typeface="Times New Roman" panose="02020603050405020304" pitchFamily="18" charset="0"/>
              </a:rPr>
              <a:t>OPEN QUESTION</a:t>
            </a:r>
          </a:p>
        </p:txBody>
      </p:sp>
      <p:sp>
        <p:nvSpPr>
          <p:cNvPr id="82" name="36_OpenQuestion_Text">
            <a:extLst>
              <a:ext uri="{FF2B5EF4-FFF2-40B4-BE49-F238E27FC236}">
                <a16:creationId xmlns:a16="http://schemas.microsoft.com/office/drawing/2014/main" id="{EDB755C8-90D4-D900-281D-CB461479E6FF}"/>
              </a:ext>
            </a:extLst>
          </p:cNvPr>
          <p:cNvSpPr txBox="1"/>
          <p:nvPr/>
        </p:nvSpPr>
        <p:spPr>
          <a:xfrm>
            <a:off x="2697480" y="6030070"/>
            <a:ext cx="9591208" cy="246221"/>
          </a:xfrm>
          <a:prstGeom prst="rect">
            <a:avLst/>
          </a:prstGeom>
          <a:noFill/>
        </p:spPr>
        <p:txBody>
          <a:bodyPr wrap="square" lIns="0" tIns="0" rIns="0" bIns="0" anchor="ctr">
            <a:spAutoFit/>
          </a:bodyPr>
          <a:lstStyle/>
          <a:p>
            <a:pPr algn="l"/>
            <a:r>
              <a:rPr sz="1600" b="1" dirty="0">
                <a:solidFill>
                  <a:srgbClr val="071A55"/>
                </a:solidFill>
                <a:latin typeface="Times New Roman" panose="02020603050405020304" pitchFamily="18" charset="0"/>
                <a:cs typeface="Times New Roman" panose="02020603050405020304" pitchFamily="18" charset="0"/>
              </a:rPr>
              <a:t>Future work will investigate controlled multi-operation ordering</a:t>
            </a:r>
            <a:r>
              <a:rPr lang="en-US" sz="1600" b="1" dirty="0">
                <a:solidFill>
                  <a:srgbClr val="071A55"/>
                </a:solidFill>
                <a:latin typeface="Times New Roman" panose="02020603050405020304" pitchFamily="18" charset="0"/>
                <a:cs typeface="Times New Roman" panose="02020603050405020304" pitchFamily="18" charset="0"/>
              </a:rPr>
              <a:t> </a:t>
            </a:r>
            <a:r>
              <a:rPr sz="1600" b="1" dirty="0">
                <a:solidFill>
                  <a:srgbClr val="071A55"/>
                </a:solidFill>
                <a:latin typeface="Times New Roman" panose="02020603050405020304" pitchFamily="18" charset="0"/>
                <a:cs typeface="Times New Roman" panose="02020603050405020304" pitchFamily="18" charset="0"/>
              </a:rPr>
              <a:t>and history ambiguity.</a:t>
            </a:r>
          </a:p>
        </p:txBody>
      </p:sp>
    </p:spTree>
    <p:extLst>
      <p:ext uri="{BB962C8B-B14F-4D97-AF65-F5344CB8AC3E}">
        <p14:creationId xmlns:p14="http://schemas.microsoft.com/office/powerpoint/2010/main" val="4183288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0D2D2-759E-3711-953C-51F513F1BE8E}"/>
            </a:ext>
          </a:extLst>
        </p:cNvPr>
        <p:cNvGrpSpPr/>
        <p:nvPr/>
      </p:nvGrpSpPr>
      <p:grpSpPr>
        <a:xfrm>
          <a:off x="0" y="0"/>
          <a:ext cx="0" cy="0"/>
          <a:chOff x="0" y="0"/>
          <a:chExt cx="0" cy="0"/>
        </a:xfrm>
      </p:grpSpPr>
      <p:sp>
        <p:nvSpPr>
          <p:cNvPr id="32" name="矩形 31">
            <a:extLst>
              <a:ext uri="{FF2B5EF4-FFF2-40B4-BE49-F238E27FC236}">
                <a16:creationId xmlns:a16="http://schemas.microsoft.com/office/drawing/2014/main" id="{DFD9F9C1-B6F6-0424-E20F-6BD97DE499FC}"/>
              </a:ext>
            </a:extLst>
          </p:cNvPr>
          <p:cNvSpPr/>
          <p:nvPr/>
        </p:nvSpPr>
        <p:spPr>
          <a:xfrm>
            <a:off x="102163" y="824183"/>
            <a:ext cx="6904941" cy="107184"/>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kumimoji="1" lang="zh-CN" altLang="en-US" dirty="0">
              <a:solidFill>
                <a:schemeClr val="tx1"/>
              </a:solidFill>
            </a:endParaRPr>
          </a:p>
        </p:txBody>
      </p:sp>
      <p:sp>
        <p:nvSpPr>
          <p:cNvPr id="3" name="标题 2">
            <a:extLst>
              <a:ext uri="{FF2B5EF4-FFF2-40B4-BE49-F238E27FC236}">
                <a16:creationId xmlns:a16="http://schemas.microsoft.com/office/drawing/2014/main" id="{EC494CCA-D40E-094B-13D2-9B390019CDC4}"/>
              </a:ext>
            </a:extLst>
          </p:cNvPr>
          <p:cNvSpPr>
            <a:spLocks noGrp="1"/>
          </p:cNvSpPr>
          <p:nvPr>
            <p:ph type="title"/>
          </p:nvPr>
        </p:nvSpPr>
        <p:spPr>
          <a:xfrm>
            <a:off x="119336" y="252464"/>
            <a:ext cx="9695205" cy="531544"/>
          </a:xfrm>
        </p:spPr>
        <p:txBody>
          <a:bodyPr/>
          <a:lstStyle/>
          <a:p>
            <a:r>
              <a:rPr lang="en-US" altLang="zh-CN" dirty="0">
                <a:solidFill>
                  <a:srgbClr val="071A55"/>
                </a:solidFill>
                <a:latin typeface="Aptos Display"/>
              </a:rPr>
              <a:t>Implementation Verification</a:t>
            </a:r>
          </a:p>
        </p:txBody>
      </p:sp>
      <p:sp>
        <p:nvSpPr>
          <p:cNvPr id="9" name="01_Appendix_Label">
            <a:extLst>
              <a:ext uri="{FF2B5EF4-FFF2-40B4-BE49-F238E27FC236}">
                <a16:creationId xmlns:a16="http://schemas.microsoft.com/office/drawing/2014/main" id="{7C34F73F-EB5A-7850-323F-66CB33A8ADBD}"/>
              </a:ext>
            </a:extLst>
          </p:cNvPr>
          <p:cNvSpPr txBox="1"/>
          <p:nvPr/>
        </p:nvSpPr>
        <p:spPr>
          <a:xfrm>
            <a:off x="92842" y="16933"/>
            <a:ext cx="981038" cy="215444"/>
          </a:xfrm>
          <a:prstGeom prst="rect">
            <a:avLst/>
          </a:prstGeom>
          <a:noFill/>
        </p:spPr>
        <p:txBody>
          <a:bodyPr wrap="none" lIns="0" tIns="0" rIns="0" bIns="0" anchor="ctr">
            <a:spAutoFit/>
          </a:bodyPr>
          <a:lstStyle/>
          <a:p>
            <a:pPr algn="l"/>
            <a:r>
              <a:rPr sz="1400" b="1" i="0" dirty="0">
                <a:solidFill>
                  <a:srgbClr val="00BFFF"/>
                </a:solidFill>
                <a:latin typeface="Aptos"/>
              </a:rPr>
              <a:t>APPENDIX 1</a:t>
            </a:r>
          </a:p>
        </p:txBody>
      </p:sp>
      <p:cxnSp>
        <p:nvCxnSpPr>
          <p:cNvPr id="10" name="05_Engineering_Accent">
            <a:extLst>
              <a:ext uri="{FF2B5EF4-FFF2-40B4-BE49-F238E27FC236}">
                <a16:creationId xmlns:a16="http://schemas.microsoft.com/office/drawing/2014/main" id="{2E3497E2-26E8-97C5-104D-337D717ECDB4}"/>
              </a:ext>
            </a:extLst>
          </p:cNvPr>
          <p:cNvCxnSpPr/>
          <p:nvPr/>
        </p:nvCxnSpPr>
        <p:spPr>
          <a:xfrm>
            <a:off x="249734" y="1146171"/>
            <a:ext cx="0" cy="146304"/>
          </a:xfrm>
          <a:prstGeom prst="line">
            <a:avLst/>
          </a:prstGeom>
          <a:ln w="31750">
            <a:solidFill>
              <a:srgbClr val="00BFFF"/>
            </a:solidFill>
          </a:ln>
        </p:spPr>
        <p:style>
          <a:lnRef idx="2">
            <a:schemeClr val="accent1"/>
          </a:lnRef>
          <a:fillRef idx="0">
            <a:schemeClr val="accent1"/>
          </a:fillRef>
          <a:effectRef idx="1">
            <a:schemeClr val="accent1"/>
          </a:effectRef>
          <a:fontRef idx="minor">
            <a:schemeClr val="tx1"/>
          </a:fontRef>
        </p:style>
      </p:cxnSp>
      <p:sp>
        <p:nvSpPr>
          <p:cNvPr id="17" name="06_Engineering_Header">
            <a:extLst>
              <a:ext uri="{FF2B5EF4-FFF2-40B4-BE49-F238E27FC236}">
                <a16:creationId xmlns:a16="http://schemas.microsoft.com/office/drawing/2014/main" id="{7A7ECD95-9246-AFA6-0030-371703609BBD}"/>
              </a:ext>
            </a:extLst>
          </p:cNvPr>
          <p:cNvSpPr txBox="1"/>
          <p:nvPr/>
        </p:nvSpPr>
        <p:spPr>
          <a:xfrm>
            <a:off x="368606" y="1102457"/>
            <a:ext cx="2678041" cy="215444"/>
          </a:xfrm>
          <a:prstGeom prst="rect">
            <a:avLst/>
          </a:prstGeom>
          <a:noFill/>
        </p:spPr>
        <p:txBody>
          <a:bodyPr wrap="none" lIns="0" tIns="0" rIns="0" bIns="0" anchor="ctr">
            <a:spAutoFit/>
          </a:bodyPr>
          <a:lstStyle/>
          <a:p>
            <a:pPr algn="l"/>
            <a:r>
              <a:rPr sz="1400" b="1" i="0" dirty="0">
                <a:solidFill>
                  <a:srgbClr val="071A55"/>
                </a:solidFill>
                <a:latin typeface="Times New Roman" panose="02020603050405020304" pitchFamily="18" charset="0"/>
                <a:cs typeface="Times New Roman" panose="02020603050405020304" pitchFamily="18" charset="0"/>
              </a:rPr>
              <a:t>ENGINEERING VERIFICATION</a:t>
            </a:r>
          </a:p>
        </p:txBody>
      </p:sp>
      <p:sp>
        <p:nvSpPr>
          <p:cNvPr id="21" name="07_Engineering_Subtitle">
            <a:extLst>
              <a:ext uri="{FF2B5EF4-FFF2-40B4-BE49-F238E27FC236}">
                <a16:creationId xmlns:a16="http://schemas.microsoft.com/office/drawing/2014/main" id="{1967E659-D602-49CB-6775-7192AA671ABB}"/>
              </a:ext>
            </a:extLst>
          </p:cNvPr>
          <p:cNvSpPr txBox="1"/>
          <p:nvPr/>
        </p:nvSpPr>
        <p:spPr>
          <a:xfrm>
            <a:off x="3467876" y="1077925"/>
            <a:ext cx="6689332" cy="246221"/>
          </a:xfrm>
          <a:prstGeom prst="rect">
            <a:avLst/>
          </a:prstGeom>
          <a:noFill/>
        </p:spPr>
        <p:txBody>
          <a:bodyPr wrap="none" lIns="0" tIns="0" rIns="0" bIns="0" anchor="ctr">
            <a:spAutoFit/>
          </a:bodyPr>
          <a:lstStyle/>
          <a:p>
            <a:pPr algn="l"/>
            <a:r>
              <a:rPr lang="en-US" sz="1600" b="0" i="0" dirty="0">
                <a:solidFill>
                  <a:srgbClr val="666666"/>
                </a:solidFill>
                <a:latin typeface="Times New Roman" panose="02020603050405020304" pitchFamily="18" charset="0"/>
                <a:cs typeface="Times New Roman" panose="02020603050405020304" pitchFamily="18" charset="0"/>
              </a:rPr>
              <a:t>Automated checks on the frozen technical baseline and Gate 5 delivery candidate</a:t>
            </a:r>
            <a:endParaRPr sz="1600" b="0" i="0" dirty="0">
              <a:solidFill>
                <a:srgbClr val="666666"/>
              </a:solidFill>
              <a:latin typeface="Times New Roman" panose="02020603050405020304" pitchFamily="18" charset="0"/>
              <a:cs typeface="Times New Roman" panose="02020603050405020304" pitchFamily="18" charset="0"/>
            </a:endParaRPr>
          </a:p>
        </p:txBody>
      </p:sp>
      <p:sp>
        <p:nvSpPr>
          <p:cNvPr id="25" name="08_Total_Test_Count">
            <a:extLst>
              <a:ext uri="{FF2B5EF4-FFF2-40B4-BE49-F238E27FC236}">
                <a16:creationId xmlns:a16="http://schemas.microsoft.com/office/drawing/2014/main" id="{DE237ED7-736E-5DF5-DEEA-BBB6337AC387}"/>
              </a:ext>
            </a:extLst>
          </p:cNvPr>
          <p:cNvSpPr txBox="1"/>
          <p:nvPr/>
        </p:nvSpPr>
        <p:spPr>
          <a:xfrm>
            <a:off x="4830173" y="1430623"/>
            <a:ext cx="815223" cy="677108"/>
          </a:xfrm>
          <a:prstGeom prst="rect">
            <a:avLst/>
          </a:prstGeom>
          <a:noFill/>
        </p:spPr>
        <p:txBody>
          <a:bodyPr wrap="none" lIns="0" tIns="0" rIns="0" bIns="0" anchor="ctr">
            <a:spAutoFit/>
          </a:bodyPr>
          <a:lstStyle/>
          <a:p>
            <a:pPr algn="ctr"/>
            <a:r>
              <a:rPr sz="4400" b="1" i="0" dirty="0">
                <a:solidFill>
                  <a:srgbClr val="071A55"/>
                </a:solidFill>
                <a:latin typeface="Times New Roman" panose="02020603050405020304" pitchFamily="18" charset="0"/>
                <a:cs typeface="Times New Roman" panose="02020603050405020304" pitchFamily="18" charset="0"/>
              </a:rPr>
              <a:t>311</a:t>
            </a:r>
          </a:p>
        </p:txBody>
      </p:sp>
      <p:sp>
        <p:nvSpPr>
          <p:cNvPr id="29" name="10_Total_Test_Check">
            <a:extLst>
              <a:ext uri="{FF2B5EF4-FFF2-40B4-BE49-F238E27FC236}">
                <a16:creationId xmlns:a16="http://schemas.microsoft.com/office/drawing/2014/main" id="{06CC0C80-0BF2-47D7-A8B5-05494782F9EC}"/>
              </a:ext>
            </a:extLst>
          </p:cNvPr>
          <p:cNvSpPr txBox="1"/>
          <p:nvPr/>
        </p:nvSpPr>
        <p:spPr>
          <a:xfrm>
            <a:off x="4214674" y="2197829"/>
            <a:ext cx="144270" cy="230832"/>
          </a:xfrm>
          <a:prstGeom prst="rect">
            <a:avLst/>
          </a:prstGeom>
          <a:noFill/>
        </p:spPr>
        <p:txBody>
          <a:bodyPr wrap="none" lIns="0" tIns="0" rIns="0" bIns="0" anchor="ctr">
            <a:spAutoFit/>
          </a:bodyPr>
          <a:lstStyle/>
          <a:p>
            <a:pPr algn="ctr"/>
            <a:r>
              <a:rPr sz="1500" b="1" i="0">
                <a:solidFill>
                  <a:srgbClr val="20A060"/>
                </a:solidFill>
                <a:latin typeface="Times New Roman" panose="02020603050405020304" pitchFamily="18" charset="0"/>
                <a:cs typeface="Times New Roman" panose="02020603050405020304" pitchFamily="18" charset="0"/>
              </a:rPr>
              <a:t>✓</a:t>
            </a:r>
          </a:p>
        </p:txBody>
      </p:sp>
      <p:sp>
        <p:nvSpPr>
          <p:cNvPr id="33" name="09_Total_Test_Label">
            <a:extLst>
              <a:ext uri="{FF2B5EF4-FFF2-40B4-BE49-F238E27FC236}">
                <a16:creationId xmlns:a16="http://schemas.microsoft.com/office/drawing/2014/main" id="{BEC30683-1448-651D-57B8-97328604BF84}"/>
              </a:ext>
            </a:extLst>
          </p:cNvPr>
          <p:cNvSpPr txBox="1"/>
          <p:nvPr/>
        </p:nvSpPr>
        <p:spPr>
          <a:xfrm>
            <a:off x="4686010" y="2172619"/>
            <a:ext cx="1211870" cy="292388"/>
          </a:xfrm>
          <a:prstGeom prst="rect">
            <a:avLst/>
          </a:prstGeom>
          <a:noFill/>
        </p:spPr>
        <p:txBody>
          <a:bodyPr wrap="none" lIns="0" tIns="0" rIns="0" bIns="0" anchor="ctr">
            <a:spAutoFit/>
          </a:bodyPr>
          <a:lstStyle/>
          <a:p>
            <a:pPr algn="ctr"/>
            <a:r>
              <a:rPr sz="1900" b="1" i="0" dirty="0">
                <a:solidFill>
                  <a:srgbClr val="111111"/>
                </a:solidFill>
                <a:latin typeface="Times New Roman" panose="02020603050405020304" pitchFamily="18" charset="0"/>
                <a:cs typeface="Times New Roman" panose="02020603050405020304" pitchFamily="18" charset="0"/>
              </a:rPr>
              <a:t>tests passed</a:t>
            </a:r>
          </a:p>
        </p:txBody>
      </p:sp>
      <p:sp>
        <p:nvSpPr>
          <p:cNvPr id="34" name="11_Total_Test_Note">
            <a:extLst>
              <a:ext uri="{FF2B5EF4-FFF2-40B4-BE49-F238E27FC236}">
                <a16:creationId xmlns:a16="http://schemas.microsoft.com/office/drawing/2014/main" id="{C016C8C0-445A-0BF5-3D83-0FE30BA32C5D}"/>
              </a:ext>
            </a:extLst>
          </p:cNvPr>
          <p:cNvSpPr txBox="1"/>
          <p:nvPr/>
        </p:nvSpPr>
        <p:spPr>
          <a:xfrm>
            <a:off x="3300203" y="2586672"/>
            <a:ext cx="3875164" cy="184666"/>
          </a:xfrm>
          <a:prstGeom prst="rect">
            <a:avLst/>
          </a:prstGeom>
          <a:noFill/>
        </p:spPr>
        <p:txBody>
          <a:bodyPr wrap="none" lIns="0" tIns="0" rIns="0" bIns="0" anchor="ctr">
            <a:spAutoFit/>
          </a:bodyPr>
          <a:lstStyle/>
          <a:p>
            <a:pPr algn="ctr"/>
            <a:r>
              <a:rPr lang="en-US" sz="1200" b="0" i="0" dirty="0">
                <a:solidFill>
                  <a:srgbClr val="666666"/>
                </a:solidFill>
                <a:latin typeface="Times New Roman" panose="02020603050405020304" pitchFamily="18" charset="0"/>
                <a:cs typeface="Times New Roman" panose="02020603050405020304" pitchFamily="18" charset="0"/>
              </a:rPr>
              <a:t>Full regression suite at the approved Checkpoint A verification</a:t>
            </a:r>
            <a:endParaRPr sz="1200" b="0" i="0" dirty="0">
              <a:solidFill>
                <a:srgbClr val="666666"/>
              </a:solidFill>
              <a:latin typeface="Times New Roman" panose="02020603050405020304" pitchFamily="18" charset="0"/>
              <a:cs typeface="Times New Roman" panose="02020603050405020304" pitchFamily="18" charset="0"/>
            </a:endParaRPr>
          </a:p>
        </p:txBody>
      </p:sp>
      <p:cxnSp>
        <p:nvCxnSpPr>
          <p:cNvPr id="35" name="12_Gate_Divider">
            <a:extLst>
              <a:ext uri="{FF2B5EF4-FFF2-40B4-BE49-F238E27FC236}">
                <a16:creationId xmlns:a16="http://schemas.microsoft.com/office/drawing/2014/main" id="{21A7BBF6-DDB7-6BE0-5B0C-E09A731995B1}"/>
              </a:ext>
            </a:extLst>
          </p:cNvPr>
          <p:cNvCxnSpPr/>
          <p:nvPr/>
        </p:nvCxnSpPr>
        <p:spPr>
          <a:xfrm>
            <a:off x="1097280" y="2944368"/>
            <a:ext cx="9966960" cy="0"/>
          </a:xfrm>
          <a:prstGeom prst="line">
            <a:avLst/>
          </a:prstGeom>
          <a:ln w="8890">
            <a:solidFill>
              <a:srgbClr val="D9DEE3"/>
            </a:solidFill>
          </a:ln>
        </p:spPr>
        <p:style>
          <a:lnRef idx="2">
            <a:schemeClr val="accent1"/>
          </a:lnRef>
          <a:fillRef idx="0">
            <a:schemeClr val="accent1"/>
          </a:fillRef>
          <a:effectRef idx="1">
            <a:schemeClr val="accent1"/>
          </a:effectRef>
          <a:fontRef idx="minor">
            <a:schemeClr val="tx1"/>
          </a:fontRef>
        </p:style>
      </p:cxnSp>
      <p:sp>
        <p:nvSpPr>
          <p:cNvPr id="36" name="13_Gate_Header">
            <a:extLst>
              <a:ext uri="{FF2B5EF4-FFF2-40B4-BE49-F238E27FC236}">
                <a16:creationId xmlns:a16="http://schemas.microsoft.com/office/drawing/2014/main" id="{BFA65B05-04A9-436A-5C9F-5EB8DF5F65FC}"/>
              </a:ext>
            </a:extLst>
          </p:cNvPr>
          <p:cNvSpPr txBox="1"/>
          <p:nvPr/>
        </p:nvSpPr>
        <p:spPr>
          <a:xfrm>
            <a:off x="583361" y="3081529"/>
            <a:ext cx="1959704" cy="215444"/>
          </a:xfrm>
          <a:prstGeom prst="rect">
            <a:avLst/>
          </a:prstGeom>
          <a:noFill/>
        </p:spPr>
        <p:txBody>
          <a:bodyPr wrap="none" lIns="0" tIns="0" rIns="0" bIns="0" anchor="ctr">
            <a:spAutoFit/>
          </a:bodyPr>
          <a:lstStyle/>
          <a:p>
            <a:pPr algn="l"/>
            <a:r>
              <a:rPr sz="1400" b="1" i="0" dirty="0">
                <a:solidFill>
                  <a:srgbClr val="071A55"/>
                </a:solidFill>
                <a:latin typeface="Times New Roman" panose="02020603050405020304" pitchFamily="18" charset="0"/>
                <a:cs typeface="Times New Roman" panose="02020603050405020304" pitchFamily="18" charset="0"/>
              </a:rPr>
              <a:t>GATE-LEVEL CHECKS</a:t>
            </a:r>
          </a:p>
        </p:txBody>
      </p:sp>
      <p:sp>
        <p:nvSpPr>
          <p:cNvPr id="38" name="14_Gate0_Label">
            <a:extLst>
              <a:ext uri="{FF2B5EF4-FFF2-40B4-BE49-F238E27FC236}">
                <a16:creationId xmlns:a16="http://schemas.microsoft.com/office/drawing/2014/main" id="{AEA632A9-0A69-21C0-0806-DDDF1613CE2B}"/>
              </a:ext>
            </a:extLst>
          </p:cNvPr>
          <p:cNvSpPr txBox="1"/>
          <p:nvPr/>
        </p:nvSpPr>
        <p:spPr>
          <a:xfrm>
            <a:off x="1005840" y="3595096"/>
            <a:ext cx="482504" cy="161583"/>
          </a:xfrm>
          <a:prstGeom prst="rect">
            <a:avLst/>
          </a:prstGeom>
          <a:noFill/>
        </p:spPr>
        <p:txBody>
          <a:bodyPr wrap="none" lIns="0" tIns="0" rIns="0" bIns="0" anchor="ctr">
            <a:spAutoFit/>
          </a:bodyPr>
          <a:lstStyle/>
          <a:p>
            <a:pPr algn="l"/>
            <a:r>
              <a:rPr sz="1050" b="1" i="0">
                <a:solidFill>
                  <a:srgbClr val="666666"/>
                </a:solidFill>
                <a:latin typeface="Times New Roman" panose="02020603050405020304" pitchFamily="18" charset="0"/>
                <a:cs typeface="Times New Roman" panose="02020603050405020304" pitchFamily="18" charset="0"/>
              </a:rPr>
              <a:t>GATE 0</a:t>
            </a:r>
          </a:p>
        </p:txBody>
      </p:sp>
      <p:sp>
        <p:nvSpPr>
          <p:cNvPr id="39" name="15_Gate0_Count">
            <a:extLst>
              <a:ext uri="{FF2B5EF4-FFF2-40B4-BE49-F238E27FC236}">
                <a16:creationId xmlns:a16="http://schemas.microsoft.com/office/drawing/2014/main" id="{0C5E496C-EDD1-2B71-722E-BCEEEDE2DFEF}"/>
              </a:ext>
            </a:extLst>
          </p:cNvPr>
          <p:cNvSpPr txBox="1"/>
          <p:nvPr/>
        </p:nvSpPr>
        <p:spPr>
          <a:xfrm>
            <a:off x="1005840" y="3850736"/>
            <a:ext cx="759823" cy="400110"/>
          </a:xfrm>
          <a:prstGeom prst="rect">
            <a:avLst/>
          </a:prstGeom>
          <a:noFill/>
        </p:spPr>
        <p:txBody>
          <a:bodyPr wrap="none" lIns="0" tIns="0" rIns="0" bIns="0" anchor="ctr">
            <a:spAutoFit/>
          </a:bodyPr>
          <a:lstStyle/>
          <a:p>
            <a:pPr algn="l"/>
            <a:r>
              <a:rPr sz="2600" b="1" i="0">
                <a:solidFill>
                  <a:srgbClr val="071A55"/>
                </a:solidFill>
                <a:latin typeface="Times New Roman" panose="02020603050405020304" pitchFamily="18" charset="0"/>
                <a:cs typeface="Times New Roman" panose="02020603050405020304" pitchFamily="18" charset="0"/>
              </a:rPr>
              <a:t>22/22</a:t>
            </a:r>
          </a:p>
        </p:txBody>
      </p:sp>
      <p:sp>
        <p:nvSpPr>
          <p:cNvPr id="40" name="16_Gate0_Description">
            <a:extLst>
              <a:ext uri="{FF2B5EF4-FFF2-40B4-BE49-F238E27FC236}">
                <a16:creationId xmlns:a16="http://schemas.microsoft.com/office/drawing/2014/main" id="{F4F266C7-C51A-2BCE-79B1-33D50931577F}"/>
              </a:ext>
            </a:extLst>
          </p:cNvPr>
          <p:cNvSpPr txBox="1"/>
          <p:nvPr/>
        </p:nvSpPr>
        <p:spPr>
          <a:xfrm>
            <a:off x="1005840" y="4311317"/>
            <a:ext cx="1833835" cy="173894"/>
          </a:xfrm>
          <a:prstGeom prst="rect">
            <a:avLst/>
          </a:prstGeom>
          <a:noFill/>
        </p:spPr>
        <p:txBody>
          <a:bodyPr wrap="none" lIns="0" tIns="0" rIns="0" bIns="0" anchor="ctr">
            <a:spAutoFit/>
          </a:bodyPr>
          <a:lstStyle/>
          <a:p>
            <a:pPr algn="l"/>
            <a:r>
              <a:rPr sz="1130" b="0" i="0">
                <a:solidFill>
                  <a:srgbClr val="666666"/>
                </a:solidFill>
                <a:latin typeface="Times New Roman" panose="02020603050405020304" pitchFamily="18" charset="0"/>
                <a:cs typeface="Times New Roman" panose="02020603050405020304" pitchFamily="18" charset="0"/>
              </a:rPr>
              <a:t>environment / execution checks</a:t>
            </a:r>
          </a:p>
        </p:txBody>
      </p:sp>
      <p:cxnSp>
        <p:nvCxnSpPr>
          <p:cNvPr id="41" name="17_Gate_Divider_01">
            <a:extLst>
              <a:ext uri="{FF2B5EF4-FFF2-40B4-BE49-F238E27FC236}">
                <a16:creationId xmlns:a16="http://schemas.microsoft.com/office/drawing/2014/main" id="{06BABDD9-4918-0450-E986-90CAF90DE0CC}"/>
              </a:ext>
            </a:extLst>
          </p:cNvPr>
          <p:cNvCxnSpPr/>
          <p:nvPr/>
        </p:nvCxnSpPr>
        <p:spPr>
          <a:xfrm>
            <a:off x="4114800" y="3547872"/>
            <a:ext cx="0" cy="1005840"/>
          </a:xfrm>
          <a:prstGeom prst="line">
            <a:avLst/>
          </a:prstGeom>
          <a:ln w="8255">
            <a:solidFill>
              <a:srgbClr val="D9DEE3"/>
            </a:solidFill>
          </a:ln>
        </p:spPr>
        <p:style>
          <a:lnRef idx="2">
            <a:schemeClr val="accent1"/>
          </a:lnRef>
          <a:fillRef idx="0">
            <a:schemeClr val="accent1"/>
          </a:fillRef>
          <a:effectRef idx="1">
            <a:schemeClr val="accent1"/>
          </a:effectRef>
          <a:fontRef idx="minor">
            <a:schemeClr val="tx1"/>
          </a:fontRef>
        </p:style>
      </p:cxnSp>
      <p:sp>
        <p:nvSpPr>
          <p:cNvPr id="42" name="18_Gate1_Label">
            <a:extLst>
              <a:ext uri="{FF2B5EF4-FFF2-40B4-BE49-F238E27FC236}">
                <a16:creationId xmlns:a16="http://schemas.microsoft.com/office/drawing/2014/main" id="{BAD3C6D5-F755-88F6-2C70-C256B164A810}"/>
              </a:ext>
            </a:extLst>
          </p:cNvPr>
          <p:cNvSpPr txBox="1"/>
          <p:nvPr/>
        </p:nvSpPr>
        <p:spPr>
          <a:xfrm>
            <a:off x="4526280" y="3595096"/>
            <a:ext cx="482504" cy="161583"/>
          </a:xfrm>
          <a:prstGeom prst="rect">
            <a:avLst/>
          </a:prstGeom>
          <a:noFill/>
        </p:spPr>
        <p:txBody>
          <a:bodyPr wrap="none" lIns="0" tIns="0" rIns="0" bIns="0" anchor="ctr">
            <a:spAutoFit/>
          </a:bodyPr>
          <a:lstStyle/>
          <a:p>
            <a:pPr algn="l"/>
            <a:r>
              <a:rPr sz="1050" b="1" i="0">
                <a:solidFill>
                  <a:srgbClr val="666666"/>
                </a:solidFill>
                <a:latin typeface="Times New Roman" panose="02020603050405020304" pitchFamily="18" charset="0"/>
                <a:cs typeface="Times New Roman" panose="02020603050405020304" pitchFamily="18" charset="0"/>
              </a:rPr>
              <a:t>GATE 1</a:t>
            </a:r>
          </a:p>
        </p:txBody>
      </p:sp>
      <p:sp>
        <p:nvSpPr>
          <p:cNvPr id="45" name="19_Gate1_Count">
            <a:extLst>
              <a:ext uri="{FF2B5EF4-FFF2-40B4-BE49-F238E27FC236}">
                <a16:creationId xmlns:a16="http://schemas.microsoft.com/office/drawing/2014/main" id="{C12F7475-B496-9440-6755-D6B2FCE1450C}"/>
              </a:ext>
            </a:extLst>
          </p:cNvPr>
          <p:cNvSpPr txBox="1"/>
          <p:nvPr/>
        </p:nvSpPr>
        <p:spPr>
          <a:xfrm>
            <a:off x="4526280" y="3850736"/>
            <a:ext cx="426399" cy="400110"/>
          </a:xfrm>
          <a:prstGeom prst="rect">
            <a:avLst/>
          </a:prstGeom>
          <a:noFill/>
        </p:spPr>
        <p:txBody>
          <a:bodyPr wrap="none" lIns="0" tIns="0" rIns="0" bIns="0" anchor="ctr">
            <a:spAutoFit/>
          </a:bodyPr>
          <a:lstStyle/>
          <a:p>
            <a:pPr algn="l"/>
            <a:r>
              <a:rPr sz="2600" b="1" i="0">
                <a:solidFill>
                  <a:srgbClr val="071A55"/>
                </a:solidFill>
                <a:latin typeface="Times New Roman" panose="02020603050405020304" pitchFamily="18" charset="0"/>
                <a:cs typeface="Times New Roman" panose="02020603050405020304" pitchFamily="18" charset="0"/>
              </a:rPr>
              <a:t>8/8</a:t>
            </a:r>
          </a:p>
        </p:txBody>
      </p:sp>
      <p:sp>
        <p:nvSpPr>
          <p:cNvPr id="46" name="20_Gate1_Description">
            <a:extLst>
              <a:ext uri="{FF2B5EF4-FFF2-40B4-BE49-F238E27FC236}">
                <a16:creationId xmlns:a16="http://schemas.microsoft.com/office/drawing/2014/main" id="{1F0ED18A-DB86-ADEC-4A82-A52C33D94564}"/>
              </a:ext>
            </a:extLst>
          </p:cNvPr>
          <p:cNvSpPr txBox="1"/>
          <p:nvPr/>
        </p:nvSpPr>
        <p:spPr>
          <a:xfrm>
            <a:off x="4526280" y="4311317"/>
            <a:ext cx="1644681" cy="173894"/>
          </a:xfrm>
          <a:prstGeom prst="rect">
            <a:avLst/>
          </a:prstGeom>
          <a:noFill/>
        </p:spPr>
        <p:txBody>
          <a:bodyPr wrap="none" lIns="0" tIns="0" rIns="0" bIns="0" anchor="ctr">
            <a:spAutoFit/>
          </a:bodyPr>
          <a:lstStyle/>
          <a:p>
            <a:pPr algn="l"/>
            <a:r>
              <a:rPr sz="1130" b="0" i="0">
                <a:solidFill>
                  <a:srgbClr val="666666"/>
                </a:solidFill>
                <a:latin typeface="Times New Roman" panose="02020603050405020304" pitchFamily="18" charset="0"/>
                <a:cs typeface="Times New Roman" panose="02020603050405020304" pitchFamily="18" charset="0"/>
              </a:rPr>
              <a:t>forward-path verifier checks</a:t>
            </a:r>
          </a:p>
        </p:txBody>
      </p:sp>
      <p:cxnSp>
        <p:nvCxnSpPr>
          <p:cNvPr id="47" name="21_Gate_Divider_02">
            <a:extLst>
              <a:ext uri="{FF2B5EF4-FFF2-40B4-BE49-F238E27FC236}">
                <a16:creationId xmlns:a16="http://schemas.microsoft.com/office/drawing/2014/main" id="{C4305D79-92FE-01C2-86EC-627FC459C35C}"/>
              </a:ext>
            </a:extLst>
          </p:cNvPr>
          <p:cNvCxnSpPr/>
          <p:nvPr/>
        </p:nvCxnSpPr>
        <p:spPr>
          <a:xfrm>
            <a:off x="7498079" y="3547872"/>
            <a:ext cx="0" cy="1005840"/>
          </a:xfrm>
          <a:prstGeom prst="line">
            <a:avLst/>
          </a:prstGeom>
          <a:ln w="8255">
            <a:solidFill>
              <a:srgbClr val="D9DEE3"/>
            </a:solidFill>
          </a:ln>
        </p:spPr>
        <p:style>
          <a:lnRef idx="2">
            <a:schemeClr val="accent1"/>
          </a:lnRef>
          <a:fillRef idx="0">
            <a:schemeClr val="accent1"/>
          </a:fillRef>
          <a:effectRef idx="1">
            <a:schemeClr val="accent1"/>
          </a:effectRef>
          <a:fontRef idx="minor">
            <a:schemeClr val="tx1"/>
          </a:fontRef>
        </p:style>
      </p:cxnSp>
      <p:sp>
        <p:nvSpPr>
          <p:cNvPr id="48" name="22_Gate234_Label">
            <a:extLst>
              <a:ext uri="{FF2B5EF4-FFF2-40B4-BE49-F238E27FC236}">
                <a16:creationId xmlns:a16="http://schemas.microsoft.com/office/drawing/2014/main" id="{98D55224-80F3-B0B0-3479-1EF67F1A9D1A}"/>
              </a:ext>
            </a:extLst>
          </p:cNvPr>
          <p:cNvSpPr txBox="1"/>
          <p:nvPr/>
        </p:nvSpPr>
        <p:spPr>
          <a:xfrm>
            <a:off x="7863840" y="3595096"/>
            <a:ext cx="825547" cy="161583"/>
          </a:xfrm>
          <a:prstGeom prst="rect">
            <a:avLst/>
          </a:prstGeom>
          <a:noFill/>
        </p:spPr>
        <p:txBody>
          <a:bodyPr wrap="none" lIns="0" tIns="0" rIns="0" bIns="0" anchor="ctr">
            <a:spAutoFit/>
          </a:bodyPr>
          <a:lstStyle/>
          <a:p>
            <a:pPr algn="l"/>
            <a:r>
              <a:rPr sz="1050" b="1" i="0">
                <a:solidFill>
                  <a:srgbClr val="666666"/>
                </a:solidFill>
                <a:latin typeface="Times New Roman" panose="02020603050405020304" pitchFamily="18" charset="0"/>
                <a:cs typeface="Times New Roman" panose="02020603050405020304" pitchFamily="18" charset="0"/>
              </a:rPr>
              <a:t>GATE 2 / 3 / 4</a:t>
            </a:r>
          </a:p>
        </p:txBody>
      </p:sp>
      <p:sp>
        <p:nvSpPr>
          <p:cNvPr id="49" name="23_Gate234_PASS">
            <a:extLst>
              <a:ext uri="{FF2B5EF4-FFF2-40B4-BE49-F238E27FC236}">
                <a16:creationId xmlns:a16="http://schemas.microsoft.com/office/drawing/2014/main" id="{07A0BCEA-7740-4886-B3D5-13C7FBF8780D}"/>
              </a:ext>
            </a:extLst>
          </p:cNvPr>
          <p:cNvSpPr txBox="1"/>
          <p:nvPr/>
        </p:nvSpPr>
        <p:spPr>
          <a:xfrm>
            <a:off x="7863840" y="3861554"/>
            <a:ext cx="730585" cy="369332"/>
          </a:xfrm>
          <a:prstGeom prst="rect">
            <a:avLst/>
          </a:prstGeom>
          <a:noFill/>
        </p:spPr>
        <p:txBody>
          <a:bodyPr wrap="none" lIns="0" tIns="0" rIns="0" bIns="0" anchor="ctr">
            <a:spAutoFit/>
          </a:bodyPr>
          <a:lstStyle/>
          <a:p>
            <a:pPr algn="l"/>
            <a:r>
              <a:rPr sz="2400" b="1" i="0">
                <a:solidFill>
                  <a:srgbClr val="20A060"/>
                </a:solidFill>
                <a:latin typeface="Times New Roman" panose="02020603050405020304" pitchFamily="18" charset="0"/>
                <a:cs typeface="Times New Roman" panose="02020603050405020304" pitchFamily="18" charset="0"/>
              </a:rPr>
              <a:t>PASS</a:t>
            </a:r>
          </a:p>
        </p:txBody>
      </p:sp>
      <p:sp>
        <p:nvSpPr>
          <p:cNvPr id="50" name="24_Gate234_Description">
            <a:extLst>
              <a:ext uri="{FF2B5EF4-FFF2-40B4-BE49-F238E27FC236}">
                <a16:creationId xmlns:a16="http://schemas.microsoft.com/office/drawing/2014/main" id="{D8711EB9-2034-64B6-4841-2E575C45C408}"/>
              </a:ext>
            </a:extLst>
          </p:cNvPr>
          <p:cNvSpPr txBox="1"/>
          <p:nvPr/>
        </p:nvSpPr>
        <p:spPr>
          <a:xfrm>
            <a:off x="7863840" y="4311317"/>
            <a:ext cx="1264770" cy="173894"/>
          </a:xfrm>
          <a:prstGeom prst="rect">
            <a:avLst/>
          </a:prstGeom>
          <a:noFill/>
        </p:spPr>
        <p:txBody>
          <a:bodyPr wrap="none" lIns="0" tIns="0" rIns="0" bIns="0" anchor="ctr">
            <a:spAutoFit/>
          </a:bodyPr>
          <a:lstStyle/>
          <a:p>
            <a:pPr algn="l"/>
            <a:r>
              <a:rPr sz="1130" b="0" i="0">
                <a:solidFill>
                  <a:srgbClr val="666666"/>
                </a:solidFill>
                <a:latin typeface="Times New Roman" panose="02020603050405020304" pitchFamily="18" charset="0"/>
                <a:cs typeface="Times New Roman" panose="02020603050405020304" pitchFamily="18" charset="0"/>
              </a:rPr>
              <a:t>all three gate verifiers</a:t>
            </a:r>
          </a:p>
        </p:txBody>
      </p:sp>
      <p:cxnSp>
        <p:nvCxnSpPr>
          <p:cNvPr id="51" name="25_Baseline_Delivery_Divider">
            <a:extLst>
              <a:ext uri="{FF2B5EF4-FFF2-40B4-BE49-F238E27FC236}">
                <a16:creationId xmlns:a16="http://schemas.microsoft.com/office/drawing/2014/main" id="{2D53A841-9D27-B400-FDC8-AD2E4A29188D}"/>
              </a:ext>
            </a:extLst>
          </p:cNvPr>
          <p:cNvCxnSpPr/>
          <p:nvPr/>
        </p:nvCxnSpPr>
        <p:spPr>
          <a:xfrm>
            <a:off x="868680" y="4754880"/>
            <a:ext cx="10241280" cy="0"/>
          </a:xfrm>
          <a:prstGeom prst="line">
            <a:avLst/>
          </a:prstGeom>
          <a:ln w="8890">
            <a:solidFill>
              <a:srgbClr val="D9DEE3"/>
            </a:solidFill>
          </a:ln>
        </p:spPr>
        <p:style>
          <a:lnRef idx="2">
            <a:schemeClr val="accent1"/>
          </a:lnRef>
          <a:fillRef idx="0">
            <a:schemeClr val="accent1"/>
          </a:fillRef>
          <a:effectRef idx="1">
            <a:schemeClr val="accent1"/>
          </a:effectRef>
          <a:fontRef idx="minor">
            <a:schemeClr val="tx1"/>
          </a:fontRef>
        </p:style>
      </p:cxnSp>
      <p:sp>
        <p:nvSpPr>
          <p:cNvPr id="52" name="26_Baseline_Delivery_Header">
            <a:extLst>
              <a:ext uri="{FF2B5EF4-FFF2-40B4-BE49-F238E27FC236}">
                <a16:creationId xmlns:a16="http://schemas.microsoft.com/office/drawing/2014/main" id="{3BF6B485-3B17-3109-9D92-ADE5D9A64F32}"/>
              </a:ext>
            </a:extLst>
          </p:cNvPr>
          <p:cNvSpPr txBox="1"/>
          <p:nvPr/>
        </p:nvSpPr>
        <p:spPr>
          <a:xfrm>
            <a:off x="621792" y="4849483"/>
            <a:ext cx="3120662" cy="215444"/>
          </a:xfrm>
          <a:prstGeom prst="rect">
            <a:avLst/>
          </a:prstGeom>
          <a:noFill/>
        </p:spPr>
        <p:txBody>
          <a:bodyPr wrap="none" lIns="0" tIns="0" rIns="0" bIns="0" anchor="ctr">
            <a:spAutoFit/>
          </a:bodyPr>
          <a:lstStyle/>
          <a:p>
            <a:pPr algn="l"/>
            <a:r>
              <a:rPr sz="1400" b="1" i="0" dirty="0">
                <a:solidFill>
                  <a:srgbClr val="071A55"/>
                </a:solidFill>
                <a:latin typeface="Times New Roman" panose="02020603050405020304" pitchFamily="18" charset="0"/>
                <a:cs typeface="Times New Roman" panose="02020603050405020304" pitchFamily="18" charset="0"/>
              </a:rPr>
              <a:t>BASELINE AND DELIVERY CHECKS</a:t>
            </a:r>
          </a:p>
        </p:txBody>
      </p:sp>
      <p:sp>
        <p:nvSpPr>
          <p:cNvPr id="53" name="27_Baseline_Title">
            <a:extLst>
              <a:ext uri="{FF2B5EF4-FFF2-40B4-BE49-F238E27FC236}">
                <a16:creationId xmlns:a16="http://schemas.microsoft.com/office/drawing/2014/main" id="{3F093EA7-C5CE-A445-DFAD-D4A11CCCBC92}"/>
              </a:ext>
            </a:extLst>
          </p:cNvPr>
          <p:cNvSpPr txBox="1"/>
          <p:nvPr/>
        </p:nvSpPr>
        <p:spPr>
          <a:xfrm>
            <a:off x="1325674" y="5204439"/>
            <a:ext cx="1585370" cy="223138"/>
          </a:xfrm>
          <a:prstGeom prst="rect">
            <a:avLst/>
          </a:prstGeom>
          <a:noFill/>
        </p:spPr>
        <p:txBody>
          <a:bodyPr wrap="none" lIns="0" tIns="0" rIns="0" bIns="0" anchor="ctr">
            <a:spAutoFit/>
          </a:bodyPr>
          <a:lstStyle/>
          <a:p>
            <a:pPr algn="l"/>
            <a:r>
              <a:rPr sz="1450" b="1" i="0">
                <a:solidFill>
                  <a:srgbClr val="111111"/>
                </a:solidFill>
                <a:latin typeface="Times New Roman" panose="02020603050405020304" pitchFamily="18" charset="0"/>
                <a:cs typeface="Times New Roman" panose="02020603050405020304" pitchFamily="18" charset="0"/>
              </a:rPr>
              <a:t>Baseline tag verifier</a:t>
            </a:r>
          </a:p>
        </p:txBody>
      </p:sp>
      <p:sp>
        <p:nvSpPr>
          <p:cNvPr id="54" name="28_Baseline_Check">
            <a:extLst>
              <a:ext uri="{FF2B5EF4-FFF2-40B4-BE49-F238E27FC236}">
                <a16:creationId xmlns:a16="http://schemas.microsoft.com/office/drawing/2014/main" id="{9DFA244C-3881-B44A-39C2-5A618EA9D6BC}"/>
              </a:ext>
            </a:extLst>
          </p:cNvPr>
          <p:cNvSpPr txBox="1"/>
          <p:nvPr/>
        </p:nvSpPr>
        <p:spPr>
          <a:xfrm>
            <a:off x="1325674" y="5484781"/>
            <a:ext cx="149080" cy="238527"/>
          </a:xfrm>
          <a:prstGeom prst="rect">
            <a:avLst/>
          </a:prstGeom>
          <a:noFill/>
        </p:spPr>
        <p:txBody>
          <a:bodyPr wrap="none" lIns="0" tIns="0" rIns="0" bIns="0" anchor="ctr">
            <a:spAutoFit/>
          </a:bodyPr>
          <a:lstStyle/>
          <a:p>
            <a:pPr algn="l"/>
            <a:r>
              <a:rPr sz="1550" b="1" i="0">
                <a:solidFill>
                  <a:srgbClr val="20A060"/>
                </a:solidFill>
                <a:latin typeface="Times New Roman" panose="02020603050405020304" pitchFamily="18" charset="0"/>
                <a:cs typeface="Times New Roman" panose="02020603050405020304" pitchFamily="18" charset="0"/>
              </a:rPr>
              <a:t>✓</a:t>
            </a:r>
          </a:p>
        </p:txBody>
      </p:sp>
      <p:sp>
        <p:nvSpPr>
          <p:cNvPr id="55" name="29_Baseline_PASS">
            <a:extLst>
              <a:ext uri="{FF2B5EF4-FFF2-40B4-BE49-F238E27FC236}">
                <a16:creationId xmlns:a16="http://schemas.microsoft.com/office/drawing/2014/main" id="{78B133AC-49C0-764E-CCFB-1D37EFFC3403}"/>
              </a:ext>
            </a:extLst>
          </p:cNvPr>
          <p:cNvSpPr txBox="1"/>
          <p:nvPr/>
        </p:nvSpPr>
        <p:spPr>
          <a:xfrm>
            <a:off x="1599994" y="5484781"/>
            <a:ext cx="472565" cy="238527"/>
          </a:xfrm>
          <a:prstGeom prst="rect">
            <a:avLst/>
          </a:prstGeom>
          <a:noFill/>
        </p:spPr>
        <p:txBody>
          <a:bodyPr wrap="none" lIns="0" tIns="0" rIns="0" bIns="0" anchor="ctr">
            <a:spAutoFit/>
          </a:bodyPr>
          <a:lstStyle/>
          <a:p>
            <a:pPr algn="l"/>
            <a:r>
              <a:rPr sz="1550" b="1" i="0">
                <a:solidFill>
                  <a:srgbClr val="20A060"/>
                </a:solidFill>
                <a:latin typeface="Times New Roman" panose="02020603050405020304" pitchFamily="18" charset="0"/>
                <a:cs typeface="Times New Roman" panose="02020603050405020304" pitchFamily="18" charset="0"/>
              </a:rPr>
              <a:t>PASS</a:t>
            </a:r>
          </a:p>
        </p:txBody>
      </p:sp>
      <p:sp>
        <p:nvSpPr>
          <p:cNvPr id="56" name="30_Baseline_Tag">
            <a:extLst>
              <a:ext uri="{FF2B5EF4-FFF2-40B4-BE49-F238E27FC236}">
                <a16:creationId xmlns:a16="http://schemas.microsoft.com/office/drawing/2014/main" id="{E093F822-D984-69D6-862C-A904C836EE7E}"/>
              </a:ext>
            </a:extLst>
          </p:cNvPr>
          <p:cNvSpPr txBox="1"/>
          <p:nvPr/>
        </p:nvSpPr>
        <p:spPr>
          <a:xfrm>
            <a:off x="1325674" y="5771679"/>
            <a:ext cx="2064668" cy="158505"/>
          </a:xfrm>
          <a:prstGeom prst="rect">
            <a:avLst/>
          </a:prstGeom>
          <a:noFill/>
        </p:spPr>
        <p:txBody>
          <a:bodyPr wrap="none" lIns="0" tIns="0" rIns="0" bIns="0" anchor="ctr">
            <a:spAutoFit/>
          </a:bodyPr>
          <a:lstStyle/>
          <a:p>
            <a:pPr algn="l"/>
            <a:r>
              <a:rPr lang="en-US" sz="1030" b="0" i="0" dirty="0">
                <a:solidFill>
                  <a:srgbClr val="666666"/>
                </a:solidFill>
                <a:latin typeface="Times New Roman" panose="02020603050405020304" pitchFamily="18" charset="0"/>
                <a:cs typeface="Times New Roman" panose="02020603050405020304" pitchFamily="18" charset="0"/>
              </a:rPr>
              <a:t>gate0-4-frozen-baseline-v1 @ c3e4485</a:t>
            </a:r>
            <a:endParaRPr sz="1030" b="0" i="0" dirty="0">
              <a:solidFill>
                <a:srgbClr val="666666"/>
              </a:solidFill>
              <a:latin typeface="Times New Roman" panose="02020603050405020304" pitchFamily="18" charset="0"/>
              <a:cs typeface="Times New Roman" panose="02020603050405020304" pitchFamily="18" charset="0"/>
            </a:endParaRPr>
          </a:p>
        </p:txBody>
      </p:sp>
      <p:cxnSp>
        <p:nvCxnSpPr>
          <p:cNvPr id="57" name="31_Baseline_Gate5_Divider">
            <a:extLst>
              <a:ext uri="{FF2B5EF4-FFF2-40B4-BE49-F238E27FC236}">
                <a16:creationId xmlns:a16="http://schemas.microsoft.com/office/drawing/2014/main" id="{4A611BB5-2292-FE7D-60E3-3491409976BA}"/>
              </a:ext>
            </a:extLst>
          </p:cNvPr>
          <p:cNvCxnSpPr/>
          <p:nvPr/>
        </p:nvCxnSpPr>
        <p:spPr>
          <a:xfrm>
            <a:off x="5897674" y="5146844"/>
            <a:ext cx="0" cy="694944"/>
          </a:xfrm>
          <a:prstGeom prst="line">
            <a:avLst/>
          </a:prstGeom>
          <a:ln w="8890">
            <a:solidFill>
              <a:srgbClr val="D9DEE3"/>
            </a:solidFill>
          </a:ln>
        </p:spPr>
        <p:style>
          <a:lnRef idx="2">
            <a:schemeClr val="accent1"/>
          </a:lnRef>
          <a:fillRef idx="0">
            <a:schemeClr val="accent1"/>
          </a:fillRef>
          <a:effectRef idx="1">
            <a:schemeClr val="accent1"/>
          </a:effectRef>
          <a:fontRef idx="minor">
            <a:schemeClr val="tx1"/>
          </a:fontRef>
        </p:style>
      </p:cxnSp>
      <p:sp>
        <p:nvSpPr>
          <p:cNvPr id="58" name="32_Gate5_Title">
            <a:extLst>
              <a:ext uri="{FF2B5EF4-FFF2-40B4-BE49-F238E27FC236}">
                <a16:creationId xmlns:a16="http://schemas.microsoft.com/office/drawing/2014/main" id="{F3848149-B958-B387-36C1-0B6B8ACB2BBE}"/>
              </a:ext>
            </a:extLst>
          </p:cNvPr>
          <p:cNvSpPr txBox="1"/>
          <p:nvPr/>
        </p:nvSpPr>
        <p:spPr>
          <a:xfrm>
            <a:off x="6629194" y="5204439"/>
            <a:ext cx="1953933" cy="223138"/>
          </a:xfrm>
          <a:prstGeom prst="rect">
            <a:avLst/>
          </a:prstGeom>
          <a:noFill/>
        </p:spPr>
        <p:txBody>
          <a:bodyPr wrap="none" lIns="0" tIns="0" rIns="0" bIns="0" anchor="ctr">
            <a:spAutoFit/>
          </a:bodyPr>
          <a:lstStyle/>
          <a:p>
            <a:pPr algn="l"/>
            <a:r>
              <a:rPr sz="1450" b="1" i="0">
                <a:solidFill>
                  <a:srgbClr val="111111"/>
                </a:solidFill>
                <a:latin typeface="Times New Roman" panose="02020603050405020304" pitchFamily="18" charset="0"/>
                <a:cs typeface="Times New Roman" panose="02020603050405020304" pitchFamily="18" charset="0"/>
              </a:rPr>
              <a:t>Gate 5 package preflight</a:t>
            </a:r>
          </a:p>
        </p:txBody>
      </p:sp>
      <p:sp>
        <p:nvSpPr>
          <p:cNvPr id="59" name="33_Gate5_Check">
            <a:extLst>
              <a:ext uri="{FF2B5EF4-FFF2-40B4-BE49-F238E27FC236}">
                <a16:creationId xmlns:a16="http://schemas.microsoft.com/office/drawing/2014/main" id="{A9AB17F0-5624-3444-D62B-2E943AC5B11F}"/>
              </a:ext>
            </a:extLst>
          </p:cNvPr>
          <p:cNvSpPr txBox="1"/>
          <p:nvPr/>
        </p:nvSpPr>
        <p:spPr>
          <a:xfrm>
            <a:off x="6629194" y="5484781"/>
            <a:ext cx="149080" cy="238527"/>
          </a:xfrm>
          <a:prstGeom prst="rect">
            <a:avLst/>
          </a:prstGeom>
          <a:noFill/>
        </p:spPr>
        <p:txBody>
          <a:bodyPr wrap="none" lIns="0" tIns="0" rIns="0" bIns="0" anchor="ctr">
            <a:spAutoFit/>
          </a:bodyPr>
          <a:lstStyle/>
          <a:p>
            <a:pPr algn="l"/>
            <a:r>
              <a:rPr sz="1550" b="1" i="0">
                <a:solidFill>
                  <a:srgbClr val="20A060"/>
                </a:solidFill>
                <a:latin typeface="Times New Roman" panose="02020603050405020304" pitchFamily="18" charset="0"/>
                <a:cs typeface="Times New Roman" panose="02020603050405020304" pitchFamily="18" charset="0"/>
              </a:rPr>
              <a:t>✓</a:t>
            </a:r>
          </a:p>
        </p:txBody>
      </p:sp>
      <p:sp>
        <p:nvSpPr>
          <p:cNvPr id="60" name="34_Gate5_PASS">
            <a:extLst>
              <a:ext uri="{FF2B5EF4-FFF2-40B4-BE49-F238E27FC236}">
                <a16:creationId xmlns:a16="http://schemas.microsoft.com/office/drawing/2014/main" id="{4151F4C6-8762-1996-5633-C3ABC01EA4A5}"/>
              </a:ext>
            </a:extLst>
          </p:cNvPr>
          <p:cNvSpPr txBox="1"/>
          <p:nvPr/>
        </p:nvSpPr>
        <p:spPr>
          <a:xfrm>
            <a:off x="6903514" y="5484781"/>
            <a:ext cx="472565" cy="238527"/>
          </a:xfrm>
          <a:prstGeom prst="rect">
            <a:avLst/>
          </a:prstGeom>
          <a:noFill/>
        </p:spPr>
        <p:txBody>
          <a:bodyPr wrap="none" lIns="0" tIns="0" rIns="0" bIns="0" anchor="ctr">
            <a:spAutoFit/>
          </a:bodyPr>
          <a:lstStyle/>
          <a:p>
            <a:pPr algn="l"/>
            <a:r>
              <a:rPr sz="1550" b="1" i="0">
                <a:solidFill>
                  <a:srgbClr val="20A060"/>
                </a:solidFill>
                <a:latin typeface="Times New Roman" panose="02020603050405020304" pitchFamily="18" charset="0"/>
                <a:cs typeface="Times New Roman" panose="02020603050405020304" pitchFamily="18" charset="0"/>
              </a:rPr>
              <a:t>PASS</a:t>
            </a:r>
          </a:p>
        </p:txBody>
      </p:sp>
      <p:sp>
        <p:nvSpPr>
          <p:cNvPr id="61" name="35_Gate5_Description">
            <a:extLst>
              <a:ext uri="{FF2B5EF4-FFF2-40B4-BE49-F238E27FC236}">
                <a16:creationId xmlns:a16="http://schemas.microsoft.com/office/drawing/2014/main" id="{6A2F7CCC-A8AE-49AB-048A-BE55BA5E9BFB}"/>
              </a:ext>
            </a:extLst>
          </p:cNvPr>
          <p:cNvSpPr txBox="1"/>
          <p:nvPr/>
        </p:nvSpPr>
        <p:spPr>
          <a:xfrm>
            <a:off x="6629194" y="5766293"/>
            <a:ext cx="2931893" cy="169277"/>
          </a:xfrm>
          <a:prstGeom prst="rect">
            <a:avLst/>
          </a:prstGeom>
          <a:noFill/>
        </p:spPr>
        <p:txBody>
          <a:bodyPr wrap="none" lIns="0" tIns="0" rIns="0" bIns="0" anchor="ctr">
            <a:spAutoFit/>
          </a:bodyPr>
          <a:lstStyle/>
          <a:p>
            <a:pPr algn="l"/>
            <a:r>
              <a:rPr lang="en-US" sz="1100" b="0" i="0" dirty="0">
                <a:solidFill>
                  <a:srgbClr val="666666"/>
                </a:solidFill>
                <a:latin typeface="Times New Roman" panose="02020603050405020304" pitchFamily="18" charset="0"/>
                <a:cs typeface="Times New Roman" panose="02020603050405020304" pitchFamily="18" charset="0"/>
              </a:rPr>
              <a:t>non-PPT assets verified candidate commit: ab71dbd</a:t>
            </a:r>
            <a:endParaRPr sz="1100" b="0" i="0" dirty="0">
              <a:solidFill>
                <a:srgbClr val="666666"/>
              </a:solidFill>
              <a:latin typeface="Times New Roman" panose="02020603050405020304" pitchFamily="18" charset="0"/>
              <a:cs typeface="Times New Roman" panose="02020603050405020304" pitchFamily="18" charset="0"/>
            </a:endParaRPr>
          </a:p>
        </p:txBody>
      </p:sp>
      <p:cxnSp>
        <p:nvCxnSpPr>
          <p:cNvPr id="62" name="36_Footer_Divider">
            <a:extLst>
              <a:ext uri="{FF2B5EF4-FFF2-40B4-BE49-F238E27FC236}">
                <a16:creationId xmlns:a16="http://schemas.microsoft.com/office/drawing/2014/main" id="{C09735E2-B36D-14AC-A291-2310EEB17F76}"/>
              </a:ext>
            </a:extLst>
          </p:cNvPr>
          <p:cNvCxnSpPr/>
          <p:nvPr/>
        </p:nvCxnSpPr>
        <p:spPr>
          <a:xfrm>
            <a:off x="594360" y="6062472"/>
            <a:ext cx="10927080" cy="0"/>
          </a:xfrm>
          <a:prstGeom prst="line">
            <a:avLst/>
          </a:prstGeom>
          <a:ln w="8890">
            <a:solidFill>
              <a:srgbClr val="9EAEBB"/>
            </a:solidFill>
          </a:ln>
        </p:spPr>
        <p:style>
          <a:lnRef idx="2">
            <a:schemeClr val="accent1"/>
          </a:lnRef>
          <a:fillRef idx="0">
            <a:schemeClr val="accent1"/>
          </a:fillRef>
          <a:effectRef idx="1">
            <a:schemeClr val="accent1"/>
          </a:effectRef>
          <a:fontRef idx="minor">
            <a:schemeClr val="tx1"/>
          </a:fontRef>
        </p:style>
      </p:cxnSp>
      <p:sp>
        <p:nvSpPr>
          <p:cNvPr id="68" name="37_Footer_Science_Boundary">
            <a:extLst>
              <a:ext uri="{FF2B5EF4-FFF2-40B4-BE49-F238E27FC236}">
                <a16:creationId xmlns:a16="http://schemas.microsoft.com/office/drawing/2014/main" id="{9DDACCB6-46C8-D9C2-3730-0E782DFB48A8}"/>
              </a:ext>
            </a:extLst>
          </p:cNvPr>
          <p:cNvSpPr txBox="1"/>
          <p:nvPr/>
        </p:nvSpPr>
        <p:spPr>
          <a:xfrm>
            <a:off x="4246924" y="6112215"/>
            <a:ext cx="3667672" cy="586314"/>
          </a:xfrm>
          <a:prstGeom prst="rect">
            <a:avLst/>
          </a:prstGeom>
          <a:noFill/>
        </p:spPr>
        <p:txBody>
          <a:bodyPr wrap="none" lIns="0" tIns="0" rIns="0" bIns="0" anchor="ctr">
            <a:spAutoFit/>
          </a:bodyPr>
          <a:lstStyle/>
          <a:p>
            <a:pPr algn="ctr"/>
            <a:r>
              <a:rPr lang="en-US" sz="1270" dirty="0">
                <a:solidFill>
                  <a:srgbClr val="666666"/>
                </a:solidFill>
                <a:latin typeface="Times New Roman" panose="02020603050405020304" pitchFamily="18" charset="0"/>
                <a:cs typeface="Times New Roman" panose="02020603050405020304" pitchFamily="18" charset="0"/>
              </a:rPr>
              <a:t>Engineering verification supports reproducibility.</a:t>
            </a:r>
            <a:r>
              <a:rPr sz="1270" dirty="0">
                <a:solidFill>
                  <a:srgbClr val="666666"/>
                </a:solidFill>
                <a:latin typeface="Times New Roman" panose="02020603050405020304" pitchFamily="18" charset="0"/>
                <a:cs typeface="Times New Roman" panose="02020603050405020304" pitchFamily="18" charset="0"/>
              </a:rPr>
              <a:t>
</a:t>
            </a:r>
          </a:p>
          <a:p>
            <a:pPr algn="ctr"/>
            <a:r>
              <a:rPr lang="en-US" sz="1270" b="1" dirty="0">
                <a:solidFill>
                  <a:srgbClr val="666666"/>
                </a:solidFill>
                <a:latin typeface="Times New Roman" panose="02020603050405020304" pitchFamily="18" charset="0"/>
                <a:cs typeface="Times New Roman" panose="02020603050405020304" pitchFamily="18" charset="0"/>
              </a:rPr>
              <a:t>It does not constitute additional scientific evaluation.</a:t>
            </a:r>
            <a:endParaRPr sz="1270" b="1" dirty="0">
              <a:solidFill>
                <a:srgbClr val="66666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8668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B9353-ADC6-7EDD-12C4-AE01E0D1F010}"/>
            </a:ext>
          </a:extLst>
        </p:cNvPr>
        <p:cNvGrpSpPr/>
        <p:nvPr/>
      </p:nvGrpSpPr>
      <p:grpSpPr>
        <a:xfrm>
          <a:off x="0" y="0"/>
          <a:ext cx="0" cy="0"/>
          <a:chOff x="0" y="0"/>
          <a:chExt cx="0" cy="0"/>
        </a:xfrm>
      </p:grpSpPr>
      <p:sp>
        <p:nvSpPr>
          <p:cNvPr id="32" name="矩形 31">
            <a:extLst>
              <a:ext uri="{FF2B5EF4-FFF2-40B4-BE49-F238E27FC236}">
                <a16:creationId xmlns:a16="http://schemas.microsoft.com/office/drawing/2014/main" id="{0442C591-5481-6579-D459-670A6249E21E}"/>
              </a:ext>
            </a:extLst>
          </p:cNvPr>
          <p:cNvSpPr/>
          <p:nvPr/>
        </p:nvSpPr>
        <p:spPr>
          <a:xfrm>
            <a:off x="102163" y="824183"/>
            <a:ext cx="6904941" cy="107184"/>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kumimoji="1" lang="zh-CN" altLang="en-US" dirty="0">
              <a:solidFill>
                <a:schemeClr val="tx1"/>
              </a:solidFill>
            </a:endParaRPr>
          </a:p>
        </p:txBody>
      </p:sp>
      <p:sp>
        <p:nvSpPr>
          <p:cNvPr id="3" name="标题 2">
            <a:extLst>
              <a:ext uri="{FF2B5EF4-FFF2-40B4-BE49-F238E27FC236}">
                <a16:creationId xmlns:a16="http://schemas.microsoft.com/office/drawing/2014/main" id="{9E1E304E-F3B2-CB83-C710-854ED7B7DCA7}"/>
              </a:ext>
            </a:extLst>
          </p:cNvPr>
          <p:cNvSpPr>
            <a:spLocks noGrp="1"/>
          </p:cNvSpPr>
          <p:nvPr>
            <p:ph type="title"/>
          </p:nvPr>
        </p:nvSpPr>
        <p:spPr>
          <a:xfrm>
            <a:off x="119336" y="252464"/>
            <a:ext cx="9695205" cy="531544"/>
          </a:xfrm>
        </p:spPr>
        <p:txBody>
          <a:bodyPr/>
          <a:lstStyle/>
          <a:p>
            <a:r>
              <a:rPr lang="en-US" altLang="zh-CN" dirty="0">
                <a:solidFill>
                  <a:srgbClr val="071A55"/>
                </a:solidFill>
                <a:latin typeface="Aptos Display"/>
              </a:rPr>
              <a:t>Status and Validation Semantics</a:t>
            </a:r>
          </a:p>
        </p:txBody>
      </p:sp>
      <p:sp>
        <p:nvSpPr>
          <p:cNvPr id="9" name="01_Appendix_Label">
            <a:extLst>
              <a:ext uri="{FF2B5EF4-FFF2-40B4-BE49-F238E27FC236}">
                <a16:creationId xmlns:a16="http://schemas.microsoft.com/office/drawing/2014/main" id="{828233A5-5142-8835-1E08-A9EC71B32A32}"/>
              </a:ext>
            </a:extLst>
          </p:cNvPr>
          <p:cNvSpPr txBox="1"/>
          <p:nvPr/>
        </p:nvSpPr>
        <p:spPr>
          <a:xfrm>
            <a:off x="92842" y="16933"/>
            <a:ext cx="981038" cy="215444"/>
          </a:xfrm>
          <a:prstGeom prst="rect">
            <a:avLst/>
          </a:prstGeom>
          <a:noFill/>
        </p:spPr>
        <p:txBody>
          <a:bodyPr wrap="none" lIns="0" tIns="0" rIns="0" bIns="0" anchor="ctr">
            <a:spAutoFit/>
          </a:bodyPr>
          <a:lstStyle/>
          <a:p>
            <a:pPr algn="l"/>
            <a:r>
              <a:rPr sz="1400" b="1" i="0" dirty="0">
                <a:solidFill>
                  <a:srgbClr val="00BFFF"/>
                </a:solidFill>
                <a:latin typeface="Aptos"/>
              </a:rPr>
              <a:t>APPENDIX </a:t>
            </a:r>
            <a:r>
              <a:rPr lang="en-US" sz="1400" b="1" i="0" dirty="0">
                <a:solidFill>
                  <a:srgbClr val="00BFFF"/>
                </a:solidFill>
                <a:latin typeface="Aptos"/>
              </a:rPr>
              <a:t>2</a:t>
            </a:r>
            <a:endParaRPr sz="1400" b="1" i="0" dirty="0">
              <a:solidFill>
                <a:srgbClr val="00BFFF"/>
              </a:solidFill>
              <a:latin typeface="Aptos"/>
            </a:endParaRPr>
          </a:p>
        </p:txBody>
      </p:sp>
      <p:cxnSp>
        <p:nvCxnSpPr>
          <p:cNvPr id="2" name="05_Taxonomy_Accent">
            <a:extLst>
              <a:ext uri="{FF2B5EF4-FFF2-40B4-BE49-F238E27FC236}">
                <a16:creationId xmlns:a16="http://schemas.microsoft.com/office/drawing/2014/main" id="{63A2C025-FB0A-4589-68EC-9A55F98169AB}"/>
              </a:ext>
            </a:extLst>
          </p:cNvPr>
          <p:cNvCxnSpPr/>
          <p:nvPr/>
        </p:nvCxnSpPr>
        <p:spPr>
          <a:xfrm>
            <a:off x="475488" y="1115568"/>
            <a:ext cx="0" cy="201168"/>
          </a:xfrm>
          <a:prstGeom prst="line">
            <a:avLst/>
          </a:prstGeom>
          <a:ln w="31750">
            <a:solidFill>
              <a:srgbClr val="00BFFF"/>
            </a:solidFill>
          </a:ln>
        </p:spPr>
        <p:style>
          <a:lnRef idx="2">
            <a:schemeClr val="accent1"/>
          </a:lnRef>
          <a:fillRef idx="0">
            <a:schemeClr val="accent1"/>
          </a:fillRef>
          <a:effectRef idx="1">
            <a:schemeClr val="accent1"/>
          </a:effectRef>
          <a:fontRef idx="minor">
            <a:schemeClr val="tx1"/>
          </a:fontRef>
        </p:style>
      </p:cxnSp>
      <p:sp>
        <p:nvSpPr>
          <p:cNvPr id="4" name="06_Taxonomy_Header">
            <a:extLst>
              <a:ext uri="{FF2B5EF4-FFF2-40B4-BE49-F238E27FC236}">
                <a16:creationId xmlns:a16="http://schemas.microsoft.com/office/drawing/2014/main" id="{4DCD9EBD-89CE-BFF1-83ED-30C3DD1FAA0D}"/>
              </a:ext>
            </a:extLst>
          </p:cNvPr>
          <p:cNvSpPr txBox="1"/>
          <p:nvPr/>
        </p:nvSpPr>
        <p:spPr>
          <a:xfrm>
            <a:off x="594360" y="1070183"/>
            <a:ext cx="2037609" cy="246221"/>
          </a:xfrm>
          <a:prstGeom prst="rect">
            <a:avLst/>
          </a:prstGeom>
          <a:noFill/>
        </p:spPr>
        <p:txBody>
          <a:bodyPr wrap="none" lIns="0" tIns="0" rIns="0" bIns="0" anchor="ctr">
            <a:spAutoFit/>
          </a:bodyPr>
          <a:lstStyle/>
          <a:p>
            <a:pPr algn="l"/>
            <a:r>
              <a:rPr sz="1600" b="1" i="0" dirty="0">
                <a:solidFill>
                  <a:srgbClr val="071A55"/>
                </a:solidFill>
                <a:latin typeface="Times New Roman" panose="02020603050405020304" pitchFamily="18" charset="0"/>
                <a:cs typeface="Times New Roman" panose="02020603050405020304" pitchFamily="18" charset="0"/>
              </a:rPr>
              <a:t>STATUS TAXONOMY</a:t>
            </a:r>
          </a:p>
        </p:txBody>
      </p:sp>
      <p:sp>
        <p:nvSpPr>
          <p:cNvPr id="5" name="07_Taxonomy_Subtitle">
            <a:extLst>
              <a:ext uri="{FF2B5EF4-FFF2-40B4-BE49-F238E27FC236}">
                <a16:creationId xmlns:a16="http://schemas.microsoft.com/office/drawing/2014/main" id="{5DE90694-9B7A-ADA7-443D-868EE24D6EE2}"/>
              </a:ext>
            </a:extLst>
          </p:cNvPr>
          <p:cNvSpPr txBox="1"/>
          <p:nvPr/>
        </p:nvSpPr>
        <p:spPr>
          <a:xfrm>
            <a:off x="2855640" y="1065201"/>
            <a:ext cx="6470426" cy="215444"/>
          </a:xfrm>
          <a:prstGeom prst="rect">
            <a:avLst/>
          </a:prstGeom>
          <a:noFill/>
        </p:spPr>
        <p:txBody>
          <a:bodyPr wrap="none" lIns="0" tIns="0" rIns="0" bIns="0" anchor="ctr">
            <a:spAutoFit/>
          </a:bodyPr>
          <a:lstStyle/>
          <a:p>
            <a:pPr algn="l"/>
            <a:r>
              <a:rPr lang="en-US" sz="1400" b="0" i="0" dirty="0">
                <a:solidFill>
                  <a:srgbClr val="666666"/>
                </a:solidFill>
                <a:latin typeface="Times New Roman" panose="02020603050405020304" pitchFamily="18" charset="0"/>
                <a:cs typeface="Times New Roman" panose="02020603050405020304" pitchFamily="18" charset="0"/>
              </a:rPr>
              <a:t>Scope, ambiguity, execution, geometry and package completeness are reported separately.</a:t>
            </a:r>
            <a:endParaRPr sz="1400" b="0" i="0" dirty="0">
              <a:solidFill>
                <a:srgbClr val="666666"/>
              </a:solidFill>
              <a:latin typeface="Times New Roman" panose="02020603050405020304" pitchFamily="18" charset="0"/>
              <a:cs typeface="Times New Roman" panose="02020603050405020304" pitchFamily="18" charset="0"/>
            </a:endParaRPr>
          </a:p>
        </p:txBody>
      </p:sp>
      <p:sp>
        <p:nvSpPr>
          <p:cNvPr id="6" name="08_Left_Column_Header">
            <a:extLst>
              <a:ext uri="{FF2B5EF4-FFF2-40B4-BE49-F238E27FC236}">
                <a16:creationId xmlns:a16="http://schemas.microsoft.com/office/drawing/2014/main" id="{6436C81D-7918-2079-A8A4-F716FDAB674A}"/>
              </a:ext>
            </a:extLst>
          </p:cNvPr>
          <p:cNvSpPr txBox="1"/>
          <p:nvPr/>
        </p:nvSpPr>
        <p:spPr>
          <a:xfrm>
            <a:off x="822960" y="1616145"/>
            <a:ext cx="1093248" cy="169277"/>
          </a:xfrm>
          <a:prstGeom prst="rect">
            <a:avLst/>
          </a:prstGeom>
          <a:noFill/>
        </p:spPr>
        <p:txBody>
          <a:bodyPr wrap="none" lIns="0" tIns="0" rIns="0" bIns="0" anchor="ctr">
            <a:spAutoFit/>
          </a:bodyPr>
          <a:lstStyle/>
          <a:p>
            <a:pPr algn="l"/>
            <a:r>
              <a:rPr sz="1100" b="1" i="0" dirty="0">
                <a:solidFill>
                  <a:srgbClr val="071A55"/>
                </a:solidFill>
                <a:latin typeface="Times New Roman" panose="02020603050405020304" pitchFamily="18" charset="0"/>
                <a:cs typeface="Times New Roman" panose="02020603050405020304" pitchFamily="18" charset="0"/>
              </a:rPr>
              <a:t>STATUS / FIELD</a:t>
            </a:r>
          </a:p>
        </p:txBody>
      </p:sp>
      <p:sp>
        <p:nvSpPr>
          <p:cNvPr id="7" name="09_Right_Column_Header">
            <a:extLst>
              <a:ext uri="{FF2B5EF4-FFF2-40B4-BE49-F238E27FC236}">
                <a16:creationId xmlns:a16="http://schemas.microsoft.com/office/drawing/2014/main" id="{0A835108-57BE-3627-B72A-0E4F108BE2E9}"/>
              </a:ext>
            </a:extLst>
          </p:cNvPr>
          <p:cNvSpPr txBox="1"/>
          <p:nvPr/>
        </p:nvSpPr>
        <p:spPr>
          <a:xfrm>
            <a:off x="4251960" y="1616145"/>
            <a:ext cx="2098331" cy="169277"/>
          </a:xfrm>
          <a:prstGeom prst="rect">
            <a:avLst/>
          </a:prstGeom>
          <a:noFill/>
        </p:spPr>
        <p:txBody>
          <a:bodyPr wrap="none" lIns="0" tIns="0" rIns="0" bIns="0" anchor="ctr">
            <a:spAutoFit/>
          </a:bodyPr>
          <a:lstStyle/>
          <a:p>
            <a:pPr algn="l"/>
            <a:r>
              <a:rPr sz="1100" b="1" i="0">
                <a:solidFill>
                  <a:srgbClr val="071A55"/>
                </a:solidFill>
                <a:latin typeface="Times New Roman" panose="02020603050405020304" pitchFamily="18" charset="0"/>
                <a:cs typeface="Times New Roman" panose="02020603050405020304" pitchFamily="18" charset="0"/>
              </a:rPr>
              <a:t>MEANING / INTERPRETATION</a:t>
            </a:r>
          </a:p>
        </p:txBody>
      </p:sp>
      <p:cxnSp>
        <p:nvCxnSpPr>
          <p:cNvPr id="8" name="10_Column_Header_Divider">
            <a:extLst>
              <a:ext uri="{FF2B5EF4-FFF2-40B4-BE49-F238E27FC236}">
                <a16:creationId xmlns:a16="http://schemas.microsoft.com/office/drawing/2014/main" id="{7C73371D-9965-9B79-1078-720A2445A028}"/>
              </a:ext>
            </a:extLst>
          </p:cNvPr>
          <p:cNvCxnSpPr/>
          <p:nvPr/>
        </p:nvCxnSpPr>
        <p:spPr>
          <a:xfrm>
            <a:off x="822960" y="1901952"/>
            <a:ext cx="10149840" cy="0"/>
          </a:xfrm>
          <a:prstGeom prst="line">
            <a:avLst/>
          </a:prstGeom>
          <a:ln w="8890">
            <a:solidFill>
              <a:srgbClr val="D9DEE3"/>
            </a:solidFill>
          </a:ln>
        </p:spPr>
        <p:style>
          <a:lnRef idx="2">
            <a:schemeClr val="accent1"/>
          </a:lnRef>
          <a:fillRef idx="0">
            <a:schemeClr val="accent1"/>
          </a:fillRef>
          <a:effectRef idx="1">
            <a:schemeClr val="accent1"/>
          </a:effectRef>
          <a:fontRef idx="minor">
            <a:schemeClr val="tx1"/>
          </a:fontRef>
        </p:style>
      </p:cxnSp>
      <p:cxnSp>
        <p:nvCxnSpPr>
          <p:cNvPr id="11" name="11_Column_Vertical_Divider">
            <a:extLst>
              <a:ext uri="{FF2B5EF4-FFF2-40B4-BE49-F238E27FC236}">
                <a16:creationId xmlns:a16="http://schemas.microsoft.com/office/drawing/2014/main" id="{B26D36C4-5D87-02B1-9E3A-6B738AC216D7}"/>
              </a:ext>
            </a:extLst>
          </p:cNvPr>
          <p:cNvCxnSpPr/>
          <p:nvPr/>
        </p:nvCxnSpPr>
        <p:spPr>
          <a:xfrm>
            <a:off x="3840480" y="1572768"/>
            <a:ext cx="0" cy="3730752"/>
          </a:xfrm>
          <a:prstGeom prst="line">
            <a:avLst/>
          </a:prstGeom>
          <a:ln w="8890">
            <a:solidFill>
              <a:srgbClr val="D9DEE3"/>
            </a:solidFill>
          </a:ln>
        </p:spPr>
        <p:style>
          <a:lnRef idx="2">
            <a:schemeClr val="accent1"/>
          </a:lnRef>
          <a:fillRef idx="0">
            <a:schemeClr val="accent1"/>
          </a:fillRef>
          <a:effectRef idx="1">
            <a:schemeClr val="accent1"/>
          </a:effectRef>
          <a:fontRef idx="minor">
            <a:schemeClr val="tx1"/>
          </a:fontRef>
        </p:style>
      </p:cxnSp>
      <p:sp>
        <p:nvSpPr>
          <p:cNvPr id="12" name="12_Supported_Field">
            <a:extLst>
              <a:ext uri="{FF2B5EF4-FFF2-40B4-BE49-F238E27FC236}">
                <a16:creationId xmlns:a16="http://schemas.microsoft.com/office/drawing/2014/main" id="{A21610A7-410B-A9D0-84EE-F1E089290E7E}"/>
              </a:ext>
            </a:extLst>
          </p:cNvPr>
          <p:cNvSpPr txBox="1"/>
          <p:nvPr/>
        </p:nvSpPr>
        <p:spPr>
          <a:xfrm>
            <a:off x="914400" y="2089738"/>
            <a:ext cx="889667" cy="246221"/>
          </a:xfrm>
          <a:prstGeom prst="rect">
            <a:avLst/>
          </a:prstGeom>
          <a:noFill/>
        </p:spPr>
        <p:txBody>
          <a:bodyPr wrap="none" lIns="0" tIns="0" rIns="0" bIns="0" anchor="ctr">
            <a:spAutoFit/>
          </a:bodyPr>
          <a:lstStyle/>
          <a:p>
            <a:pPr algn="l"/>
            <a:r>
              <a:rPr sz="1600" b="1" i="0">
                <a:solidFill>
                  <a:srgbClr val="071A55"/>
                </a:solidFill>
                <a:latin typeface="Times New Roman" panose="02020603050405020304" pitchFamily="18" charset="0"/>
                <a:cs typeface="Times New Roman" panose="02020603050405020304" pitchFamily="18" charset="0"/>
              </a:rPr>
              <a:t>supported</a:t>
            </a:r>
          </a:p>
        </p:txBody>
      </p:sp>
      <p:sp>
        <p:nvSpPr>
          <p:cNvPr id="13" name="13_Supported_Definition">
            <a:extLst>
              <a:ext uri="{FF2B5EF4-FFF2-40B4-BE49-F238E27FC236}">
                <a16:creationId xmlns:a16="http://schemas.microsoft.com/office/drawing/2014/main" id="{937B6A3C-6040-A9C8-945C-71265748C811}"/>
              </a:ext>
            </a:extLst>
          </p:cNvPr>
          <p:cNvSpPr txBox="1"/>
          <p:nvPr/>
        </p:nvSpPr>
        <p:spPr>
          <a:xfrm>
            <a:off x="4251960" y="1993392"/>
            <a:ext cx="4058803" cy="430887"/>
          </a:xfrm>
          <a:prstGeom prst="rect">
            <a:avLst/>
          </a:prstGeom>
          <a:noFill/>
        </p:spPr>
        <p:txBody>
          <a:bodyPr wrap="none" lIns="0" tIns="0" rIns="0" bIns="0">
            <a:spAutoFit/>
          </a:bodyPr>
          <a:lstStyle/>
          <a:p>
            <a:pPr algn="l">
              <a:spcBef>
                <a:spcPts val="0"/>
              </a:spcBef>
              <a:spcAft>
                <a:spcPts val="0"/>
              </a:spcAft>
            </a:pPr>
            <a:r>
              <a:rPr sz="1400" b="0" i="0">
                <a:solidFill>
                  <a:srgbClr val="111111"/>
                </a:solidFill>
                <a:latin typeface="Times New Roman" panose="02020603050405020304" pitchFamily="18" charset="0"/>
                <a:cs typeface="Times New Roman" panose="02020603050405020304" pitchFamily="18" charset="0"/>
              </a:rPr>
              <a:t>The final B-rep falls within a frozen construction class</a:t>
            </a:r>
          </a:p>
          <a:p>
            <a:pPr algn="l">
              <a:spcBef>
                <a:spcPts val="0"/>
              </a:spcBef>
              <a:spcAft>
                <a:spcPts val="0"/>
              </a:spcAft>
            </a:pPr>
            <a:r>
              <a:rPr sz="1400" b="0" i="0">
                <a:solidFill>
                  <a:srgbClr val="111111"/>
                </a:solidFill>
                <a:latin typeface="Times New Roman" panose="02020603050405020304" pitchFamily="18" charset="0"/>
                <a:cs typeface="Times New Roman" panose="02020603050405020304" pitchFamily="18" charset="0"/>
              </a:rPr>
              <a:t>that the semantic inference system is intended to handle.</a:t>
            </a:r>
          </a:p>
        </p:txBody>
      </p:sp>
      <p:sp>
        <p:nvSpPr>
          <p:cNvPr id="14" name="14_Supported_Boundary">
            <a:extLst>
              <a:ext uri="{FF2B5EF4-FFF2-40B4-BE49-F238E27FC236}">
                <a16:creationId xmlns:a16="http://schemas.microsoft.com/office/drawing/2014/main" id="{FF900277-FDF8-9237-CFD8-93EB71825314}"/>
              </a:ext>
            </a:extLst>
          </p:cNvPr>
          <p:cNvSpPr txBox="1"/>
          <p:nvPr/>
        </p:nvSpPr>
        <p:spPr>
          <a:xfrm>
            <a:off x="4251960" y="2420818"/>
            <a:ext cx="2239396" cy="169277"/>
          </a:xfrm>
          <a:prstGeom prst="rect">
            <a:avLst/>
          </a:prstGeom>
          <a:noFill/>
        </p:spPr>
        <p:txBody>
          <a:bodyPr wrap="none" lIns="0" tIns="0" rIns="0" bIns="0" anchor="ctr">
            <a:spAutoFit/>
          </a:bodyPr>
          <a:lstStyle/>
          <a:p>
            <a:pPr algn="l"/>
            <a:r>
              <a:rPr sz="1100" b="0" i="0">
                <a:solidFill>
                  <a:srgbClr val="666666"/>
                </a:solidFill>
                <a:latin typeface="Times New Roman" panose="02020603050405020304" pitchFamily="18" charset="0"/>
                <a:cs typeface="Times New Roman" panose="02020603050405020304" pitchFamily="18" charset="0"/>
              </a:rPr>
              <a:t>Supported ≠ successfully reconstructed.</a:t>
            </a:r>
          </a:p>
        </p:txBody>
      </p:sp>
      <p:cxnSp>
        <p:nvCxnSpPr>
          <p:cNvPr id="15" name="15_Row_Divider_1">
            <a:extLst>
              <a:ext uri="{FF2B5EF4-FFF2-40B4-BE49-F238E27FC236}">
                <a16:creationId xmlns:a16="http://schemas.microsoft.com/office/drawing/2014/main" id="{0DA1941A-6D1E-DE79-F29F-0B4F382F8808}"/>
              </a:ext>
            </a:extLst>
          </p:cNvPr>
          <p:cNvCxnSpPr/>
          <p:nvPr/>
        </p:nvCxnSpPr>
        <p:spPr>
          <a:xfrm>
            <a:off x="822960" y="2670048"/>
            <a:ext cx="10149840" cy="0"/>
          </a:xfrm>
          <a:prstGeom prst="line">
            <a:avLst/>
          </a:prstGeom>
          <a:ln w="6985">
            <a:solidFill>
              <a:srgbClr val="E6E9EC"/>
            </a:solidFill>
          </a:ln>
        </p:spPr>
        <p:style>
          <a:lnRef idx="2">
            <a:schemeClr val="accent1"/>
          </a:lnRef>
          <a:fillRef idx="0">
            <a:schemeClr val="accent1"/>
          </a:fillRef>
          <a:effectRef idx="1">
            <a:schemeClr val="accent1"/>
          </a:effectRef>
          <a:fontRef idx="minor">
            <a:schemeClr val="tx1"/>
          </a:fontRef>
        </p:style>
      </p:cxnSp>
      <p:sp>
        <p:nvSpPr>
          <p:cNvPr id="18" name="16_Ambiguous_Field">
            <a:extLst>
              <a:ext uri="{FF2B5EF4-FFF2-40B4-BE49-F238E27FC236}">
                <a16:creationId xmlns:a16="http://schemas.microsoft.com/office/drawing/2014/main" id="{25BF6662-E79C-65FB-9591-C079ACFB6EAB}"/>
              </a:ext>
            </a:extLst>
          </p:cNvPr>
          <p:cNvSpPr txBox="1"/>
          <p:nvPr/>
        </p:nvSpPr>
        <p:spPr>
          <a:xfrm>
            <a:off x="914400" y="2845402"/>
            <a:ext cx="1543692" cy="246221"/>
          </a:xfrm>
          <a:prstGeom prst="rect">
            <a:avLst/>
          </a:prstGeom>
          <a:noFill/>
        </p:spPr>
        <p:txBody>
          <a:bodyPr wrap="none" lIns="0" tIns="0" rIns="0" bIns="0" anchor="ctr">
            <a:spAutoFit/>
          </a:bodyPr>
          <a:lstStyle/>
          <a:p>
            <a:pPr algn="l"/>
            <a:r>
              <a:rPr sz="1600" b="1" i="0" dirty="0">
                <a:solidFill>
                  <a:srgbClr val="B77900"/>
                </a:solidFill>
                <a:latin typeface="Times New Roman" panose="02020603050405020304" pitchFamily="18" charset="0"/>
                <a:cs typeface="Times New Roman" panose="02020603050405020304" pitchFamily="18" charset="0"/>
              </a:rPr>
              <a:t>ambiguous = true</a:t>
            </a:r>
          </a:p>
        </p:txBody>
      </p:sp>
      <p:sp>
        <p:nvSpPr>
          <p:cNvPr id="19" name="18_Ambiguous_Definition">
            <a:extLst>
              <a:ext uri="{FF2B5EF4-FFF2-40B4-BE49-F238E27FC236}">
                <a16:creationId xmlns:a16="http://schemas.microsoft.com/office/drawing/2014/main" id="{40D81C56-B115-4548-31C1-565F08142E7D}"/>
              </a:ext>
            </a:extLst>
          </p:cNvPr>
          <p:cNvSpPr txBox="1"/>
          <p:nvPr/>
        </p:nvSpPr>
        <p:spPr>
          <a:xfrm>
            <a:off x="4251960" y="2715768"/>
            <a:ext cx="3989875" cy="430887"/>
          </a:xfrm>
          <a:prstGeom prst="rect">
            <a:avLst/>
          </a:prstGeom>
          <a:noFill/>
        </p:spPr>
        <p:txBody>
          <a:bodyPr wrap="none" lIns="0" tIns="0" rIns="0" bIns="0">
            <a:spAutoFit/>
          </a:bodyPr>
          <a:lstStyle/>
          <a:p>
            <a:pPr algn="l">
              <a:spcBef>
                <a:spcPts val="0"/>
              </a:spcBef>
              <a:spcAft>
                <a:spcPts val="0"/>
              </a:spcAft>
            </a:pPr>
            <a:r>
              <a:rPr sz="1400" b="0" i="0">
                <a:solidFill>
                  <a:srgbClr val="111111"/>
                </a:solidFill>
                <a:latin typeface="Times New Roman" panose="02020603050405020304" pitchFamily="18" charset="0"/>
                <a:cs typeface="Times New Roman" panose="02020603050405020304" pitchFamily="18" charset="0"/>
              </a:rPr>
              <a:t>More than one candidate hypothesis satisfies the frozen</a:t>
            </a:r>
          </a:p>
          <a:p>
            <a:pPr algn="l">
              <a:spcBef>
                <a:spcPts val="0"/>
              </a:spcBef>
              <a:spcAft>
                <a:spcPts val="0"/>
              </a:spcAft>
            </a:pPr>
            <a:r>
              <a:rPr sz="1400" b="0" i="0">
                <a:solidFill>
                  <a:srgbClr val="111111"/>
                </a:solidFill>
                <a:latin typeface="Times New Roman" panose="02020603050405020304" pitchFamily="18" charset="0"/>
                <a:cs typeface="Times New Roman" panose="02020603050405020304" pitchFamily="18" charset="0"/>
              </a:rPr>
              <a:t>pre-Fusion acceptance contract.</a:t>
            </a:r>
          </a:p>
        </p:txBody>
      </p:sp>
      <p:sp>
        <p:nvSpPr>
          <p:cNvPr id="20" name="19_Ambiguous_Boundary">
            <a:extLst>
              <a:ext uri="{FF2B5EF4-FFF2-40B4-BE49-F238E27FC236}">
                <a16:creationId xmlns:a16="http://schemas.microsoft.com/office/drawing/2014/main" id="{363525C2-2E73-240C-591A-B3617F7E07EF}"/>
              </a:ext>
            </a:extLst>
          </p:cNvPr>
          <p:cNvSpPr txBox="1"/>
          <p:nvPr/>
        </p:nvSpPr>
        <p:spPr>
          <a:xfrm>
            <a:off x="4251960" y="3099816"/>
            <a:ext cx="3332644" cy="338554"/>
          </a:xfrm>
          <a:prstGeom prst="rect">
            <a:avLst/>
          </a:prstGeom>
          <a:noFill/>
        </p:spPr>
        <p:txBody>
          <a:bodyPr wrap="none" lIns="0" tIns="0" rIns="0" bIns="0">
            <a:spAutoFit/>
          </a:bodyPr>
          <a:lstStyle/>
          <a:p>
            <a:pPr algn="l">
              <a:spcBef>
                <a:spcPts val="0"/>
              </a:spcBef>
              <a:spcAft>
                <a:spcPts val="0"/>
              </a:spcAft>
            </a:pPr>
            <a:r>
              <a:rPr sz="1100" b="0" i="0">
                <a:solidFill>
                  <a:srgbClr val="666666"/>
                </a:solidFill>
                <a:latin typeface="Times New Roman" panose="02020603050405020304" pitchFamily="18" charset="0"/>
                <a:cs typeface="Times New Roman" panose="02020603050405020304" pitchFamily="18" charset="0"/>
              </a:rPr>
              <a:t>It does not mean that multiple candidates have independent</a:t>
            </a:r>
          </a:p>
          <a:p>
            <a:pPr algn="l">
              <a:spcBef>
                <a:spcPts val="0"/>
              </a:spcBef>
              <a:spcAft>
                <a:spcPts val="0"/>
              </a:spcAft>
            </a:pPr>
            <a:r>
              <a:rPr sz="1100" b="0" i="0">
                <a:solidFill>
                  <a:srgbClr val="666666"/>
                </a:solidFill>
                <a:latin typeface="Times New Roman" panose="02020603050405020304" pitchFamily="18" charset="0"/>
                <a:cs typeface="Times New Roman" panose="02020603050405020304" pitchFamily="18" charset="0"/>
              </a:rPr>
              <a:t>Fusion replay evidence.</a:t>
            </a:r>
          </a:p>
        </p:txBody>
      </p:sp>
      <p:cxnSp>
        <p:nvCxnSpPr>
          <p:cNvPr id="22" name="20_Row_Divider_2">
            <a:extLst>
              <a:ext uri="{FF2B5EF4-FFF2-40B4-BE49-F238E27FC236}">
                <a16:creationId xmlns:a16="http://schemas.microsoft.com/office/drawing/2014/main" id="{CC73F2BD-68C3-AF83-5B87-773C29AE755C}"/>
              </a:ext>
            </a:extLst>
          </p:cNvPr>
          <p:cNvCxnSpPr/>
          <p:nvPr/>
        </p:nvCxnSpPr>
        <p:spPr>
          <a:xfrm>
            <a:off x="822960" y="3456432"/>
            <a:ext cx="10149840" cy="0"/>
          </a:xfrm>
          <a:prstGeom prst="line">
            <a:avLst/>
          </a:prstGeom>
          <a:ln w="6985">
            <a:solidFill>
              <a:srgbClr val="E6E9EC"/>
            </a:solidFill>
          </a:ln>
        </p:spPr>
        <p:style>
          <a:lnRef idx="2">
            <a:schemeClr val="accent1"/>
          </a:lnRef>
          <a:fillRef idx="0">
            <a:schemeClr val="accent1"/>
          </a:fillRef>
          <a:effectRef idx="1">
            <a:schemeClr val="accent1"/>
          </a:effectRef>
          <a:fontRef idx="minor">
            <a:schemeClr val="tx1"/>
          </a:fontRef>
        </p:style>
      </p:cxnSp>
      <p:sp>
        <p:nvSpPr>
          <p:cNvPr id="23" name="21_Unsupported_Field">
            <a:extLst>
              <a:ext uri="{FF2B5EF4-FFF2-40B4-BE49-F238E27FC236}">
                <a16:creationId xmlns:a16="http://schemas.microsoft.com/office/drawing/2014/main" id="{204E898C-6C7D-0972-2517-EE1BC8043567}"/>
              </a:ext>
            </a:extLst>
          </p:cNvPr>
          <p:cNvSpPr txBox="1"/>
          <p:nvPr/>
        </p:nvSpPr>
        <p:spPr>
          <a:xfrm>
            <a:off x="914400" y="3607642"/>
            <a:ext cx="1117294" cy="246221"/>
          </a:xfrm>
          <a:prstGeom prst="rect">
            <a:avLst/>
          </a:prstGeom>
          <a:noFill/>
        </p:spPr>
        <p:txBody>
          <a:bodyPr wrap="none" lIns="0" tIns="0" rIns="0" bIns="0" anchor="ctr">
            <a:spAutoFit/>
          </a:bodyPr>
          <a:lstStyle/>
          <a:p>
            <a:pPr algn="l"/>
            <a:r>
              <a:rPr sz="1600" b="1" i="0">
                <a:solidFill>
                  <a:srgbClr val="6F7B85"/>
                </a:solidFill>
                <a:latin typeface="Times New Roman" panose="02020603050405020304" pitchFamily="18" charset="0"/>
                <a:cs typeface="Times New Roman" panose="02020603050405020304" pitchFamily="18" charset="0"/>
              </a:rPr>
              <a:t>unsupported</a:t>
            </a:r>
          </a:p>
        </p:txBody>
      </p:sp>
      <p:sp>
        <p:nvSpPr>
          <p:cNvPr id="24" name="22_Unsupported_Definition">
            <a:extLst>
              <a:ext uri="{FF2B5EF4-FFF2-40B4-BE49-F238E27FC236}">
                <a16:creationId xmlns:a16="http://schemas.microsoft.com/office/drawing/2014/main" id="{F9ED42ED-F9ED-E3C2-72CF-94CCAE931E04}"/>
              </a:ext>
            </a:extLst>
          </p:cNvPr>
          <p:cNvSpPr txBox="1"/>
          <p:nvPr/>
        </p:nvSpPr>
        <p:spPr>
          <a:xfrm>
            <a:off x="4251960" y="3529584"/>
            <a:ext cx="4257576" cy="430887"/>
          </a:xfrm>
          <a:prstGeom prst="rect">
            <a:avLst/>
          </a:prstGeom>
          <a:noFill/>
        </p:spPr>
        <p:txBody>
          <a:bodyPr wrap="none" lIns="0" tIns="0" rIns="0" bIns="0">
            <a:spAutoFit/>
          </a:bodyPr>
          <a:lstStyle/>
          <a:p>
            <a:pPr algn="l">
              <a:spcBef>
                <a:spcPts val="0"/>
              </a:spcBef>
              <a:spcAft>
                <a:spcPts val="0"/>
              </a:spcAft>
            </a:pPr>
            <a:r>
              <a:rPr sz="1400" b="0" i="0">
                <a:solidFill>
                  <a:srgbClr val="111111"/>
                </a:solidFill>
                <a:latin typeface="Times New Roman" panose="02020603050405020304" pitchFamily="18" charset="0"/>
                <a:cs typeface="Times New Roman" panose="02020603050405020304" pitchFamily="18" charset="0"/>
              </a:rPr>
              <a:t>The final B-rep falls outside the frozen supported</a:t>
            </a:r>
          </a:p>
          <a:p>
            <a:pPr algn="l">
              <a:spcBef>
                <a:spcPts val="0"/>
              </a:spcBef>
              <a:spcAft>
                <a:spcPts val="0"/>
              </a:spcAft>
            </a:pPr>
            <a:r>
              <a:rPr sz="1400" b="0" i="0">
                <a:solidFill>
                  <a:srgbClr val="111111"/>
                </a:solidFill>
                <a:latin typeface="Times New Roman" panose="02020603050405020304" pitchFamily="18" charset="0"/>
                <a:cs typeface="Times New Roman" panose="02020603050405020304" pitchFamily="18" charset="0"/>
              </a:rPr>
              <a:t>construction scope and is returned as a structured rejection.</a:t>
            </a:r>
          </a:p>
        </p:txBody>
      </p:sp>
      <p:sp>
        <p:nvSpPr>
          <p:cNvPr id="26" name="23_Unsupported_Boundary">
            <a:extLst>
              <a:ext uri="{FF2B5EF4-FFF2-40B4-BE49-F238E27FC236}">
                <a16:creationId xmlns:a16="http://schemas.microsoft.com/office/drawing/2014/main" id="{98DB343F-D621-DDF6-E862-C0249AC79B0C}"/>
              </a:ext>
            </a:extLst>
          </p:cNvPr>
          <p:cNvSpPr txBox="1"/>
          <p:nvPr/>
        </p:nvSpPr>
        <p:spPr>
          <a:xfrm>
            <a:off x="4251960" y="3947866"/>
            <a:ext cx="3186770" cy="169277"/>
          </a:xfrm>
          <a:prstGeom prst="rect">
            <a:avLst/>
          </a:prstGeom>
          <a:noFill/>
        </p:spPr>
        <p:txBody>
          <a:bodyPr wrap="none" lIns="0" tIns="0" rIns="0" bIns="0" anchor="ctr">
            <a:spAutoFit/>
          </a:bodyPr>
          <a:lstStyle/>
          <a:p>
            <a:pPr algn="l"/>
            <a:r>
              <a:rPr sz="1100" b="0" i="0">
                <a:solidFill>
                  <a:srgbClr val="666666"/>
                </a:solidFill>
                <a:latin typeface="Times New Roman" panose="02020603050405020304" pitchFamily="18" charset="0"/>
                <a:cs typeface="Times New Roman" panose="02020603050405020304" pitchFamily="18" charset="0"/>
              </a:rPr>
              <a:t>Unsupported is a scope decision, not an executor failure.</a:t>
            </a:r>
          </a:p>
        </p:txBody>
      </p:sp>
      <p:cxnSp>
        <p:nvCxnSpPr>
          <p:cNvPr id="27" name="24_Row_Divider_3">
            <a:extLst>
              <a:ext uri="{FF2B5EF4-FFF2-40B4-BE49-F238E27FC236}">
                <a16:creationId xmlns:a16="http://schemas.microsoft.com/office/drawing/2014/main" id="{32467B5E-BCEA-7109-71A0-4AF150F5CCCC}"/>
              </a:ext>
            </a:extLst>
          </p:cNvPr>
          <p:cNvCxnSpPr/>
          <p:nvPr/>
        </p:nvCxnSpPr>
        <p:spPr>
          <a:xfrm>
            <a:off x="822960" y="4187952"/>
            <a:ext cx="10149840" cy="0"/>
          </a:xfrm>
          <a:prstGeom prst="line">
            <a:avLst/>
          </a:prstGeom>
          <a:ln w="6985">
            <a:solidFill>
              <a:srgbClr val="E6E9EC"/>
            </a:solidFill>
          </a:ln>
        </p:spPr>
        <p:style>
          <a:lnRef idx="2">
            <a:schemeClr val="accent1"/>
          </a:lnRef>
          <a:fillRef idx="0">
            <a:schemeClr val="accent1"/>
          </a:fillRef>
          <a:effectRef idx="1">
            <a:schemeClr val="accent1"/>
          </a:effectRef>
          <a:fontRef idx="minor">
            <a:schemeClr val="tx1"/>
          </a:fontRef>
        </p:style>
      </p:cxnSp>
      <p:sp>
        <p:nvSpPr>
          <p:cNvPr id="28" name="25_Executor_Field">
            <a:extLst>
              <a:ext uri="{FF2B5EF4-FFF2-40B4-BE49-F238E27FC236}">
                <a16:creationId xmlns:a16="http://schemas.microsoft.com/office/drawing/2014/main" id="{C8865CB9-C3D3-5FF5-0CC1-7566EFF784B7}"/>
              </a:ext>
            </a:extLst>
          </p:cNvPr>
          <p:cNvSpPr txBox="1"/>
          <p:nvPr/>
        </p:nvSpPr>
        <p:spPr>
          <a:xfrm>
            <a:off x="914400" y="4330017"/>
            <a:ext cx="1380763" cy="246221"/>
          </a:xfrm>
          <a:prstGeom prst="rect">
            <a:avLst/>
          </a:prstGeom>
          <a:noFill/>
        </p:spPr>
        <p:txBody>
          <a:bodyPr wrap="none" lIns="0" tIns="0" rIns="0" bIns="0" anchor="ctr">
            <a:spAutoFit/>
          </a:bodyPr>
          <a:lstStyle/>
          <a:p>
            <a:pPr algn="l"/>
            <a:r>
              <a:rPr sz="1600" b="1" i="0">
                <a:solidFill>
                  <a:srgbClr val="D99A00"/>
                </a:solidFill>
                <a:latin typeface="Times New Roman" panose="02020603050405020304" pitchFamily="18" charset="0"/>
                <a:cs typeface="Times New Roman" panose="02020603050405020304" pitchFamily="18" charset="0"/>
              </a:rPr>
              <a:t>executor failure</a:t>
            </a:r>
          </a:p>
        </p:txBody>
      </p:sp>
      <p:sp>
        <p:nvSpPr>
          <p:cNvPr id="30" name="26_Executor_Definition">
            <a:extLst>
              <a:ext uri="{FF2B5EF4-FFF2-40B4-BE49-F238E27FC236}">
                <a16:creationId xmlns:a16="http://schemas.microsoft.com/office/drawing/2014/main" id="{1315B5FB-820E-953B-11CC-6AC08CF647FB}"/>
              </a:ext>
            </a:extLst>
          </p:cNvPr>
          <p:cNvSpPr txBox="1"/>
          <p:nvPr/>
        </p:nvSpPr>
        <p:spPr>
          <a:xfrm>
            <a:off x="4251960" y="4242816"/>
            <a:ext cx="4206280" cy="430887"/>
          </a:xfrm>
          <a:prstGeom prst="rect">
            <a:avLst/>
          </a:prstGeom>
          <a:noFill/>
        </p:spPr>
        <p:txBody>
          <a:bodyPr wrap="none" lIns="0" tIns="0" rIns="0" bIns="0">
            <a:spAutoFit/>
          </a:bodyPr>
          <a:lstStyle/>
          <a:p>
            <a:pPr algn="l">
              <a:spcBef>
                <a:spcPts val="0"/>
              </a:spcBef>
              <a:spcAft>
                <a:spcPts val="0"/>
              </a:spcAft>
            </a:pPr>
            <a:r>
              <a:rPr sz="1400" b="0" i="0">
                <a:solidFill>
                  <a:srgbClr val="111111"/>
                </a:solidFill>
                <a:latin typeface="Times New Roman" panose="02020603050405020304" pitchFamily="18" charset="0"/>
                <a:cs typeface="Times New Roman" panose="02020603050405020304" pitchFamily="18" charset="0"/>
              </a:rPr>
              <a:t>A semantic candidate reaches the replay stage, but the</a:t>
            </a:r>
          </a:p>
          <a:p>
            <a:pPr algn="l">
              <a:spcBef>
                <a:spcPts val="0"/>
              </a:spcBef>
              <a:spcAft>
                <a:spcPts val="0"/>
              </a:spcAft>
            </a:pPr>
            <a:r>
              <a:rPr sz="1400" b="0" i="0">
                <a:solidFill>
                  <a:srgbClr val="111111"/>
                </a:solidFill>
                <a:latin typeface="Times New Roman" panose="02020603050405020304" pitchFamily="18" charset="0"/>
                <a:cs typeface="Times New Roman" panose="02020603050405020304" pitchFamily="18" charset="0"/>
              </a:rPr>
              <a:t>frozen executor cannot complete that construction request.</a:t>
            </a:r>
          </a:p>
        </p:txBody>
      </p:sp>
      <p:sp>
        <p:nvSpPr>
          <p:cNvPr id="31" name="27_Executor_Boundary">
            <a:extLst>
              <a:ext uri="{FF2B5EF4-FFF2-40B4-BE49-F238E27FC236}">
                <a16:creationId xmlns:a16="http://schemas.microsoft.com/office/drawing/2014/main" id="{71458E7E-1232-35B2-6042-9C46B69F50F4}"/>
              </a:ext>
            </a:extLst>
          </p:cNvPr>
          <p:cNvSpPr txBox="1"/>
          <p:nvPr/>
        </p:nvSpPr>
        <p:spPr>
          <a:xfrm>
            <a:off x="4251960" y="4661097"/>
            <a:ext cx="3771866" cy="169277"/>
          </a:xfrm>
          <a:prstGeom prst="rect">
            <a:avLst/>
          </a:prstGeom>
          <a:noFill/>
        </p:spPr>
        <p:txBody>
          <a:bodyPr wrap="none" lIns="0" tIns="0" rIns="0" bIns="0" anchor="ctr">
            <a:spAutoFit/>
          </a:bodyPr>
          <a:lstStyle/>
          <a:p>
            <a:pPr algn="l"/>
            <a:r>
              <a:rPr sz="1100" b="0" i="0">
                <a:solidFill>
                  <a:srgbClr val="666666"/>
                </a:solidFill>
                <a:latin typeface="Times New Roman" panose="02020603050405020304" pitchFamily="18" charset="0"/>
                <a:cs typeface="Times New Roman" panose="02020603050405020304" pitchFamily="18" charset="0"/>
              </a:rPr>
              <a:t>This is an executor capability boundary, not semantic unsupported.</a:t>
            </a:r>
          </a:p>
        </p:txBody>
      </p:sp>
      <p:sp>
        <p:nvSpPr>
          <p:cNvPr id="37" name="27b_Executor_Example">
            <a:extLst>
              <a:ext uri="{FF2B5EF4-FFF2-40B4-BE49-F238E27FC236}">
                <a16:creationId xmlns:a16="http://schemas.microsoft.com/office/drawing/2014/main" id="{9CBBF72F-89C4-7BA9-35B5-5A972A989D83}"/>
              </a:ext>
            </a:extLst>
          </p:cNvPr>
          <p:cNvSpPr txBox="1"/>
          <p:nvPr/>
        </p:nvSpPr>
        <p:spPr>
          <a:xfrm>
            <a:off x="10479911" y="4668792"/>
            <a:ext cx="538609" cy="153888"/>
          </a:xfrm>
          <a:prstGeom prst="rect">
            <a:avLst/>
          </a:prstGeom>
          <a:noFill/>
        </p:spPr>
        <p:txBody>
          <a:bodyPr wrap="none" lIns="0" tIns="0" rIns="0" bIns="0" anchor="ctr">
            <a:spAutoFit/>
          </a:bodyPr>
          <a:lstStyle/>
          <a:p>
            <a:pPr algn="r"/>
            <a:r>
              <a:rPr sz="1000" b="0" i="0">
                <a:solidFill>
                  <a:srgbClr val="999999"/>
                </a:solidFill>
                <a:latin typeface="Times New Roman" panose="02020603050405020304" pitchFamily="18" charset="0"/>
                <a:cs typeface="Times New Roman" panose="02020603050405020304" pitchFamily="18" charset="0"/>
              </a:rPr>
              <a:t>e.g. T-S07</a:t>
            </a:r>
          </a:p>
        </p:txBody>
      </p:sp>
      <p:cxnSp>
        <p:nvCxnSpPr>
          <p:cNvPr id="43" name="28_Row_Divider_4">
            <a:extLst>
              <a:ext uri="{FF2B5EF4-FFF2-40B4-BE49-F238E27FC236}">
                <a16:creationId xmlns:a16="http://schemas.microsoft.com/office/drawing/2014/main" id="{1DE9B49C-E54F-41C6-6B1D-E97EB311E263}"/>
              </a:ext>
            </a:extLst>
          </p:cNvPr>
          <p:cNvCxnSpPr/>
          <p:nvPr/>
        </p:nvCxnSpPr>
        <p:spPr>
          <a:xfrm>
            <a:off x="822960" y="4864608"/>
            <a:ext cx="10149840" cy="0"/>
          </a:xfrm>
          <a:prstGeom prst="line">
            <a:avLst/>
          </a:prstGeom>
          <a:ln w="6985">
            <a:solidFill>
              <a:srgbClr val="E6E9EC"/>
            </a:solidFill>
          </a:ln>
        </p:spPr>
        <p:style>
          <a:lnRef idx="2">
            <a:schemeClr val="accent1"/>
          </a:lnRef>
          <a:fillRef idx="0">
            <a:schemeClr val="accent1"/>
          </a:fillRef>
          <a:effectRef idx="1">
            <a:schemeClr val="accent1"/>
          </a:effectRef>
          <a:fontRef idx="minor">
            <a:schemeClr val="tx1"/>
          </a:fontRef>
        </p:style>
      </p:cxnSp>
      <p:sp>
        <p:nvSpPr>
          <p:cNvPr id="44" name="29_Geometry_Field">
            <a:extLst>
              <a:ext uri="{FF2B5EF4-FFF2-40B4-BE49-F238E27FC236}">
                <a16:creationId xmlns:a16="http://schemas.microsoft.com/office/drawing/2014/main" id="{33E11784-3607-33B7-7471-A242C0DF69FF}"/>
              </a:ext>
            </a:extLst>
          </p:cNvPr>
          <p:cNvSpPr txBox="1"/>
          <p:nvPr/>
        </p:nvSpPr>
        <p:spPr>
          <a:xfrm>
            <a:off x="914400" y="4988385"/>
            <a:ext cx="1453411" cy="246221"/>
          </a:xfrm>
          <a:prstGeom prst="rect">
            <a:avLst/>
          </a:prstGeom>
          <a:noFill/>
        </p:spPr>
        <p:txBody>
          <a:bodyPr wrap="none" lIns="0" tIns="0" rIns="0" bIns="0" anchor="ctr">
            <a:spAutoFit/>
          </a:bodyPr>
          <a:lstStyle/>
          <a:p>
            <a:pPr algn="l"/>
            <a:r>
              <a:rPr sz="1600" b="1" i="0">
                <a:solidFill>
                  <a:srgbClr val="A75B19"/>
                </a:solidFill>
                <a:latin typeface="Times New Roman" panose="02020603050405020304" pitchFamily="18" charset="0"/>
                <a:cs typeface="Times New Roman" panose="02020603050405020304" pitchFamily="18" charset="0"/>
              </a:rPr>
              <a:t>geometry failure</a:t>
            </a:r>
          </a:p>
        </p:txBody>
      </p:sp>
      <p:sp>
        <p:nvSpPr>
          <p:cNvPr id="63" name="30_Geometry_Definition">
            <a:extLst>
              <a:ext uri="{FF2B5EF4-FFF2-40B4-BE49-F238E27FC236}">
                <a16:creationId xmlns:a16="http://schemas.microsoft.com/office/drawing/2014/main" id="{1CDF882B-CFB0-5509-8E5F-5B7444A1797F}"/>
              </a:ext>
            </a:extLst>
          </p:cNvPr>
          <p:cNvSpPr txBox="1"/>
          <p:nvPr/>
        </p:nvSpPr>
        <p:spPr>
          <a:xfrm>
            <a:off x="4251960" y="4892040"/>
            <a:ext cx="4252767" cy="430887"/>
          </a:xfrm>
          <a:prstGeom prst="rect">
            <a:avLst/>
          </a:prstGeom>
          <a:noFill/>
        </p:spPr>
        <p:txBody>
          <a:bodyPr wrap="none" lIns="0" tIns="0" rIns="0" bIns="0">
            <a:spAutoFit/>
          </a:bodyPr>
          <a:lstStyle/>
          <a:p>
            <a:pPr algn="l">
              <a:spcBef>
                <a:spcPts val="0"/>
              </a:spcBef>
              <a:spcAft>
                <a:spcPts val="0"/>
              </a:spcAft>
            </a:pPr>
            <a:r>
              <a:rPr sz="1400" b="0" i="0">
                <a:solidFill>
                  <a:srgbClr val="111111"/>
                </a:solidFill>
                <a:latin typeface="Times New Roman" panose="02020603050405020304" pitchFamily="18" charset="0"/>
                <a:cs typeface="Times New Roman" panose="02020603050405020304" pitchFamily="18" charset="0"/>
              </a:rPr>
              <a:t>Replay evidence exists, but the frozen route-specific</a:t>
            </a:r>
          </a:p>
          <a:p>
            <a:pPr algn="l">
              <a:spcBef>
                <a:spcPts val="0"/>
              </a:spcBef>
              <a:spcAft>
                <a:spcPts val="0"/>
              </a:spcAft>
            </a:pPr>
            <a:r>
              <a:rPr sz="1400" b="0" i="0">
                <a:solidFill>
                  <a:srgbClr val="111111"/>
                </a:solidFill>
                <a:latin typeface="Times New Roman" panose="02020603050405020304" pitchFamily="18" charset="0"/>
                <a:cs typeface="Times New Roman" panose="02020603050405020304" pitchFamily="18" charset="0"/>
              </a:rPr>
              <a:t>geometry validation does not satisfy its acceptance criteria.</a:t>
            </a:r>
          </a:p>
        </p:txBody>
      </p:sp>
      <p:sp>
        <p:nvSpPr>
          <p:cNvPr id="64" name="31_Geometry_Boundary">
            <a:extLst>
              <a:ext uri="{FF2B5EF4-FFF2-40B4-BE49-F238E27FC236}">
                <a16:creationId xmlns:a16="http://schemas.microsoft.com/office/drawing/2014/main" id="{4A14FB26-1080-CFF9-D065-2B039F0AF02F}"/>
              </a:ext>
            </a:extLst>
          </p:cNvPr>
          <p:cNvSpPr txBox="1"/>
          <p:nvPr/>
        </p:nvSpPr>
        <p:spPr>
          <a:xfrm>
            <a:off x="4251960" y="5259304"/>
            <a:ext cx="2678618" cy="161583"/>
          </a:xfrm>
          <a:prstGeom prst="rect">
            <a:avLst/>
          </a:prstGeom>
          <a:noFill/>
        </p:spPr>
        <p:txBody>
          <a:bodyPr wrap="none" lIns="0" tIns="0" rIns="0" bIns="0" anchor="ctr">
            <a:spAutoFit/>
          </a:bodyPr>
          <a:lstStyle/>
          <a:p>
            <a:pPr algn="l"/>
            <a:r>
              <a:rPr sz="1050" b="0" i="0">
                <a:solidFill>
                  <a:srgbClr val="666666"/>
                </a:solidFill>
                <a:latin typeface="Times New Roman" panose="02020603050405020304" pitchFamily="18" charset="0"/>
                <a:cs typeface="Times New Roman" panose="02020603050405020304" pitchFamily="18" charset="0"/>
              </a:rPr>
              <a:t>Geometry failure is distinct from executor failure.</a:t>
            </a:r>
          </a:p>
        </p:txBody>
      </p:sp>
      <p:cxnSp>
        <p:nvCxnSpPr>
          <p:cNvPr id="65" name="32_Independent_Divider">
            <a:extLst>
              <a:ext uri="{FF2B5EF4-FFF2-40B4-BE49-F238E27FC236}">
                <a16:creationId xmlns:a16="http://schemas.microsoft.com/office/drawing/2014/main" id="{E6022F39-B17D-D549-13E2-798EE312DB1F}"/>
              </a:ext>
            </a:extLst>
          </p:cNvPr>
          <p:cNvCxnSpPr/>
          <p:nvPr/>
        </p:nvCxnSpPr>
        <p:spPr>
          <a:xfrm>
            <a:off x="685800" y="5468112"/>
            <a:ext cx="10789920" cy="0"/>
          </a:xfrm>
          <a:prstGeom prst="line">
            <a:avLst/>
          </a:prstGeom>
          <a:ln w="8890">
            <a:solidFill>
              <a:srgbClr val="9EAEBB"/>
            </a:solidFill>
          </a:ln>
        </p:spPr>
        <p:style>
          <a:lnRef idx="2">
            <a:schemeClr val="accent1"/>
          </a:lnRef>
          <a:fillRef idx="0">
            <a:schemeClr val="accent1"/>
          </a:fillRef>
          <a:effectRef idx="1">
            <a:schemeClr val="accent1"/>
          </a:effectRef>
          <a:fontRef idx="minor">
            <a:schemeClr val="tx1"/>
          </a:fontRef>
        </p:style>
      </p:cxnSp>
      <p:sp>
        <p:nvSpPr>
          <p:cNvPr id="66" name="33_Ambiguity_Axis_Block">
            <a:extLst>
              <a:ext uri="{FF2B5EF4-FFF2-40B4-BE49-F238E27FC236}">
                <a16:creationId xmlns:a16="http://schemas.microsoft.com/office/drawing/2014/main" id="{356BE8FE-7A1E-C479-EF3F-80D444507C18}"/>
              </a:ext>
            </a:extLst>
          </p:cNvPr>
          <p:cNvSpPr txBox="1"/>
          <p:nvPr/>
        </p:nvSpPr>
        <p:spPr>
          <a:xfrm>
            <a:off x="822960" y="5467770"/>
            <a:ext cx="1630254" cy="938719"/>
          </a:xfrm>
          <a:prstGeom prst="rect">
            <a:avLst/>
          </a:prstGeom>
          <a:noFill/>
        </p:spPr>
        <p:txBody>
          <a:bodyPr wrap="square" lIns="0" tIns="0" rIns="0" bIns="0">
            <a:spAutoFit/>
          </a:bodyPr>
          <a:lstStyle/>
          <a:p>
            <a:pPr algn="l">
              <a:spcBef>
                <a:spcPts val="0"/>
              </a:spcBef>
              <a:spcAft>
                <a:spcPts val="0"/>
              </a:spcAft>
            </a:pPr>
            <a:r>
              <a:rPr lang="en-US" sz="1100" b="1" i="0" dirty="0">
                <a:solidFill>
                  <a:srgbClr val="B77900"/>
                </a:solidFill>
                <a:latin typeface="Times New Roman" panose="02020603050405020304" pitchFamily="18" charset="0"/>
                <a:cs typeface="Times New Roman" panose="02020603050405020304" pitchFamily="18" charset="0"/>
              </a:rPr>
              <a:t>AMBIGUITY FLAG</a:t>
            </a:r>
          </a:p>
          <a:p>
            <a:pPr algn="l">
              <a:spcBef>
                <a:spcPts val="0"/>
              </a:spcBef>
              <a:spcAft>
                <a:spcPts val="0"/>
              </a:spcAft>
            </a:pPr>
            <a:endParaRPr lang="en-US" sz="1400" b="1" i="0" dirty="0">
              <a:solidFill>
                <a:srgbClr val="111111"/>
              </a:solidFill>
              <a:latin typeface="Times New Roman" panose="02020603050405020304" pitchFamily="18" charset="0"/>
              <a:cs typeface="Times New Roman" panose="02020603050405020304" pitchFamily="18" charset="0"/>
            </a:endParaRPr>
          </a:p>
          <a:p>
            <a:pPr algn="l">
              <a:spcBef>
                <a:spcPts val="0"/>
              </a:spcBef>
              <a:spcAft>
                <a:spcPts val="0"/>
              </a:spcAft>
            </a:pPr>
            <a:r>
              <a:rPr lang="en-US" sz="1400" b="1" i="0" dirty="0">
                <a:solidFill>
                  <a:srgbClr val="111111"/>
                </a:solidFill>
                <a:latin typeface="Times New Roman" panose="02020603050405020304" pitchFamily="18" charset="0"/>
                <a:cs typeface="Times New Roman" panose="02020603050405020304" pitchFamily="18" charset="0"/>
              </a:rPr>
              <a:t>candidate-space state</a:t>
            </a:r>
          </a:p>
          <a:p>
            <a:pPr algn="l">
              <a:spcBef>
                <a:spcPts val="0"/>
              </a:spcBef>
              <a:spcAft>
                <a:spcPts val="0"/>
              </a:spcAft>
            </a:pPr>
            <a:endParaRPr lang="en-US" sz="1100" b="0" i="0" dirty="0">
              <a:solidFill>
                <a:srgbClr val="666666"/>
              </a:solidFill>
              <a:latin typeface="Times New Roman" panose="02020603050405020304" pitchFamily="18" charset="0"/>
              <a:cs typeface="Times New Roman" panose="02020603050405020304" pitchFamily="18" charset="0"/>
            </a:endParaRPr>
          </a:p>
          <a:p>
            <a:pPr algn="l">
              <a:spcBef>
                <a:spcPts val="0"/>
              </a:spcBef>
              <a:spcAft>
                <a:spcPts val="0"/>
              </a:spcAft>
            </a:pPr>
            <a:r>
              <a:rPr sz="1100" b="0" i="0" dirty="0">
                <a:solidFill>
                  <a:srgbClr val="666666"/>
                </a:solidFill>
                <a:latin typeface="Times New Roman" panose="02020603050405020304" pitchFamily="18" charset="0"/>
                <a:cs typeface="Times New Roman" panose="02020603050405020304" pitchFamily="18" charset="0"/>
              </a:rPr>
              <a:t>ambiguous = true / false</a:t>
            </a:r>
          </a:p>
        </p:txBody>
      </p:sp>
      <p:sp>
        <p:nvSpPr>
          <p:cNvPr id="69" name="37_Independent_Label">
            <a:extLst>
              <a:ext uri="{FF2B5EF4-FFF2-40B4-BE49-F238E27FC236}">
                <a16:creationId xmlns:a16="http://schemas.microsoft.com/office/drawing/2014/main" id="{450FC324-D7AC-FEF8-7FCF-33E42BA03DB4}"/>
              </a:ext>
            </a:extLst>
          </p:cNvPr>
          <p:cNvSpPr txBox="1"/>
          <p:nvPr/>
        </p:nvSpPr>
        <p:spPr>
          <a:xfrm>
            <a:off x="3034720" y="5820096"/>
            <a:ext cx="2269853" cy="161583"/>
          </a:xfrm>
          <a:prstGeom prst="rect">
            <a:avLst/>
          </a:prstGeom>
          <a:noFill/>
        </p:spPr>
        <p:txBody>
          <a:bodyPr wrap="none" lIns="0" tIns="0" rIns="0" bIns="0" anchor="ctr">
            <a:spAutoFit/>
          </a:bodyPr>
          <a:lstStyle/>
          <a:p>
            <a:pPr algn="ctr"/>
            <a:r>
              <a:rPr lang="en-US" sz="1050" dirty="0">
                <a:solidFill>
                  <a:srgbClr val="666666"/>
                </a:solidFill>
                <a:latin typeface="Times New Roman" panose="02020603050405020304" pitchFamily="18" charset="0"/>
                <a:cs typeface="Times New Roman" panose="02020603050405020304" pitchFamily="18" charset="0"/>
              </a:rPr>
              <a:t>THREE INDEPENDENT DIMENSIONS</a:t>
            </a:r>
            <a:endParaRPr sz="1050" b="0" i="0" dirty="0">
              <a:solidFill>
                <a:srgbClr val="666666"/>
              </a:solidFill>
              <a:latin typeface="Times New Roman" panose="02020603050405020304" pitchFamily="18" charset="0"/>
              <a:cs typeface="Times New Roman" panose="02020603050405020304" pitchFamily="18" charset="0"/>
            </a:endParaRPr>
          </a:p>
        </p:txBody>
      </p:sp>
      <p:sp>
        <p:nvSpPr>
          <p:cNvPr id="70" name="38_Terminal_Axis_Block">
            <a:extLst>
              <a:ext uri="{FF2B5EF4-FFF2-40B4-BE49-F238E27FC236}">
                <a16:creationId xmlns:a16="http://schemas.microsoft.com/office/drawing/2014/main" id="{06E47167-8956-BFA0-3C19-C1F995E0B312}"/>
              </a:ext>
            </a:extLst>
          </p:cNvPr>
          <p:cNvSpPr txBox="1"/>
          <p:nvPr/>
        </p:nvSpPr>
        <p:spPr>
          <a:xfrm>
            <a:off x="5626658" y="5507666"/>
            <a:ext cx="2802049" cy="923330"/>
          </a:xfrm>
          <a:prstGeom prst="rect">
            <a:avLst/>
          </a:prstGeom>
          <a:noFill/>
        </p:spPr>
        <p:txBody>
          <a:bodyPr wrap="none" lIns="0" tIns="0" rIns="0" bIns="0">
            <a:spAutoFit/>
          </a:bodyPr>
          <a:lstStyle/>
          <a:p>
            <a:pPr algn="l">
              <a:spcBef>
                <a:spcPts val="0"/>
              </a:spcBef>
              <a:spcAft>
                <a:spcPts val="0"/>
              </a:spcAft>
            </a:pPr>
            <a:r>
              <a:rPr lang="en-US" sz="1100" b="1" i="0" dirty="0">
                <a:solidFill>
                  <a:srgbClr val="071A55"/>
                </a:solidFill>
                <a:latin typeface="Times New Roman" panose="02020603050405020304" pitchFamily="18" charset="0"/>
                <a:cs typeface="Times New Roman" panose="02020603050405020304" pitchFamily="18" charset="0"/>
              </a:rPr>
              <a:t>TERMINAL OUTCOME</a:t>
            </a:r>
          </a:p>
          <a:p>
            <a:pPr algn="l">
              <a:spcBef>
                <a:spcPts val="0"/>
              </a:spcBef>
              <a:spcAft>
                <a:spcPts val="0"/>
              </a:spcAft>
            </a:pPr>
            <a:endParaRPr lang="en-US" sz="1100" b="1" i="0" dirty="0">
              <a:solidFill>
                <a:srgbClr val="071A55"/>
              </a:solidFill>
              <a:latin typeface="Times New Roman" panose="02020603050405020304" pitchFamily="18" charset="0"/>
              <a:cs typeface="Times New Roman" panose="02020603050405020304" pitchFamily="18" charset="0"/>
            </a:endParaRPr>
          </a:p>
          <a:p>
            <a:pPr algn="l">
              <a:spcBef>
                <a:spcPts val="0"/>
              </a:spcBef>
              <a:spcAft>
                <a:spcPts val="0"/>
              </a:spcAft>
            </a:pPr>
            <a:r>
              <a:rPr sz="1400" b="1" i="0" dirty="0">
                <a:solidFill>
                  <a:srgbClr val="111111"/>
                </a:solidFill>
                <a:latin typeface="Times New Roman" panose="02020603050405020304" pitchFamily="18" charset="0"/>
                <a:cs typeface="Times New Roman" panose="02020603050405020304" pitchFamily="18" charset="0"/>
              </a:rPr>
              <a:t>execution / validation outcome</a:t>
            </a:r>
            <a:endParaRPr lang="en-US" sz="1400" b="1" i="0" dirty="0">
              <a:solidFill>
                <a:srgbClr val="111111"/>
              </a:solidFill>
              <a:latin typeface="Times New Roman" panose="02020603050405020304" pitchFamily="18" charset="0"/>
              <a:cs typeface="Times New Roman" panose="02020603050405020304" pitchFamily="18" charset="0"/>
            </a:endParaRPr>
          </a:p>
          <a:p>
            <a:pPr algn="l">
              <a:spcBef>
                <a:spcPts val="0"/>
              </a:spcBef>
              <a:spcAft>
                <a:spcPts val="0"/>
              </a:spcAft>
            </a:pPr>
            <a:endParaRPr sz="1400" b="1" i="0" dirty="0">
              <a:solidFill>
                <a:srgbClr val="111111"/>
              </a:solidFill>
              <a:latin typeface="Times New Roman" panose="02020603050405020304" pitchFamily="18" charset="0"/>
              <a:cs typeface="Times New Roman" panose="02020603050405020304" pitchFamily="18" charset="0"/>
            </a:endParaRPr>
          </a:p>
          <a:p>
            <a:pPr algn="l">
              <a:spcBef>
                <a:spcPts val="0"/>
              </a:spcBef>
              <a:spcAft>
                <a:spcPts val="0"/>
              </a:spcAft>
            </a:pPr>
            <a:r>
              <a:rPr sz="1000" b="0" i="0" dirty="0">
                <a:solidFill>
                  <a:srgbClr val="666666"/>
                </a:solidFill>
                <a:latin typeface="Times New Roman" panose="02020603050405020304" pitchFamily="18" charset="0"/>
                <a:cs typeface="Times New Roman" panose="02020603050405020304" pitchFamily="18" charset="0"/>
              </a:rPr>
              <a:t>success / rejection / executor failure / geometry failure</a:t>
            </a:r>
          </a:p>
        </p:txBody>
      </p:sp>
      <p:sp>
        <p:nvSpPr>
          <p:cNvPr id="71" name="41_Final_Semantics_Statement">
            <a:extLst>
              <a:ext uri="{FF2B5EF4-FFF2-40B4-BE49-F238E27FC236}">
                <a16:creationId xmlns:a16="http://schemas.microsoft.com/office/drawing/2014/main" id="{3A850DFE-7850-ACA4-CC7C-F3C44262EF77}"/>
              </a:ext>
            </a:extLst>
          </p:cNvPr>
          <p:cNvSpPr txBox="1"/>
          <p:nvPr/>
        </p:nvSpPr>
        <p:spPr>
          <a:xfrm>
            <a:off x="2810472" y="6508522"/>
            <a:ext cx="4604980" cy="215444"/>
          </a:xfrm>
          <a:prstGeom prst="rect">
            <a:avLst/>
          </a:prstGeom>
          <a:noFill/>
        </p:spPr>
        <p:txBody>
          <a:bodyPr wrap="none" lIns="0" tIns="0" rIns="0" bIns="0" anchor="ctr">
            <a:spAutoFit/>
          </a:bodyPr>
          <a:lstStyle/>
          <a:p>
            <a:pPr algn="ctr"/>
            <a:r>
              <a:rPr lang="en-US" sz="1400" b="1" dirty="0">
                <a:solidFill>
                  <a:srgbClr val="B77900"/>
                </a:solidFill>
                <a:latin typeface="Times New Roman" panose="02020603050405020304" pitchFamily="18" charset="0"/>
                <a:cs typeface="Times New Roman" panose="02020603050405020304" pitchFamily="18" charset="0"/>
              </a:rPr>
              <a:t>Terminal outcome ≠ ambiguity flag ≠ package completeness.</a:t>
            </a:r>
            <a:endParaRPr sz="1400" b="1" dirty="0">
              <a:solidFill>
                <a:srgbClr val="071A55"/>
              </a:solidFill>
              <a:latin typeface="Times New Roman" panose="02020603050405020304" pitchFamily="18" charset="0"/>
              <a:cs typeface="Times New Roman" panose="02020603050405020304" pitchFamily="18" charset="0"/>
            </a:endParaRPr>
          </a:p>
        </p:txBody>
      </p:sp>
      <p:sp>
        <p:nvSpPr>
          <p:cNvPr id="73" name="38_Terminal_Axis_Block">
            <a:extLst>
              <a:ext uri="{FF2B5EF4-FFF2-40B4-BE49-F238E27FC236}">
                <a16:creationId xmlns:a16="http://schemas.microsoft.com/office/drawing/2014/main" id="{DEDEC4E8-0F81-02A8-0C9F-D888D8C77DBC}"/>
              </a:ext>
            </a:extLst>
          </p:cNvPr>
          <p:cNvSpPr txBox="1"/>
          <p:nvPr/>
        </p:nvSpPr>
        <p:spPr>
          <a:xfrm>
            <a:off x="8976320" y="5507666"/>
            <a:ext cx="2867773" cy="923330"/>
          </a:xfrm>
          <a:prstGeom prst="rect">
            <a:avLst/>
          </a:prstGeom>
          <a:noFill/>
        </p:spPr>
        <p:txBody>
          <a:bodyPr wrap="none" lIns="0" tIns="0" rIns="0" bIns="0">
            <a:spAutoFit/>
          </a:bodyPr>
          <a:lstStyle/>
          <a:p>
            <a:pPr algn="l">
              <a:spcBef>
                <a:spcPts val="0"/>
              </a:spcBef>
              <a:spcAft>
                <a:spcPts val="0"/>
              </a:spcAft>
            </a:pPr>
            <a:r>
              <a:rPr lang="en-US" sz="1100" b="1" i="0" dirty="0">
                <a:solidFill>
                  <a:srgbClr val="071A55"/>
                </a:solidFill>
                <a:latin typeface="Times New Roman" panose="02020603050405020304" pitchFamily="18" charset="0"/>
                <a:cs typeface="Times New Roman" panose="02020603050405020304" pitchFamily="18" charset="0"/>
              </a:rPr>
              <a:t>PACKAGE COMPLETENESS</a:t>
            </a:r>
          </a:p>
          <a:p>
            <a:pPr algn="l">
              <a:spcBef>
                <a:spcPts val="0"/>
              </a:spcBef>
              <a:spcAft>
                <a:spcPts val="0"/>
              </a:spcAft>
            </a:pPr>
            <a:endParaRPr lang="en-US" sz="1100" b="1" i="0" dirty="0">
              <a:solidFill>
                <a:srgbClr val="071A55"/>
              </a:solidFill>
              <a:latin typeface="Times New Roman" panose="02020603050405020304" pitchFamily="18" charset="0"/>
              <a:cs typeface="Times New Roman" panose="02020603050405020304" pitchFamily="18" charset="0"/>
            </a:endParaRPr>
          </a:p>
          <a:p>
            <a:pPr algn="l">
              <a:spcBef>
                <a:spcPts val="0"/>
              </a:spcBef>
              <a:spcAft>
                <a:spcPts val="0"/>
              </a:spcAft>
            </a:pPr>
            <a:r>
              <a:rPr lang="en-US" sz="1400" b="1" i="0" dirty="0">
                <a:solidFill>
                  <a:srgbClr val="111111"/>
                </a:solidFill>
                <a:latin typeface="Times New Roman" panose="02020603050405020304" pitchFamily="18" charset="0"/>
                <a:cs typeface="Times New Roman" panose="02020603050405020304" pitchFamily="18" charset="0"/>
              </a:rPr>
              <a:t>condition-dependent artifact contract</a:t>
            </a:r>
          </a:p>
          <a:p>
            <a:pPr algn="l">
              <a:spcBef>
                <a:spcPts val="0"/>
              </a:spcBef>
              <a:spcAft>
                <a:spcPts val="0"/>
              </a:spcAft>
            </a:pPr>
            <a:endParaRPr sz="1400" b="1" i="0" dirty="0">
              <a:solidFill>
                <a:srgbClr val="111111"/>
              </a:solidFill>
              <a:latin typeface="Times New Roman" panose="02020603050405020304" pitchFamily="18" charset="0"/>
              <a:cs typeface="Times New Roman" panose="02020603050405020304" pitchFamily="18" charset="0"/>
            </a:endParaRPr>
          </a:p>
          <a:p>
            <a:pPr algn="l">
              <a:spcBef>
                <a:spcPts val="0"/>
              </a:spcBef>
              <a:spcAft>
                <a:spcPts val="0"/>
              </a:spcAft>
            </a:pPr>
            <a:r>
              <a:rPr lang="en-US" sz="1000" b="0" i="0" dirty="0">
                <a:solidFill>
                  <a:srgbClr val="666666"/>
                </a:solidFill>
                <a:latin typeface="Times New Roman" panose="02020603050405020304" pitchFamily="18" charset="0"/>
                <a:cs typeface="Times New Roman" panose="02020603050405020304" pitchFamily="18" charset="0"/>
              </a:rPr>
              <a:t>complete / incomplete</a:t>
            </a:r>
            <a:endParaRPr sz="1000" b="0" i="0" dirty="0">
              <a:solidFill>
                <a:srgbClr val="66666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1564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972F9-550E-E910-CFD2-ACCB765D31AB}"/>
            </a:ext>
          </a:extLst>
        </p:cNvPr>
        <p:cNvGrpSpPr/>
        <p:nvPr/>
      </p:nvGrpSpPr>
      <p:grpSpPr>
        <a:xfrm>
          <a:off x="0" y="0"/>
          <a:ext cx="0" cy="0"/>
          <a:chOff x="0" y="0"/>
          <a:chExt cx="0" cy="0"/>
        </a:xfrm>
      </p:grpSpPr>
      <p:sp>
        <p:nvSpPr>
          <p:cNvPr id="32" name="矩形 31">
            <a:extLst>
              <a:ext uri="{FF2B5EF4-FFF2-40B4-BE49-F238E27FC236}">
                <a16:creationId xmlns:a16="http://schemas.microsoft.com/office/drawing/2014/main" id="{EE5E956A-E66A-A4E5-D54E-0A35AC5445B5}"/>
              </a:ext>
            </a:extLst>
          </p:cNvPr>
          <p:cNvSpPr/>
          <p:nvPr/>
        </p:nvSpPr>
        <p:spPr>
          <a:xfrm>
            <a:off x="102163" y="824183"/>
            <a:ext cx="6904941" cy="107184"/>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kumimoji="1" lang="zh-CN" altLang="en-US" dirty="0">
              <a:solidFill>
                <a:schemeClr val="tx1"/>
              </a:solidFill>
            </a:endParaRPr>
          </a:p>
        </p:txBody>
      </p:sp>
      <p:sp>
        <p:nvSpPr>
          <p:cNvPr id="3" name="标题 2">
            <a:extLst>
              <a:ext uri="{FF2B5EF4-FFF2-40B4-BE49-F238E27FC236}">
                <a16:creationId xmlns:a16="http://schemas.microsoft.com/office/drawing/2014/main" id="{D3E0389E-F848-3FB4-1F87-94717A9961EC}"/>
              </a:ext>
            </a:extLst>
          </p:cNvPr>
          <p:cNvSpPr>
            <a:spLocks noGrp="1"/>
          </p:cNvSpPr>
          <p:nvPr>
            <p:ph type="title"/>
          </p:nvPr>
        </p:nvSpPr>
        <p:spPr>
          <a:xfrm>
            <a:off x="119336" y="252464"/>
            <a:ext cx="9695205" cy="531544"/>
          </a:xfrm>
        </p:spPr>
        <p:txBody>
          <a:bodyPr/>
          <a:lstStyle/>
          <a:p>
            <a:r>
              <a:rPr lang="en-US" altLang="zh-CN" dirty="0">
                <a:solidFill>
                  <a:srgbClr val="071A55"/>
                </a:solidFill>
                <a:latin typeface="Aptos Display"/>
              </a:rPr>
              <a:t>Evidence References</a:t>
            </a:r>
          </a:p>
        </p:txBody>
      </p:sp>
      <p:sp>
        <p:nvSpPr>
          <p:cNvPr id="9" name="01_Appendix_Label">
            <a:extLst>
              <a:ext uri="{FF2B5EF4-FFF2-40B4-BE49-F238E27FC236}">
                <a16:creationId xmlns:a16="http://schemas.microsoft.com/office/drawing/2014/main" id="{A11A3E7E-24B4-C816-5E4D-EF4B6F00EE94}"/>
              </a:ext>
            </a:extLst>
          </p:cNvPr>
          <p:cNvSpPr txBox="1"/>
          <p:nvPr/>
        </p:nvSpPr>
        <p:spPr>
          <a:xfrm>
            <a:off x="92842" y="16933"/>
            <a:ext cx="981038" cy="215444"/>
          </a:xfrm>
          <a:prstGeom prst="rect">
            <a:avLst/>
          </a:prstGeom>
          <a:noFill/>
        </p:spPr>
        <p:txBody>
          <a:bodyPr wrap="none" lIns="0" tIns="0" rIns="0" bIns="0" anchor="ctr">
            <a:spAutoFit/>
          </a:bodyPr>
          <a:lstStyle/>
          <a:p>
            <a:pPr algn="l"/>
            <a:r>
              <a:rPr sz="1400" b="1" i="0" dirty="0">
                <a:solidFill>
                  <a:srgbClr val="00BFFF"/>
                </a:solidFill>
                <a:latin typeface="Aptos"/>
              </a:rPr>
              <a:t>APPENDIX </a:t>
            </a:r>
            <a:r>
              <a:rPr lang="en-US" sz="1400" b="1" dirty="0">
                <a:solidFill>
                  <a:srgbClr val="00BFFF"/>
                </a:solidFill>
                <a:latin typeface="Aptos"/>
              </a:rPr>
              <a:t>3</a:t>
            </a:r>
            <a:endParaRPr sz="1400" b="1" i="0" dirty="0">
              <a:solidFill>
                <a:srgbClr val="00BFFF"/>
              </a:solidFill>
              <a:latin typeface="Aptos"/>
            </a:endParaRPr>
          </a:p>
        </p:txBody>
      </p:sp>
      <p:cxnSp>
        <p:nvCxnSpPr>
          <p:cNvPr id="74" name="05_Audit_Accent">
            <a:extLst>
              <a:ext uri="{FF2B5EF4-FFF2-40B4-BE49-F238E27FC236}">
                <a16:creationId xmlns:a16="http://schemas.microsoft.com/office/drawing/2014/main" id="{1DFF3057-6742-D201-6C24-5546270D3C7D}"/>
              </a:ext>
            </a:extLst>
          </p:cNvPr>
          <p:cNvCxnSpPr/>
          <p:nvPr/>
        </p:nvCxnSpPr>
        <p:spPr>
          <a:xfrm>
            <a:off x="163194" y="1193292"/>
            <a:ext cx="0" cy="155448"/>
          </a:xfrm>
          <a:prstGeom prst="line">
            <a:avLst/>
          </a:prstGeom>
          <a:ln w="31750">
            <a:solidFill>
              <a:srgbClr val="00BFFF"/>
            </a:solidFill>
          </a:ln>
        </p:spPr>
        <p:style>
          <a:lnRef idx="2">
            <a:schemeClr val="accent1"/>
          </a:lnRef>
          <a:fillRef idx="0">
            <a:schemeClr val="accent1"/>
          </a:fillRef>
          <a:effectRef idx="1">
            <a:schemeClr val="accent1"/>
          </a:effectRef>
          <a:fontRef idx="minor">
            <a:schemeClr val="tx1"/>
          </a:fontRef>
        </p:style>
      </p:cxnSp>
      <p:sp>
        <p:nvSpPr>
          <p:cNvPr id="75" name="06_Audit_Header">
            <a:extLst>
              <a:ext uri="{FF2B5EF4-FFF2-40B4-BE49-F238E27FC236}">
                <a16:creationId xmlns:a16="http://schemas.microsoft.com/office/drawing/2014/main" id="{1F7A8FBB-3557-F761-9FB2-C8CC7A887974}"/>
              </a:ext>
            </a:extLst>
          </p:cNvPr>
          <p:cNvSpPr txBox="1"/>
          <p:nvPr/>
        </p:nvSpPr>
        <p:spPr>
          <a:xfrm>
            <a:off x="283877" y="1147572"/>
            <a:ext cx="2560320" cy="256032"/>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600" b="1" dirty="0">
                <a:solidFill>
                  <a:srgbClr val="071A55"/>
                </a:solidFill>
                <a:latin typeface="Times New Roman" panose="02020603050405020304" pitchFamily="18" charset="0"/>
                <a:cs typeface="Times New Roman" panose="02020603050405020304" pitchFamily="18" charset="0"/>
              </a:rPr>
              <a:t>AUDIT REFERENCE MAP</a:t>
            </a:r>
          </a:p>
        </p:txBody>
      </p:sp>
      <p:sp>
        <p:nvSpPr>
          <p:cNvPr id="76" name="07_Audit_Description">
            <a:extLst>
              <a:ext uri="{FF2B5EF4-FFF2-40B4-BE49-F238E27FC236}">
                <a16:creationId xmlns:a16="http://schemas.microsoft.com/office/drawing/2014/main" id="{CD1A262C-D2FC-D3F0-8EDA-B5C8EB90525D}"/>
              </a:ext>
            </a:extLst>
          </p:cNvPr>
          <p:cNvSpPr txBox="1"/>
          <p:nvPr/>
        </p:nvSpPr>
        <p:spPr>
          <a:xfrm>
            <a:off x="5101730" y="1065276"/>
            <a:ext cx="4892040" cy="256032"/>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0000"/>
              </a:lnSpc>
              <a:spcBef>
                <a:spcPts val="0"/>
              </a:spcBef>
              <a:spcAft>
                <a:spcPts val="0"/>
              </a:spcAft>
            </a:pPr>
            <a:r>
              <a:rPr sz="1400" b="0" dirty="0">
                <a:solidFill>
                  <a:srgbClr val="666666"/>
                </a:solidFill>
                <a:latin typeface="Times New Roman" panose="02020603050405020304" pitchFamily="18" charset="0"/>
                <a:cs typeface="Times New Roman" panose="02020603050405020304" pitchFamily="18" charset="0"/>
              </a:rPr>
              <a:t>Stable entry points for reproducing and auditing the frozen evidence</a:t>
            </a:r>
          </a:p>
        </p:txBody>
      </p:sp>
      <p:cxnSp>
        <p:nvCxnSpPr>
          <p:cNvPr id="77" name="20_Divider_Left_Center">
            <a:extLst>
              <a:ext uri="{FF2B5EF4-FFF2-40B4-BE49-F238E27FC236}">
                <a16:creationId xmlns:a16="http://schemas.microsoft.com/office/drawing/2014/main" id="{E6DD8BF7-5B5F-F297-3334-2A197E279B8C}"/>
              </a:ext>
            </a:extLst>
          </p:cNvPr>
          <p:cNvCxnSpPr/>
          <p:nvPr/>
        </p:nvCxnSpPr>
        <p:spPr>
          <a:xfrm>
            <a:off x="3703897" y="1641348"/>
            <a:ext cx="0" cy="3035808"/>
          </a:xfrm>
          <a:prstGeom prst="line">
            <a:avLst/>
          </a:prstGeom>
          <a:ln w="8255">
            <a:solidFill>
              <a:srgbClr val="D9DEE3"/>
            </a:solidFill>
          </a:ln>
        </p:spPr>
        <p:style>
          <a:lnRef idx="2">
            <a:schemeClr val="accent1"/>
          </a:lnRef>
          <a:fillRef idx="0">
            <a:schemeClr val="accent1"/>
          </a:fillRef>
          <a:effectRef idx="1">
            <a:schemeClr val="accent1"/>
          </a:effectRef>
          <a:fontRef idx="minor">
            <a:schemeClr val="tx1"/>
          </a:fontRef>
        </p:style>
      </p:cxnSp>
      <p:cxnSp>
        <p:nvCxnSpPr>
          <p:cNvPr id="78" name="35_Divider_Center_Right">
            <a:extLst>
              <a:ext uri="{FF2B5EF4-FFF2-40B4-BE49-F238E27FC236}">
                <a16:creationId xmlns:a16="http://schemas.microsoft.com/office/drawing/2014/main" id="{37C24C27-A82B-8276-ED03-762386E0A88F}"/>
              </a:ext>
            </a:extLst>
          </p:cNvPr>
          <p:cNvCxnSpPr/>
          <p:nvPr/>
        </p:nvCxnSpPr>
        <p:spPr>
          <a:xfrm>
            <a:off x="7745545" y="1641348"/>
            <a:ext cx="0" cy="3035808"/>
          </a:xfrm>
          <a:prstGeom prst="line">
            <a:avLst/>
          </a:prstGeom>
          <a:ln w="8255">
            <a:solidFill>
              <a:srgbClr val="D9DEE3"/>
            </a:solidFill>
          </a:ln>
        </p:spPr>
        <p:style>
          <a:lnRef idx="2">
            <a:schemeClr val="accent1"/>
          </a:lnRef>
          <a:fillRef idx="0">
            <a:schemeClr val="accent1"/>
          </a:fillRef>
          <a:effectRef idx="1">
            <a:schemeClr val="accent1"/>
          </a:effectRef>
          <a:fontRef idx="minor">
            <a:schemeClr val="tx1"/>
          </a:fontRef>
        </p:style>
      </p:cxnSp>
      <p:sp>
        <p:nvSpPr>
          <p:cNvPr id="79" name="08_Header_Arrow_01_02">
            <a:extLst>
              <a:ext uri="{FF2B5EF4-FFF2-40B4-BE49-F238E27FC236}">
                <a16:creationId xmlns:a16="http://schemas.microsoft.com/office/drawing/2014/main" id="{548BBDCB-0AE8-E86B-7A75-42F1DC13DCEF}"/>
              </a:ext>
            </a:extLst>
          </p:cNvPr>
          <p:cNvSpPr txBox="1"/>
          <p:nvPr/>
        </p:nvSpPr>
        <p:spPr>
          <a:xfrm>
            <a:off x="3530160" y="1668780"/>
            <a:ext cx="182880" cy="22860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spcBef>
                <a:spcPts val="0"/>
              </a:spcBef>
              <a:spcAft>
                <a:spcPts val="0"/>
              </a:spcAft>
            </a:pPr>
            <a:r>
              <a:rPr sz="1200" b="1" dirty="0">
                <a:solidFill>
                  <a:srgbClr val="00BFFF"/>
                </a:solidFill>
                <a:latin typeface="Times New Roman" panose="02020603050405020304" pitchFamily="18" charset="0"/>
                <a:cs typeface="Times New Roman" panose="02020603050405020304" pitchFamily="18" charset="0"/>
              </a:rPr>
              <a:t>→</a:t>
            </a:r>
          </a:p>
        </p:txBody>
      </p:sp>
      <p:sp>
        <p:nvSpPr>
          <p:cNvPr id="80" name="09_Header_Arrow_02_03">
            <a:extLst>
              <a:ext uri="{FF2B5EF4-FFF2-40B4-BE49-F238E27FC236}">
                <a16:creationId xmlns:a16="http://schemas.microsoft.com/office/drawing/2014/main" id="{0A05FBE0-D8E1-11C7-918C-EC82CDBA1312}"/>
              </a:ext>
            </a:extLst>
          </p:cNvPr>
          <p:cNvSpPr txBox="1"/>
          <p:nvPr/>
        </p:nvSpPr>
        <p:spPr>
          <a:xfrm>
            <a:off x="7571809" y="1668780"/>
            <a:ext cx="182880" cy="22860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spcBef>
                <a:spcPts val="0"/>
              </a:spcBef>
              <a:spcAft>
                <a:spcPts val="0"/>
              </a:spcAft>
            </a:pPr>
            <a:r>
              <a:rPr sz="1200" b="1">
                <a:solidFill>
                  <a:srgbClr val="00BFFF"/>
                </a:solidFill>
                <a:latin typeface="Times New Roman" panose="02020603050405020304" pitchFamily="18" charset="0"/>
                <a:cs typeface="Times New Roman" panose="02020603050405020304" pitchFamily="18" charset="0"/>
              </a:rPr>
              <a:t>→</a:t>
            </a:r>
          </a:p>
        </p:txBody>
      </p:sp>
      <p:sp>
        <p:nvSpPr>
          <p:cNvPr id="81" name="08_Col1_Number">
            <a:extLst>
              <a:ext uri="{FF2B5EF4-FFF2-40B4-BE49-F238E27FC236}">
                <a16:creationId xmlns:a16="http://schemas.microsoft.com/office/drawing/2014/main" id="{DE04724F-1A50-1F46-8331-123820A82D07}"/>
              </a:ext>
            </a:extLst>
          </p:cNvPr>
          <p:cNvSpPr txBox="1"/>
          <p:nvPr/>
        </p:nvSpPr>
        <p:spPr>
          <a:xfrm>
            <a:off x="521785" y="1687068"/>
            <a:ext cx="256032" cy="18288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200" b="1" dirty="0">
                <a:solidFill>
                  <a:srgbClr val="00BFFF"/>
                </a:solidFill>
                <a:latin typeface="Times New Roman" panose="02020603050405020304" pitchFamily="18" charset="0"/>
                <a:cs typeface="Times New Roman" panose="02020603050405020304" pitchFamily="18" charset="0"/>
              </a:rPr>
              <a:t>01</a:t>
            </a:r>
          </a:p>
        </p:txBody>
      </p:sp>
      <p:sp>
        <p:nvSpPr>
          <p:cNvPr id="82" name="09_Col1_Header">
            <a:extLst>
              <a:ext uri="{FF2B5EF4-FFF2-40B4-BE49-F238E27FC236}">
                <a16:creationId xmlns:a16="http://schemas.microsoft.com/office/drawing/2014/main" id="{897A5933-D373-8F1A-C358-148D2AF45FDD}"/>
              </a:ext>
            </a:extLst>
          </p:cNvPr>
          <p:cNvSpPr txBox="1"/>
          <p:nvPr/>
        </p:nvSpPr>
        <p:spPr>
          <a:xfrm>
            <a:off x="841825" y="1668780"/>
            <a:ext cx="2423160" cy="27432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600" b="1" dirty="0">
                <a:solidFill>
                  <a:srgbClr val="071A55"/>
                </a:solidFill>
                <a:latin typeface="Times New Roman" panose="02020603050405020304" pitchFamily="18" charset="0"/>
                <a:cs typeface="Times New Roman" panose="02020603050405020304" pitchFamily="18" charset="0"/>
              </a:rPr>
              <a:t>BASELINE ANCHOR</a:t>
            </a:r>
          </a:p>
        </p:txBody>
      </p:sp>
      <p:cxnSp>
        <p:nvCxnSpPr>
          <p:cNvPr id="83" name="10_Col1_Line">
            <a:extLst>
              <a:ext uri="{FF2B5EF4-FFF2-40B4-BE49-F238E27FC236}">
                <a16:creationId xmlns:a16="http://schemas.microsoft.com/office/drawing/2014/main" id="{B3B5353D-CC0D-A78E-C979-EE87A50D112C}"/>
              </a:ext>
            </a:extLst>
          </p:cNvPr>
          <p:cNvCxnSpPr/>
          <p:nvPr/>
        </p:nvCxnSpPr>
        <p:spPr>
          <a:xfrm>
            <a:off x="521785" y="2007108"/>
            <a:ext cx="2880360" cy="0"/>
          </a:xfrm>
          <a:prstGeom prst="line">
            <a:avLst/>
          </a:prstGeom>
          <a:ln w="8890">
            <a:solidFill>
              <a:srgbClr val="D9DEE3"/>
            </a:solidFill>
          </a:ln>
        </p:spPr>
        <p:style>
          <a:lnRef idx="2">
            <a:schemeClr val="accent1"/>
          </a:lnRef>
          <a:fillRef idx="0">
            <a:schemeClr val="accent1"/>
          </a:fillRef>
          <a:effectRef idx="1">
            <a:schemeClr val="accent1"/>
          </a:effectRef>
          <a:fontRef idx="minor">
            <a:schemeClr val="tx1"/>
          </a:fontRef>
        </p:style>
      </p:cxnSp>
      <p:sp>
        <p:nvSpPr>
          <p:cNvPr id="84" name="11_Baseline_Tag">
            <a:extLst>
              <a:ext uri="{FF2B5EF4-FFF2-40B4-BE49-F238E27FC236}">
                <a16:creationId xmlns:a16="http://schemas.microsoft.com/office/drawing/2014/main" id="{AAEF7B46-E6F3-BE3A-DE66-073BA7E3C2C3}"/>
              </a:ext>
            </a:extLst>
          </p:cNvPr>
          <p:cNvSpPr txBox="1"/>
          <p:nvPr/>
        </p:nvSpPr>
        <p:spPr>
          <a:xfrm>
            <a:off x="521785" y="2180844"/>
            <a:ext cx="2743199" cy="548640"/>
          </a:xfrm>
          <a:prstGeom prst="rect">
            <a:avLst/>
          </a:prstGeom>
          <a:noFill/>
        </p:spPr>
        <p:txBody>
          <a:bodyPr wrap="squar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750" b="1" dirty="0">
                <a:solidFill>
                  <a:srgbClr val="071A55"/>
                </a:solidFill>
                <a:latin typeface="Times New Roman" panose="02020603050405020304" pitchFamily="18" charset="0"/>
                <a:cs typeface="Times New Roman" panose="02020603050405020304" pitchFamily="18" charset="0"/>
              </a:rPr>
              <a:t>gate0-4-frozen-baseline-v1</a:t>
            </a:r>
          </a:p>
        </p:txBody>
      </p:sp>
      <p:sp>
        <p:nvSpPr>
          <p:cNvPr id="85" name="12_Baseline_Description">
            <a:extLst>
              <a:ext uri="{FF2B5EF4-FFF2-40B4-BE49-F238E27FC236}">
                <a16:creationId xmlns:a16="http://schemas.microsoft.com/office/drawing/2014/main" id="{2BB33273-6FD5-4BBF-C1DB-FCDF53690472}"/>
              </a:ext>
            </a:extLst>
          </p:cNvPr>
          <p:cNvSpPr txBox="1"/>
          <p:nvPr/>
        </p:nvSpPr>
        <p:spPr>
          <a:xfrm>
            <a:off x="521785" y="2756916"/>
            <a:ext cx="2148840" cy="219456"/>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150" b="0">
                <a:solidFill>
                  <a:srgbClr val="666666"/>
                </a:solidFill>
                <a:latin typeface="Times New Roman" panose="02020603050405020304" pitchFamily="18" charset="0"/>
                <a:cs typeface="Times New Roman" panose="02020603050405020304" pitchFamily="18" charset="0"/>
              </a:rPr>
              <a:t>Annotated frozen baseline tag</a:t>
            </a:r>
          </a:p>
        </p:txBody>
      </p:sp>
      <p:sp>
        <p:nvSpPr>
          <p:cNvPr id="86" name="13_Baseline_Frozen">
            <a:extLst>
              <a:ext uri="{FF2B5EF4-FFF2-40B4-BE49-F238E27FC236}">
                <a16:creationId xmlns:a16="http://schemas.microsoft.com/office/drawing/2014/main" id="{6F419D23-0A5E-FCB0-EE7C-988B46B9C4CE}"/>
              </a:ext>
            </a:extLst>
          </p:cNvPr>
          <p:cNvSpPr txBox="1"/>
          <p:nvPr/>
        </p:nvSpPr>
        <p:spPr>
          <a:xfrm>
            <a:off x="2807785" y="2756916"/>
            <a:ext cx="566928" cy="18288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950" b="1">
                <a:solidFill>
                  <a:srgbClr val="20A060"/>
                </a:solidFill>
                <a:latin typeface="Times New Roman" panose="02020603050405020304" pitchFamily="18" charset="0"/>
                <a:cs typeface="Times New Roman" panose="02020603050405020304" pitchFamily="18" charset="0"/>
              </a:rPr>
              <a:t>FROZEN</a:t>
            </a:r>
          </a:p>
        </p:txBody>
      </p:sp>
      <p:sp>
        <p:nvSpPr>
          <p:cNvPr id="87" name="14_Baseline_Commit">
            <a:extLst>
              <a:ext uri="{FF2B5EF4-FFF2-40B4-BE49-F238E27FC236}">
                <a16:creationId xmlns:a16="http://schemas.microsoft.com/office/drawing/2014/main" id="{682ED17C-51E4-BC68-F9E5-CACC9CB08558}"/>
              </a:ext>
            </a:extLst>
          </p:cNvPr>
          <p:cNvSpPr txBox="1"/>
          <p:nvPr/>
        </p:nvSpPr>
        <p:spPr>
          <a:xfrm>
            <a:off x="521785" y="3122676"/>
            <a:ext cx="1234440" cy="27432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650" b="1">
                <a:solidFill>
                  <a:srgbClr val="111111"/>
                </a:solidFill>
                <a:latin typeface="Times New Roman" panose="02020603050405020304" pitchFamily="18" charset="0"/>
                <a:cs typeface="Times New Roman" panose="02020603050405020304" pitchFamily="18" charset="0"/>
              </a:rPr>
              <a:t>c3e4485...</a:t>
            </a:r>
          </a:p>
        </p:txBody>
      </p:sp>
      <p:sp>
        <p:nvSpPr>
          <p:cNvPr id="88" name="15_Baseline_Commit_Description">
            <a:extLst>
              <a:ext uri="{FF2B5EF4-FFF2-40B4-BE49-F238E27FC236}">
                <a16:creationId xmlns:a16="http://schemas.microsoft.com/office/drawing/2014/main" id="{1BAC25BE-7777-8043-2D68-7F8C647D0884}"/>
              </a:ext>
            </a:extLst>
          </p:cNvPr>
          <p:cNvSpPr txBox="1"/>
          <p:nvPr/>
        </p:nvSpPr>
        <p:spPr>
          <a:xfrm>
            <a:off x="1939105" y="3150108"/>
            <a:ext cx="1691640" cy="22860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150" b="0" dirty="0">
                <a:solidFill>
                  <a:srgbClr val="666666"/>
                </a:solidFill>
                <a:latin typeface="Times New Roman" panose="02020603050405020304" pitchFamily="18" charset="0"/>
                <a:cs typeface="Times New Roman" panose="02020603050405020304" pitchFamily="18" charset="0"/>
              </a:rPr>
              <a:t>baseline pack commit</a:t>
            </a:r>
          </a:p>
        </p:txBody>
      </p:sp>
      <p:sp>
        <p:nvSpPr>
          <p:cNvPr id="89" name="16_Manifest_Title">
            <a:extLst>
              <a:ext uri="{FF2B5EF4-FFF2-40B4-BE49-F238E27FC236}">
                <a16:creationId xmlns:a16="http://schemas.microsoft.com/office/drawing/2014/main" id="{A4FC774B-1A7D-3BD7-9A0E-8646CDC9ACE4}"/>
              </a:ext>
            </a:extLst>
          </p:cNvPr>
          <p:cNvSpPr txBox="1"/>
          <p:nvPr/>
        </p:nvSpPr>
        <p:spPr>
          <a:xfrm>
            <a:off x="521785" y="3497580"/>
            <a:ext cx="2011680" cy="219456"/>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300" b="1">
                <a:solidFill>
                  <a:srgbClr val="111111"/>
                </a:solidFill>
                <a:latin typeface="Times New Roman" panose="02020603050405020304" pitchFamily="18" charset="0"/>
                <a:cs typeface="Times New Roman" panose="02020603050405020304" pitchFamily="18" charset="0"/>
              </a:rPr>
              <a:t>Baseline manifest</a:t>
            </a:r>
          </a:p>
        </p:txBody>
      </p:sp>
      <p:sp>
        <p:nvSpPr>
          <p:cNvPr id="90" name="17_Manifest_Path">
            <a:extLst>
              <a:ext uri="{FF2B5EF4-FFF2-40B4-BE49-F238E27FC236}">
                <a16:creationId xmlns:a16="http://schemas.microsoft.com/office/drawing/2014/main" id="{2C856F67-504E-E716-5157-930D84BCDD1C}"/>
              </a:ext>
            </a:extLst>
          </p:cNvPr>
          <p:cNvSpPr txBox="1"/>
          <p:nvPr/>
        </p:nvSpPr>
        <p:spPr>
          <a:xfrm>
            <a:off x="521785" y="3726179"/>
            <a:ext cx="3017520" cy="365760"/>
          </a:xfrm>
          <a:prstGeom prst="rect">
            <a:avLst/>
          </a:prstGeom>
          <a:noFill/>
        </p:spPr>
        <p:txBody>
          <a:bodyPr wrap="squar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030" b="0" dirty="0">
                <a:solidFill>
                  <a:srgbClr val="666666"/>
                </a:solidFill>
                <a:latin typeface="Times New Roman" panose="02020603050405020304" pitchFamily="18" charset="0"/>
                <a:cs typeface="Times New Roman" panose="02020603050405020304" pitchFamily="18" charset="0"/>
              </a:rPr>
              <a:t>config/gate0_4_baseline_manifest.json</a:t>
            </a:r>
          </a:p>
        </p:txBody>
      </p:sp>
      <p:sp>
        <p:nvSpPr>
          <p:cNvPr id="91" name="18_Benchmark_Title">
            <a:extLst>
              <a:ext uri="{FF2B5EF4-FFF2-40B4-BE49-F238E27FC236}">
                <a16:creationId xmlns:a16="http://schemas.microsoft.com/office/drawing/2014/main" id="{F87B7976-8CB1-5E9E-6C2F-0B1955B7A560}"/>
              </a:ext>
            </a:extLst>
          </p:cNvPr>
          <p:cNvSpPr txBox="1"/>
          <p:nvPr/>
        </p:nvSpPr>
        <p:spPr>
          <a:xfrm>
            <a:off x="531806" y="4411978"/>
            <a:ext cx="1920240" cy="219456"/>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300" b="1" dirty="0">
                <a:solidFill>
                  <a:srgbClr val="111111"/>
                </a:solidFill>
                <a:latin typeface="Times New Roman" panose="02020603050405020304" pitchFamily="18" charset="0"/>
                <a:cs typeface="Times New Roman" panose="02020603050405020304" pitchFamily="18" charset="0"/>
              </a:rPr>
              <a:t>Benchmark card</a:t>
            </a:r>
          </a:p>
        </p:txBody>
      </p:sp>
      <p:sp>
        <p:nvSpPr>
          <p:cNvPr id="92" name="19_Benchmark_Path">
            <a:extLst>
              <a:ext uri="{FF2B5EF4-FFF2-40B4-BE49-F238E27FC236}">
                <a16:creationId xmlns:a16="http://schemas.microsoft.com/office/drawing/2014/main" id="{532D973D-E450-A1AC-C23E-B7340A151ED2}"/>
              </a:ext>
            </a:extLst>
          </p:cNvPr>
          <p:cNvSpPr txBox="1"/>
          <p:nvPr/>
        </p:nvSpPr>
        <p:spPr>
          <a:xfrm>
            <a:off x="531806" y="4640578"/>
            <a:ext cx="2880360" cy="219456"/>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100" b="0" dirty="0">
                <a:solidFill>
                  <a:srgbClr val="666666"/>
                </a:solidFill>
                <a:latin typeface="Times New Roman" panose="02020603050405020304" pitchFamily="18" charset="0"/>
                <a:cs typeface="Times New Roman" panose="02020603050405020304" pitchFamily="18" charset="0"/>
              </a:rPr>
              <a:t>docs/benchmark_v1_card.md</a:t>
            </a:r>
          </a:p>
        </p:txBody>
      </p:sp>
      <p:sp>
        <p:nvSpPr>
          <p:cNvPr id="93" name="21_Col2_Number">
            <a:extLst>
              <a:ext uri="{FF2B5EF4-FFF2-40B4-BE49-F238E27FC236}">
                <a16:creationId xmlns:a16="http://schemas.microsoft.com/office/drawing/2014/main" id="{5A69786D-2D3A-6F29-DB2F-507718E3813E}"/>
              </a:ext>
            </a:extLst>
          </p:cNvPr>
          <p:cNvSpPr txBox="1"/>
          <p:nvPr/>
        </p:nvSpPr>
        <p:spPr>
          <a:xfrm>
            <a:off x="3950785" y="1687068"/>
            <a:ext cx="256032" cy="18288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200" b="1" dirty="0">
                <a:solidFill>
                  <a:srgbClr val="00BFFF"/>
                </a:solidFill>
                <a:latin typeface="Times New Roman" panose="02020603050405020304" pitchFamily="18" charset="0"/>
                <a:cs typeface="Times New Roman" panose="02020603050405020304" pitchFamily="18" charset="0"/>
              </a:rPr>
              <a:t>02</a:t>
            </a:r>
          </a:p>
        </p:txBody>
      </p:sp>
      <p:sp>
        <p:nvSpPr>
          <p:cNvPr id="94" name="22_Col2_Header">
            <a:extLst>
              <a:ext uri="{FF2B5EF4-FFF2-40B4-BE49-F238E27FC236}">
                <a16:creationId xmlns:a16="http://schemas.microsoft.com/office/drawing/2014/main" id="{5A3A2A10-8828-1941-35E3-29C85AF967C7}"/>
              </a:ext>
            </a:extLst>
          </p:cNvPr>
          <p:cNvSpPr txBox="1"/>
          <p:nvPr/>
        </p:nvSpPr>
        <p:spPr>
          <a:xfrm>
            <a:off x="4270824" y="1668780"/>
            <a:ext cx="2743200" cy="27432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600" b="1" dirty="0">
                <a:solidFill>
                  <a:srgbClr val="071A55"/>
                </a:solidFill>
                <a:latin typeface="Times New Roman" panose="02020603050405020304" pitchFamily="18" charset="0"/>
                <a:cs typeface="Times New Roman" panose="02020603050405020304" pitchFamily="18" charset="0"/>
              </a:rPr>
              <a:t>FORMAL EVALUATION</a:t>
            </a:r>
          </a:p>
        </p:txBody>
      </p:sp>
      <p:cxnSp>
        <p:nvCxnSpPr>
          <p:cNvPr id="95" name="23_Col2_Line">
            <a:extLst>
              <a:ext uri="{FF2B5EF4-FFF2-40B4-BE49-F238E27FC236}">
                <a16:creationId xmlns:a16="http://schemas.microsoft.com/office/drawing/2014/main" id="{88274C1C-DB88-0768-8990-54D6E270DF24}"/>
              </a:ext>
            </a:extLst>
          </p:cNvPr>
          <p:cNvCxnSpPr/>
          <p:nvPr/>
        </p:nvCxnSpPr>
        <p:spPr>
          <a:xfrm>
            <a:off x="3950785" y="2007108"/>
            <a:ext cx="3474719" cy="0"/>
          </a:xfrm>
          <a:prstGeom prst="line">
            <a:avLst/>
          </a:prstGeom>
          <a:ln w="8890">
            <a:solidFill>
              <a:srgbClr val="D9DEE3"/>
            </a:solidFill>
          </a:ln>
        </p:spPr>
        <p:style>
          <a:lnRef idx="2">
            <a:schemeClr val="accent1"/>
          </a:lnRef>
          <a:fillRef idx="0">
            <a:schemeClr val="accent1"/>
          </a:fillRef>
          <a:effectRef idx="1">
            <a:schemeClr val="accent1"/>
          </a:effectRef>
          <a:fontRef idx="minor">
            <a:schemeClr val="tx1"/>
          </a:fontRef>
        </p:style>
      </p:cxnSp>
      <p:sp>
        <p:nvSpPr>
          <p:cNvPr id="96" name="24_Gate4_Commit">
            <a:extLst>
              <a:ext uri="{FF2B5EF4-FFF2-40B4-BE49-F238E27FC236}">
                <a16:creationId xmlns:a16="http://schemas.microsoft.com/office/drawing/2014/main" id="{699279A6-35FB-FE86-2FC6-68FF47E6402C}"/>
              </a:ext>
            </a:extLst>
          </p:cNvPr>
          <p:cNvSpPr txBox="1"/>
          <p:nvPr/>
        </p:nvSpPr>
        <p:spPr>
          <a:xfrm>
            <a:off x="3950785" y="2189988"/>
            <a:ext cx="1325880" cy="27432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750" b="1" dirty="0">
                <a:solidFill>
                  <a:srgbClr val="071A55"/>
                </a:solidFill>
                <a:latin typeface="Times New Roman" panose="02020603050405020304" pitchFamily="18" charset="0"/>
                <a:cs typeface="Times New Roman" panose="02020603050405020304" pitchFamily="18" charset="0"/>
              </a:rPr>
              <a:t>3d042733...</a:t>
            </a:r>
          </a:p>
        </p:txBody>
      </p:sp>
      <p:sp>
        <p:nvSpPr>
          <p:cNvPr id="97" name="25_Gate4_Commit_Description">
            <a:extLst>
              <a:ext uri="{FF2B5EF4-FFF2-40B4-BE49-F238E27FC236}">
                <a16:creationId xmlns:a16="http://schemas.microsoft.com/office/drawing/2014/main" id="{C3D8B469-C419-3451-EE76-0BABFB0FC156}"/>
              </a:ext>
            </a:extLst>
          </p:cNvPr>
          <p:cNvSpPr txBox="1"/>
          <p:nvPr/>
        </p:nvSpPr>
        <p:spPr>
          <a:xfrm>
            <a:off x="5669857" y="2180844"/>
            <a:ext cx="2075688" cy="411480"/>
          </a:xfrm>
          <a:prstGeom prst="rect">
            <a:avLst/>
          </a:prstGeom>
          <a:noFill/>
        </p:spPr>
        <p:txBody>
          <a:bodyPr wrap="squar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lang="en-US" sz="1120" b="0" dirty="0">
                <a:solidFill>
                  <a:srgbClr val="666666"/>
                </a:solidFill>
                <a:latin typeface="Times New Roman" panose="02020603050405020304" pitchFamily="18" charset="0"/>
                <a:cs typeface="Times New Roman" panose="02020603050405020304" pitchFamily="18" charset="0"/>
              </a:rPr>
              <a:t>Gate 4 protocol-freeze commit</a:t>
            </a:r>
            <a:endParaRPr sz="1120" b="0" dirty="0">
              <a:solidFill>
                <a:srgbClr val="666666"/>
              </a:solidFill>
              <a:latin typeface="Times New Roman" panose="02020603050405020304" pitchFamily="18" charset="0"/>
              <a:cs typeface="Times New Roman" panose="02020603050405020304" pitchFamily="18" charset="0"/>
            </a:endParaRPr>
          </a:p>
        </p:txBody>
      </p:sp>
      <p:sp>
        <p:nvSpPr>
          <p:cNvPr id="98" name="26_Closure_Title">
            <a:extLst>
              <a:ext uri="{FF2B5EF4-FFF2-40B4-BE49-F238E27FC236}">
                <a16:creationId xmlns:a16="http://schemas.microsoft.com/office/drawing/2014/main" id="{D6F43289-F123-0016-440D-83E3A8426C5E}"/>
              </a:ext>
            </a:extLst>
          </p:cNvPr>
          <p:cNvSpPr txBox="1"/>
          <p:nvPr/>
        </p:nvSpPr>
        <p:spPr>
          <a:xfrm>
            <a:off x="3950785" y="2656332"/>
            <a:ext cx="2331720" cy="219456"/>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300" b="1">
                <a:solidFill>
                  <a:srgbClr val="111111"/>
                </a:solidFill>
                <a:latin typeface="Times New Roman" panose="02020603050405020304" pitchFamily="18" charset="0"/>
                <a:cs typeface="Times New Roman" panose="02020603050405020304" pitchFamily="18" charset="0"/>
              </a:rPr>
              <a:t>Gate 4 closure report</a:t>
            </a:r>
          </a:p>
        </p:txBody>
      </p:sp>
      <p:sp>
        <p:nvSpPr>
          <p:cNvPr id="99" name="27_Closure_Path">
            <a:extLst>
              <a:ext uri="{FF2B5EF4-FFF2-40B4-BE49-F238E27FC236}">
                <a16:creationId xmlns:a16="http://schemas.microsoft.com/office/drawing/2014/main" id="{1A946931-6059-6EFF-BA3C-3296FF9BCFB0}"/>
              </a:ext>
            </a:extLst>
          </p:cNvPr>
          <p:cNvSpPr txBox="1"/>
          <p:nvPr/>
        </p:nvSpPr>
        <p:spPr>
          <a:xfrm>
            <a:off x="3950785" y="2875788"/>
            <a:ext cx="3474720" cy="201168"/>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030" b="0" dirty="0">
                <a:solidFill>
                  <a:srgbClr val="666666"/>
                </a:solidFill>
                <a:latin typeface="Times New Roman" panose="02020603050405020304" pitchFamily="18" charset="0"/>
                <a:cs typeface="Times New Roman" panose="02020603050405020304" pitchFamily="18" charset="0"/>
              </a:rPr>
              <a:t>logs/gate4/gate4_closure_report.md</a:t>
            </a:r>
          </a:p>
        </p:txBody>
      </p:sp>
      <p:sp>
        <p:nvSpPr>
          <p:cNvPr id="100" name="28_Statistics_Title">
            <a:extLst>
              <a:ext uri="{FF2B5EF4-FFF2-40B4-BE49-F238E27FC236}">
                <a16:creationId xmlns:a16="http://schemas.microsoft.com/office/drawing/2014/main" id="{50CD9F31-AA64-2548-B21B-B10545356A0D}"/>
              </a:ext>
            </a:extLst>
          </p:cNvPr>
          <p:cNvSpPr txBox="1"/>
          <p:nvPr/>
        </p:nvSpPr>
        <p:spPr>
          <a:xfrm>
            <a:off x="3950785" y="3150108"/>
            <a:ext cx="2057400" cy="219456"/>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300" b="1">
                <a:solidFill>
                  <a:srgbClr val="111111"/>
                </a:solidFill>
                <a:latin typeface="Times New Roman" panose="02020603050405020304" pitchFamily="18" charset="0"/>
                <a:cs typeface="Times New Roman" panose="02020603050405020304" pitchFamily="18" charset="0"/>
              </a:rPr>
              <a:t>Gate 4 statistics</a:t>
            </a:r>
          </a:p>
        </p:txBody>
      </p:sp>
      <p:sp>
        <p:nvSpPr>
          <p:cNvPr id="101" name="29_Statistics_Path">
            <a:extLst>
              <a:ext uri="{FF2B5EF4-FFF2-40B4-BE49-F238E27FC236}">
                <a16:creationId xmlns:a16="http://schemas.microsoft.com/office/drawing/2014/main" id="{484AD199-BD19-98AA-DD02-A771D53F4430}"/>
              </a:ext>
            </a:extLst>
          </p:cNvPr>
          <p:cNvSpPr txBox="1"/>
          <p:nvPr/>
        </p:nvSpPr>
        <p:spPr>
          <a:xfrm>
            <a:off x="3950785" y="3369564"/>
            <a:ext cx="2377440" cy="201168"/>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lang="en-US" sz="1120" b="0" dirty="0">
                <a:solidFill>
                  <a:srgbClr val="666666"/>
                </a:solidFill>
                <a:latin typeface="Times New Roman" panose="02020603050405020304" pitchFamily="18" charset="0"/>
                <a:cs typeface="Times New Roman" panose="02020603050405020304" pitchFamily="18" charset="0"/>
              </a:rPr>
              <a:t>logs/gate4/gate4_statistics.json</a:t>
            </a:r>
            <a:endParaRPr sz="1120" b="0" dirty="0">
              <a:solidFill>
                <a:srgbClr val="666666"/>
              </a:solidFill>
              <a:latin typeface="Times New Roman" panose="02020603050405020304" pitchFamily="18" charset="0"/>
              <a:cs typeface="Times New Roman" panose="02020603050405020304" pitchFamily="18" charset="0"/>
            </a:endParaRPr>
          </a:p>
        </p:txBody>
      </p:sp>
      <p:sp>
        <p:nvSpPr>
          <p:cNvPr id="102" name="30_Sealed_Header">
            <a:extLst>
              <a:ext uri="{FF2B5EF4-FFF2-40B4-BE49-F238E27FC236}">
                <a16:creationId xmlns:a16="http://schemas.microsoft.com/office/drawing/2014/main" id="{C8899AB5-2853-6CBF-F00B-908403152C5E}"/>
              </a:ext>
            </a:extLst>
          </p:cNvPr>
          <p:cNvSpPr txBox="1"/>
          <p:nvPr/>
        </p:nvSpPr>
        <p:spPr>
          <a:xfrm>
            <a:off x="3950785" y="3707892"/>
            <a:ext cx="2331720" cy="201168"/>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050" b="1">
                <a:solidFill>
                  <a:srgbClr val="20A060"/>
                </a:solidFill>
                <a:latin typeface="Times New Roman" panose="02020603050405020304" pitchFamily="18" charset="0"/>
                <a:cs typeface="Times New Roman" panose="02020603050405020304" pitchFamily="18" charset="0"/>
              </a:rPr>
              <a:t>SEALED FORMAL RUNS</a:t>
            </a:r>
          </a:p>
        </p:txBody>
      </p:sp>
      <p:sp>
        <p:nvSpPr>
          <p:cNvPr id="103" name="31_Development_Label">
            <a:extLst>
              <a:ext uri="{FF2B5EF4-FFF2-40B4-BE49-F238E27FC236}">
                <a16:creationId xmlns:a16="http://schemas.microsoft.com/office/drawing/2014/main" id="{BBAA2E80-47E9-497F-1AD0-EA1E4F730020}"/>
              </a:ext>
            </a:extLst>
          </p:cNvPr>
          <p:cNvSpPr txBox="1"/>
          <p:nvPr/>
        </p:nvSpPr>
        <p:spPr>
          <a:xfrm>
            <a:off x="3950785" y="4037075"/>
            <a:ext cx="1280160" cy="210312"/>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200" b="1">
                <a:solidFill>
                  <a:srgbClr val="111111"/>
                </a:solidFill>
                <a:latin typeface="Times New Roman" panose="02020603050405020304" pitchFamily="18" charset="0"/>
                <a:cs typeface="Times New Roman" panose="02020603050405020304" pitchFamily="18" charset="0"/>
              </a:rPr>
              <a:t>development</a:t>
            </a:r>
          </a:p>
        </p:txBody>
      </p:sp>
      <p:sp>
        <p:nvSpPr>
          <p:cNvPr id="104" name="32_Development_Run">
            <a:extLst>
              <a:ext uri="{FF2B5EF4-FFF2-40B4-BE49-F238E27FC236}">
                <a16:creationId xmlns:a16="http://schemas.microsoft.com/office/drawing/2014/main" id="{1F8109BC-E21E-0EB9-801C-D2B4EF7F2E7E}"/>
              </a:ext>
            </a:extLst>
          </p:cNvPr>
          <p:cNvSpPr txBox="1"/>
          <p:nvPr/>
        </p:nvSpPr>
        <p:spPr>
          <a:xfrm>
            <a:off x="3950785" y="4274820"/>
            <a:ext cx="1645920" cy="365760"/>
          </a:xfrm>
          <a:prstGeom prst="rect">
            <a:avLst/>
          </a:prstGeom>
          <a:noFill/>
        </p:spPr>
        <p:txBody>
          <a:bodyPr wrap="squar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lang="en-US" sz="1019" b="0" dirty="0" err="1">
                <a:solidFill>
                  <a:srgbClr val="666666"/>
                </a:solidFill>
                <a:latin typeface="Times New Roman" panose="02020603050405020304" pitchFamily="18" charset="0"/>
                <a:cs typeface="Times New Roman" panose="02020603050405020304" pitchFamily="18" charset="0"/>
              </a:rPr>
              <a:t>benchmark_results</a:t>
            </a:r>
            <a:r>
              <a:rPr lang="en-US" sz="1019" b="0" dirty="0">
                <a:solidFill>
                  <a:srgbClr val="666666"/>
                </a:solidFill>
                <a:latin typeface="Times New Roman" panose="02020603050405020304" pitchFamily="18" charset="0"/>
                <a:cs typeface="Times New Roman" panose="02020603050405020304" pitchFamily="18" charset="0"/>
              </a:rPr>
              <a:t>/gate4-development-formal-20260905/</a:t>
            </a:r>
            <a:endParaRPr sz="1019" b="0" dirty="0">
              <a:solidFill>
                <a:srgbClr val="666666"/>
              </a:solidFill>
              <a:latin typeface="Times New Roman" panose="02020603050405020304" pitchFamily="18" charset="0"/>
              <a:cs typeface="Times New Roman" panose="02020603050405020304" pitchFamily="18" charset="0"/>
            </a:endParaRPr>
          </a:p>
        </p:txBody>
      </p:sp>
      <p:sp>
        <p:nvSpPr>
          <p:cNvPr id="105" name="33_Heldout_Label">
            <a:extLst>
              <a:ext uri="{FF2B5EF4-FFF2-40B4-BE49-F238E27FC236}">
                <a16:creationId xmlns:a16="http://schemas.microsoft.com/office/drawing/2014/main" id="{1FBABF85-E5F9-3902-CA38-5E821293ECC7}"/>
              </a:ext>
            </a:extLst>
          </p:cNvPr>
          <p:cNvSpPr txBox="1"/>
          <p:nvPr/>
        </p:nvSpPr>
        <p:spPr>
          <a:xfrm>
            <a:off x="5871024" y="4037075"/>
            <a:ext cx="1143000" cy="210312"/>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200" b="1" dirty="0">
                <a:solidFill>
                  <a:srgbClr val="111111"/>
                </a:solidFill>
                <a:latin typeface="Times New Roman" panose="02020603050405020304" pitchFamily="18" charset="0"/>
                <a:cs typeface="Times New Roman" panose="02020603050405020304" pitchFamily="18" charset="0"/>
              </a:rPr>
              <a:t>held-out</a:t>
            </a:r>
          </a:p>
        </p:txBody>
      </p:sp>
      <p:sp>
        <p:nvSpPr>
          <p:cNvPr id="106" name="34_Heldout_Run">
            <a:extLst>
              <a:ext uri="{FF2B5EF4-FFF2-40B4-BE49-F238E27FC236}">
                <a16:creationId xmlns:a16="http://schemas.microsoft.com/office/drawing/2014/main" id="{2EB09C2C-833A-9E02-7EE7-5796DDDA088D}"/>
              </a:ext>
            </a:extLst>
          </p:cNvPr>
          <p:cNvSpPr txBox="1"/>
          <p:nvPr/>
        </p:nvSpPr>
        <p:spPr>
          <a:xfrm>
            <a:off x="5871024" y="4274820"/>
            <a:ext cx="1645920" cy="365760"/>
          </a:xfrm>
          <a:prstGeom prst="rect">
            <a:avLst/>
          </a:prstGeom>
          <a:noFill/>
        </p:spPr>
        <p:txBody>
          <a:bodyPr wrap="squar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lang="en-US" sz="1019" b="0" dirty="0" err="1">
                <a:solidFill>
                  <a:srgbClr val="666666"/>
                </a:solidFill>
                <a:latin typeface="Times New Roman" panose="02020603050405020304" pitchFamily="18" charset="0"/>
                <a:cs typeface="Times New Roman" panose="02020603050405020304" pitchFamily="18" charset="0"/>
              </a:rPr>
              <a:t>benchmark_results</a:t>
            </a:r>
            <a:r>
              <a:rPr lang="en-US" sz="1019" b="0" dirty="0">
                <a:solidFill>
                  <a:srgbClr val="666666"/>
                </a:solidFill>
                <a:latin typeface="Times New Roman" panose="02020603050405020304" pitchFamily="18" charset="0"/>
                <a:cs typeface="Times New Roman" panose="02020603050405020304" pitchFamily="18" charset="0"/>
              </a:rPr>
              <a:t>/gate4-held-out-formal-20260905/</a:t>
            </a:r>
            <a:endParaRPr sz="1019" b="0" dirty="0">
              <a:solidFill>
                <a:srgbClr val="666666"/>
              </a:solidFill>
              <a:latin typeface="Times New Roman" panose="02020603050405020304" pitchFamily="18" charset="0"/>
              <a:cs typeface="Times New Roman" panose="02020603050405020304" pitchFamily="18" charset="0"/>
            </a:endParaRPr>
          </a:p>
        </p:txBody>
      </p:sp>
      <p:sp>
        <p:nvSpPr>
          <p:cNvPr id="107" name="36_Col3_Number">
            <a:extLst>
              <a:ext uri="{FF2B5EF4-FFF2-40B4-BE49-F238E27FC236}">
                <a16:creationId xmlns:a16="http://schemas.microsoft.com/office/drawing/2014/main" id="{536758B6-DE96-C8B4-6D9D-63E605A5CD4E}"/>
              </a:ext>
            </a:extLst>
          </p:cNvPr>
          <p:cNvSpPr txBox="1"/>
          <p:nvPr/>
        </p:nvSpPr>
        <p:spPr>
          <a:xfrm>
            <a:off x="8019865" y="1687068"/>
            <a:ext cx="256032" cy="18288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200" b="1" dirty="0">
                <a:solidFill>
                  <a:srgbClr val="00BFFF"/>
                </a:solidFill>
                <a:latin typeface="Times New Roman" panose="02020603050405020304" pitchFamily="18" charset="0"/>
                <a:cs typeface="Times New Roman" panose="02020603050405020304" pitchFamily="18" charset="0"/>
              </a:rPr>
              <a:t>03</a:t>
            </a:r>
          </a:p>
        </p:txBody>
      </p:sp>
      <p:sp>
        <p:nvSpPr>
          <p:cNvPr id="108" name="37_Col3_Header">
            <a:extLst>
              <a:ext uri="{FF2B5EF4-FFF2-40B4-BE49-F238E27FC236}">
                <a16:creationId xmlns:a16="http://schemas.microsoft.com/office/drawing/2014/main" id="{E110A415-7495-53E6-4E6C-0B1C6B3D171C}"/>
              </a:ext>
            </a:extLst>
          </p:cNvPr>
          <p:cNvSpPr txBox="1"/>
          <p:nvPr/>
        </p:nvSpPr>
        <p:spPr>
          <a:xfrm>
            <a:off x="8339905" y="1668780"/>
            <a:ext cx="2468880" cy="27432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600" b="1" dirty="0">
                <a:solidFill>
                  <a:srgbClr val="071A55"/>
                </a:solidFill>
                <a:latin typeface="Times New Roman" panose="02020603050405020304" pitchFamily="18" charset="0"/>
                <a:cs typeface="Times New Roman" panose="02020603050405020304" pitchFamily="18" charset="0"/>
              </a:rPr>
              <a:t>DELIVERY SNAPSHOT</a:t>
            </a:r>
          </a:p>
        </p:txBody>
      </p:sp>
      <p:cxnSp>
        <p:nvCxnSpPr>
          <p:cNvPr id="109" name="38_Col3_Line">
            <a:extLst>
              <a:ext uri="{FF2B5EF4-FFF2-40B4-BE49-F238E27FC236}">
                <a16:creationId xmlns:a16="http://schemas.microsoft.com/office/drawing/2014/main" id="{39A319C8-8A63-9E85-9BEE-3D74FF293E4B}"/>
              </a:ext>
            </a:extLst>
          </p:cNvPr>
          <p:cNvCxnSpPr/>
          <p:nvPr/>
        </p:nvCxnSpPr>
        <p:spPr>
          <a:xfrm>
            <a:off x="8019865" y="2007108"/>
            <a:ext cx="2788920" cy="0"/>
          </a:xfrm>
          <a:prstGeom prst="line">
            <a:avLst/>
          </a:prstGeom>
          <a:ln w="8890">
            <a:solidFill>
              <a:srgbClr val="D9DEE3"/>
            </a:solidFill>
          </a:ln>
        </p:spPr>
        <p:style>
          <a:lnRef idx="2">
            <a:schemeClr val="accent1"/>
          </a:lnRef>
          <a:fillRef idx="0">
            <a:schemeClr val="accent1"/>
          </a:fillRef>
          <a:effectRef idx="1">
            <a:schemeClr val="accent1"/>
          </a:effectRef>
          <a:fontRef idx="minor">
            <a:schemeClr val="tx1"/>
          </a:fontRef>
        </p:style>
      </p:cxnSp>
      <p:sp>
        <p:nvSpPr>
          <p:cNvPr id="110" name="39_Delivery_Name">
            <a:extLst>
              <a:ext uri="{FF2B5EF4-FFF2-40B4-BE49-F238E27FC236}">
                <a16:creationId xmlns:a16="http://schemas.microsoft.com/office/drawing/2014/main" id="{28FA94F8-E9D4-ED73-30E5-13C4431F79C1}"/>
              </a:ext>
            </a:extLst>
          </p:cNvPr>
          <p:cNvSpPr txBox="1"/>
          <p:nvPr/>
        </p:nvSpPr>
        <p:spPr>
          <a:xfrm>
            <a:off x="8019865" y="2189988"/>
            <a:ext cx="2834640" cy="32004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750" b="1" dirty="0">
                <a:solidFill>
                  <a:srgbClr val="071A55"/>
                </a:solidFill>
                <a:latin typeface="Times New Roman" panose="02020603050405020304" pitchFamily="18" charset="0"/>
                <a:cs typeface="Times New Roman" panose="02020603050405020304" pitchFamily="18" charset="0"/>
              </a:rPr>
              <a:t>gate5-delivery-v1</a:t>
            </a:r>
          </a:p>
        </p:txBody>
      </p:sp>
      <p:sp>
        <p:nvSpPr>
          <p:cNvPr id="111" name="40_Delivery_Description">
            <a:extLst>
              <a:ext uri="{FF2B5EF4-FFF2-40B4-BE49-F238E27FC236}">
                <a16:creationId xmlns:a16="http://schemas.microsoft.com/office/drawing/2014/main" id="{E5F75429-8AC6-C9F9-2E6A-119EFE1ACD80}"/>
              </a:ext>
            </a:extLst>
          </p:cNvPr>
          <p:cNvSpPr txBox="1"/>
          <p:nvPr/>
        </p:nvSpPr>
        <p:spPr>
          <a:xfrm>
            <a:off x="8019865" y="2555748"/>
            <a:ext cx="2788920" cy="237744"/>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lang="en-US" sz="1150" b="0" dirty="0">
                <a:solidFill>
                  <a:srgbClr val="666666"/>
                </a:solidFill>
                <a:latin typeface="Times New Roman" panose="02020603050405020304" pitchFamily="18" charset="0"/>
                <a:cs typeface="Times New Roman" panose="02020603050405020304" pitchFamily="18" charset="0"/>
              </a:rPr>
              <a:t>Planned annotated delivery tag</a:t>
            </a:r>
            <a:endParaRPr sz="1150" b="0" dirty="0">
              <a:solidFill>
                <a:srgbClr val="666666"/>
              </a:solidFill>
              <a:latin typeface="Times New Roman" panose="02020603050405020304" pitchFamily="18" charset="0"/>
              <a:cs typeface="Times New Roman" panose="02020603050405020304" pitchFamily="18" charset="0"/>
            </a:endParaRPr>
          </a:p>
        </p:txBody>
      </p:sp>
      <p:sp>
        <p:nvSpPr>
          <p:cNvPr id="113" name="42_Delivery_Role">
            <a:extLst>
              <a:ext uri="{FF2B5EF4-FFF2-40B4-BE49-F238E27FC236}">
                <a16:creationId xmlns:a16="http://schemas.microsoft.com/office/drawing/2014/main" id="{228D3B57-31DA-56AF-275F-51C93176D6DB}"/>
              </a:ext>
            </a:extLst>
          </p:cNvPr>
          <p:cNvSpPr txBox="1"/>
          <p:nvPr/>
        </p:nvSpPr>
        <p:spPr>
          <a:xfrm>
            <a:off x="8022638" y="2846746"/>
            <a:ext cx="2377440" cy="219456"/>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lang="en-US" sz="1250" b="1" dirty="0">
                <a:solidFill>
                  <a:srgbClr val="111111"/>
                </a:solidFill>
                <a:latin typeface="Times New Roman" panose="02020603050405020304" pitchFamily="18" charset="0"/>
                <a:cs typeface="Times New Roman" panose="02020603050405020304" pitchFamily="18" charset="0"/>
              </a:rPr>
              <a:t>Demo runbook</a:t>
            </a:r>
            <a:endParaRPr sz="1250" b="1" dirty="0">
              <a:solidFill>
                <a:srgbClr val="111111"/>
              </a:solidFill>
              <a:latin typeface="Times New Roman" panose="02020603050405020304" pitchFamily="18" charset="0"/>
              <a:cs typeface="Times New Roman" panose="02020603050405020304" pitchFamily="18" charset="0"/>
            </a:endParaRPr>
          </a:p>
        </p:txBody>
      </p:sp>
      <p:sp>
        <p:nvSpPr>
          <p:cNvPr id="114" name="43_Delivery_Boundary">
            <a:extLst>
              <a:ext uri="{FF2B5EF4-FFF2-40B4-BE49-F238E27FC236}">
                <a16:creationId xmlns:a16="http://schemas.microsoft.com/office/drawing/2014/main" id="{4D38A847-B6FA-FC74-C6D5-25CB70865881}"/>
              </a:ext>
            </a:extLst>
          </p:cNvPr>
          <p:cNvSpPr txBox="1"/>
          <p:nvPr/>
        </p:nvSpPr>
        <p:spPr>
          <a:xfrm>
            <a:off x="8022638" y="3084490"/>
            <a:ext cx="2697480" cy="219456"/>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lang="en-US" sz="1150" b="0" dirty="0">
                <a:solidFill>
                  <a:srgbClr val="666666"/>
                </a:solidFill>
                <a:latin typeface="Times New Roman" panose="02020603050405020304" pitchFamily="18" charset="0"/>
                <a:cs typeface="Times New Roman" panose="02020603050405020304" pitchFamily="18" charset="0"/>
              </a:rPr>
              <a:t>docs/gate5_demo_runbook.md</a:t>
            </a:r>
            <a:endParaRPr sz="1150" b="0" dirty="0">
              <a:solidFill>
                <a:srgbClr val="666666"/>
              </a:solidFill>
              <a:latin typeface="Times New Roman" panose="02020603050405020304" pitchFamily="18" charset="0"/>
              <a:cs typeface="Times New Roman" panose="02020603050405020304" pitchFamily="18" charset="0"/>
            </a:endParaRPr>
          </a:p>
        </p:txBody>
      </p:sp>
      <p:cxnSp>
        <p:nvCxnSpPr>
          <p:cNvPr id="115" name="44_Main_Bottom_Divider">
            <a:extLst>
              <a:ext uri="{FF2B5EF4-FFF2-40B4-BE49-F238E27FC236}">
                <a16:creationId xmlns:a16="http://schemas.microsoft.com/office/drawing/2014/main" id="{53DB4905-5EF2-ED74-107A-71F5B3A9466A}"/>
              </a:ext>
            </a:extLst>
          </p:cNvPr>
          <p:cNvCxnSpPr/>
          <p:nvPr/>
        </p:nvCxnSpPr>
        <p:spPr>
          <a:xfrm>
            <a:off x="338905" y="4914900"/>
            <a:ext cx="10744200" cy="0"/>
          </a:xfrm>
          <a:prstGeom prst="line">
            <a:avLst/>
          </a:prstGeom>
          <a:ln w="8890">
            <a:solidFill>
              <a:srgbClr val="9EAEBB"/>
            </a:solidFill>
          </a:ln>
        </p:spPr>
        <p:style>
          <a:lnRef idx="2">
            <a:schemeClr val="accent1"/>
          </a:lnRef>
          <a:fillRef idx="0">
            <a:schemeClr val="accent1"/>
          </a:fillRef>
          <a:effectRef idx="1">
            <a:schemeClr val="accent1"/>
          </a:effectRef>
          <a:fontRef idx="minor">
            <a:schemeClr val="tx1"/>
          </a:fontRef>
        </p:style>
      </p:cxnSp>
      <p:sp>
        <p:nvSpPr>
          <p:cNvPr id="116" name="45_Traceable_Header">
            <a:extLst>
              <a:ext uri="{FF2B5EF4-FFF2-40B4-BE49-F238E27FC236}">
                <a16:creationId xmlns:a16="http://schemas.microsoft.com/office/drawing/2014/main" id="{8F20BC0C-8926-664A-23CA-5B90669AEC04}"/>
              </a:ext>
            </a:extLst>
          </p:cNvPr>
          <p:cNvSpPr txBox="1"/>
          <p:nvPr/>
        </p:nvSpPr>
        <p:spPr>
          <a:xfrm>
            <a:off x="338905" y="4997196"/>
            <a:ext cx="2377440" cy="22860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600" b="1" dirty="0">
                <a:solidFill>
                  <a:srgbClr val="071A55"/>
                </a:solidFill>
                <a:latin typeface="Times New Roman" panose="02020603050405020304" pitchFamily="18" charset="0"/>
                <a:cs typeface="Times New Roman" panose="02020603050405020304" pitchFamily="18" charset="0"/>
              </a:rPr>
              <a:t>TRACEABLE ARTIFACTS</a:t>
            </a:r>
          </a:p>
        </p:txBody>
      </p:sp>
      <p:sp>
        <p:nvSpPr>
          <p:cNvPr id="117" name="46_Trace_Manifest_Title">
            <a:extLst>
              <a:ext uri="{FF2B5EF4-FFF2-40B4-BE49-F238E27FC236}">
                <a16:creationId xmlns:a16="http://schemas.microsoft.com/office/drawing/2014/main" id="{E56F09FD-C292-5D22-8EA8-EA3F16CB230D}"/>
              </a:ext>
            </a:extLst>
          </p:cNvPr>
          <p:cNvSpPr txBox="1"/>
          <p:nvPr/>
        </p:nvSpPr>
        <p:spPr>
          <a:xfrm>
            <a:off x="613225" y="5417820"/>
            <a:ext cx="1280160" cy="22860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spcBef>
                <a:spcPts val="0"/>
              </a:spcBef>
              <a:spcAft>
                <a:spcPts val="0"/>
              </a:spcAft>
            </a:pPr>
            <a:r>
              <a:rPr sz="2000" b="1" dirty="0">
                <a:solidFill>
                  <a:srgbClr val="111111"/>
                </a:solidFill>
                <a:latin typeface="Times New Roman" panose="02020603050405020304" pitchFamily="18" charset="0"/>
                <a:cs typeface="Times New Roman" panose="02020603050405020304" pitchFamily="18" charset="0"/>
              </a:rPr>
              <a:t>Manifest</a:t>
            </a:r>
          </a:p>
        </p:txBody>
      </p:sp>
      <p:sp>
        <p:nvSpPr>
          <p:cNvPr id="118" name="46_Trace_Manifest_Type">
            <a:extLst>
              <a:ext uri="{FF2B5EF4-FFF2-40B4-BE49-F238E27FC236}">
                <a16:creationId xmlns:a16="http://schemas.microsoft.com/office/drawing/2014/main" id="{336BFC91-AC14-C1F4-BC31-1D8653669F57}"/>
              </a:ext>
            </a:extLst>
          </p:cNvPr>
          <p:cNvSpPr txBox="1"/>
          <p:nvPr/>
        </p:nvSpPr>
        <p:spPr>
          <a:xfrm>
            <a:off x="613225" y="5664708"/>
            <a:ext cx="1280160" cy="18288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spcBef>
                <a:spcPts val="0"/>
              </a:spcBef>
              <a:spcAft>
                <a:spcPts val="0"/>
              </a:spcAft>
            </a:pPr>
            <a:r>
              <a:rPr sz="1100" b="0">
                <a:solidFill>
                  <a:srgbClr val="666666"/>
                </a:solidFill>
                <a:latin typeface="Times New Roman" panose="02020603050405020304" pitchFamily="18" charset="0"/>
                <a:cs typeface="Times New Roman" panose="02020603050405020304" pitchFamily="18" charset="0"/>
              </a:rPr>
              <a:t>JSON</a:t>
            </a:r>
          </a:p>
        </p:txBody>
      </p:sp>
      <p:sp>
        <p:nvSpPr>
          <p:cNvPr id="119" name="47_Trace_Benchmark_Title">
            <a:extLst>
              <a:ext uri="{FF2B5EF4-FFF2-40B4-BE49-F238E27FC236}">
                <a16:creationId xmlns:a16="http://schemas.microsoft.com/office/drawing/2014/main" id="{7922A043-5D13-2863-FDF6-E54952296D1C}"/>
              </a:ext>
            </a:extLst>
          </p:cNvPr>
          <p:cNvSpPr txBox="1"/>
          <p:nvPr/>
        </p:nvSpPr>
        <p:spPr>
          <a:xfrm>
            <a:off x="2396305" y="5417820"/>
            <a:ext cx="1554480" cy="22860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spcBef>
                <a:spcPts val="0"/>
              </a:spcBef>
              <a:spcAft>
                <a:spcPts val="0"/>
              </a:spcAft>
            </a:pPr>
            <a:r>
              <a:rPr b="1">
                <a:solidFill>
                  <a:srgbClr val="111111"/>
                </a:solidFill>
                <a:latin typeface="Times New Roman" panose="02020603050405020304" pitchFamily="18" charset="0"/>
                <a:cs typeface="Times New Roman" panose="02020603050405020304" pitchFamily="18" charset="0"/>
              </a:rPr>
              <a:t>Benchmark card</a:t>
            </a:r>
          </a:p>
        </p:txBody>
      </p:sp>
      <p:sp>
        <p:nvSpPr>
          <p:cNvPr id="120" name="47_Trace_Benchmark_Type">
            <a:extLst>
              <a:ext uri="{FF2B5EF4-FFF2-40B4-BE49-F238E27FC236}">
                <a16:creationId xmlns:a16="http://schemas.microsoft.com/office/drawing/2014/main" id="{156CBA40-8828-79F9-8C5F-0D47A6F7062C}"/>
              </a:ext>
            </a:extLst>
          </p:cNvPr>
          <p:cNvSpPr txBox="1"/>
          <p:nvPr/>
        </p:nvSpPr>
        <p:spPr>
          <a:xfrm>
            <a:off x="2396305" y="5664708"/>
            <a:ext cx="1554480" cy="18288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spcBef>
                <a:spcPts val="0"/>
              </a:spcBef>
              <a:spcAft>
                <a:spcPts val="0"/>
              </a:spcAft>
            </a:pPr>
            <a:r>
              <a:rPr sz="1100" b="0">
                <a:solidFill>
                  <a:srgbClr val="666666"/>
                </a:solidFill>
                <a:latin typeface="Times New Roman" panose="02020603050405020304" pitchFamily="18" charset="0"/>
                <a:cs typeface="Times New Roman" panose="02020603050405020304" pitchFamily="18" charset="0"/>
              </a:rPr>
              <a:t>MD</a:t>
            </a:r>
          </a:p>
        </p:txBody>
      </p:sp>
      <p:sp>
        <p:nvSpPr>
          <p:cNvPr id="121" name="48_Trace_Closure_Title">
            <a:extLst>
              <a:ext uri="{FF2B5EF4-FFF2-40B4-BE49-F238E27FC236}">
                <a16:creationId xmlns:a16="http://schemas.microsoft.com/office/drawing/2014/main" id="{94B35A18-6D67-4505-79AE-2840BEF0C47F}"/>
              </a:ext>
            </a:extLst>
          </p:cNvPr>
          <p:cNvSpPr txBox="1"/>
          <p:nvPr/>
        </p:nvSpPr>
        <p:spPr>
          <a:xfrm>
            <a:off x="4499425" y="5417820"/>
            <a:ext cx="1920240" cy="22860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spcBef>
                <a:spcPts val="0"/>
              </a:spcBef>
              <a:spcAft>
                <a:spcPts val="0"/>
              </a:spcAft>
            </a:pPr>
            <a:r>
              <a:rPr b="1">
                <a:solidFill>
                  <a:srgbClr val="111111"/>
                </a:solidFill>
                <a:latin typeface="Times New Roman" panose="02020603050405020304" pitchFamily="18" charset="0"/>
                <a:cs typeface="Times New Roman" panose="02020603050405020304" pitchFamily="18" charset="0"/>
              </a:rPr>
              <a:t>Closure / statistics</a:t>
            </a:r>
          </a:p>
        </p:txBody>
      </p:sp>
      <p:sp>
        <p:nvSpPr>
          <p:cNvPr id="122" name="48_Trace_Closure_Type">
            <a:extLst>
              <a:ext uri="{FF2B5EF4-FFF2-40B4-BE49-F238E27FC236}">
                <a16:creationId xmlns:a16="http://schemas.microsoft.com/office/drawing/2014/main" id="{B8A1E9AF-36BE-56CB-784F-D5EBB56C2743}"/>
              </a:ext>
            </a:extLst>
          </p:cNvPr>
          <p:cNvSpPr txBox="1"/>
          <p:nvPr/>
        </p:nvSpPr>
        <p:spPr>
          <a:xfrm>
            <a:off x="4499425" y="5664708"/>
            <a:ext cx="1920240" cy="18288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spcBef>
                <a:spcPts val="0"/>
              </a:spcBef>
              <a:spcAft>
                <a:spcPts val="0"/>
              </a:spcAft>
            </a:pPr>
            <a:r>
              <a:rPr sz="1100" b="0">
                <a:solidFill>
                  <a:srgbClr val="666666"/>
                </a:solidFill>
                <a:latin typeface="Times New Roman" panose="02020603050405020304" pitchFamily="18" charset="0"/>
                <a:cs typeface="Times New Roman" panose="02020603050405020304" pitchFamily="18" charset="0"/>
              </a:rPr>
              <a:t>MD / JSON</a:t>
            </a:r>
          </a:p>
        </p:txBody>
      </p:sp>
      <p:sp>
        <p:nvSpPr>
          <p:cNvPr id="123" name="49_Trace_Runs_Title">
            <a:extLst>
              <a:ext uri="{FF2B5EF4-FFF2-40B4-BE49-F238E27FC236}">
                <a16:creationId xmlns:a16="http://schemas.microsoft.com/office/drawing/2014/main" id="{67360590-FA09-19F4-CEB8-4CD61BCC80F7}"/>
              </a:ext>
            </a:extLst>
          </p:cNvPr>
          <p:cNvSpPr txBox="1"/>
          <p:nvPr/>
        </p:nvSpPr>
        <p:spPr>
          <a:xfrm>
            <a:off x="6876865" y="5417820"/>
            <a:ext cx="1463040" cy="22860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spcBef>
                <a:spcPts val="0"/>
              </a:spcBef>
              <a:spcAft>
                <a:spcPts val="0"/>
              </a:spcAft>
            </a:pPr>
            <a:r>
              <a:rPr b="1">
                <a:solidFill>
                  <a:srgbClr val="111111"/>
                </a:solidFill>
                <a:latin typeface="Times New Roman" panose="02020603050405020304" pitchFamily="18" charset="0"/>
                <a:cs typeface="Times New Roman" panose="02020603050405020304" pitchFamily="18" charset="0"/>
              </a:rPr>
              <a:t>Formal runs</a:t>
            </a:r>
          </a:p>
        </p:txBody>
      </p:sp>
      <p:sp>
        <p:nvSpPr>
          <p:cNvPr id="124" name="49_Trace_Runs_Type">
            <a:extLst>
              <a:ext uri="{FF2B5EF4-FFF2-40B4-BE49-F238E27FC236}">
                <a16:creationId xmlns:a16="http://schemas.microsoft.com/office/drawing/2014/main" id="{AE053B67-DFF0-7D30-3D6B-EE010DA0F31D}"/>
              </a:ext>
            </a:extLst>
          </p:cNvPr>
          <p:cNvSpPr txBox="1"/>
          <p:nvPr/>
        </p:nvSpPr>
        <p:spPr>
          <a:xfrm>
            <a:off x="6876865" y="5664708"/>
            <a:ext cx="1463040" cy="18288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spcBef>
                <a:spcPts val="0"/>
              </a:spcBef>
              <a:spcAft>
                <a:spcPts val="0"/>
              </a:spcAft>
            </a:pPr>
            <a:r>
              <a:rPr sz="1100" b="0">
                <a:solidFill>
                  <a:srgbClr val="666666"/>
                </a:solidFill>
                <a:latin typeface="Times New Roman" panose="02020603050405020304" pitchFamily="18" charset="0"/>
                <a:cs typeface="Times New Roman" panose="02020603050405020304" pitchFamily="18" charset="0"/>
              </a:rPr>
              <a:t>sealed dirs</a:t>
            </a:r>
          </a:p>
        </p:txBody>
      </p:sp>
      <p:sp>
        <p:nvSpPr>
          <p:cNvPr id="125" name="50_Trace_Delivery_Title">
            <a:extLst>
              <a:ext uri="{FF2B5EF4-FFF2-40B4-BE49-F238E27FC236}">
                <a16:creationId xmlns:a16="http://schemas.microsoft.com/office/drawing/2014/main" id="{E2124190-DF88-41F6-95B4-134956C68004}"/>
              </a:ext>
            </a:extLst>
          </p:cNvPr>
          <p:cNvSpPr txBox="1"/>
          <p:nvPr/>
        </p:nvSpPr>
        <p:spPr>
          <a:xfrm>
            <a:off x="8842825" y="5417820"/>
            <a:ext cx="1920240" cy="22860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spcBef>
                <a:spcPts val="0"/>
              </a:spcBef>
              <a:spcAft>
                <a:spcPts val="0"/>
              </a:spcAft>
            </a:pPr>
            <a:r>
              <a:rPr b="1">
                <a:solidFill>
                  <a:srgbClr val="111111"/>
                </a:solidFill>
                <a:latin typeface="Times New Roman" panose="02020603050405020304" pitchFamily="18" charset="0"/>
                <a:cs typeface="Times New Roman" panose="02020603050405020304" pitchFamily="18" charset="0"/>
              </a:rPr>
              <a:t>Delivery snapshot</a:t>
            </a:r>
          </a:p>
        </p:txBody>
      </p:sp>
      <p:sp>
        <p:nvSpPr>
          <p:cNvPr id="126" name="50_Trace_Delivery_Type">
            <a:extLst>
              <a:ext uri="{FF2B5EF4-FFF2-40B4-BE49-F238E27FC236}">
                <a16:creationId xmlns:a16="http://schemas.microsoft.com/office/drawing/2014/main" id="{8526CA7E-E6E3-CDC4-6C6C-8A836CAA9D39}"/>
              </a:ext>
            </a:extLst>
          </p:cNvPr>
          <p:cNvSpPr txBox="1"/>
          <p:nvPr/>
        </p:nvSpPr>
        <p:spPr>
          <a:xfrm>
            <a:off x="8842825" y="5664708"/>
            <a:ext cx="1920240" cy="182880"/>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spcBef>
                <a:spcPts val="0"/>
              </a:spcBef>
              <a:spcAft>
                <a:spcPts val="0"/>
              </a:spcAft>
            </a:pPr>
            <a:r>
              <a:rPr sz="1100" b="0">
                <a:solidFill>
                  <a:srgbClr val="666666"/>
                </a:solidFill>
                <a:latin typeface="Times New Roman" panose="02020603050405020304" pitchFamily="18" charset="0"/>
                <a:cs typeface="Times New Roman" panose="02020603050405020304" pitchFamily="18" charset="0"/>
              </a:rPr>
              <a:t>planned tag</a:t>
            </a:r>
          </a:p>
        </p:txBody>
      </p:sp>
      <p:sp>
        <p:nvSpPr>
          <p:cNvPr id="127" name="51_Final_Boundary">
            <a:extLst>
              <a:ext uri="{FF2B5EF4-FFF2-40B4-BE49-F238E27FC236}">
                <a16:creationId xmlns:a16="http://schemas.microsoft.com/office/drawing/2014/main" id="{1A02325B-0B7E-9B52-A466-D3D02DC4F76B}"/>
              </a:ext>
            </a:extLst>
          </p:cNvPr>
          <p:cNvSpPr txBox="1"/>
          <p:nvPr/>
        </p:nvSpPr>
        <p:spPr>
          <a:xfrm>
            <a:off x="366337" y="6003036"/>
            <a:ext cx="10515600" cy="292608"/>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spcBef>
                <a:spcPts val="0"/>
              </a:spcBef>
              <a:spcAft>
                <a:spcPts val="0"/>
              </a:spcAft>
            </a:pPr>
            <a:r>
              <a:rPr lang="en-US" sz="1600" b="0" dirty="0">
                <a:solidFill>
                  <a:srgbClr val="666666"/>
                </a:solidFill>
                <a:latin typeface="Times New Roman" panose="02020603050405020304" pitchFamily="18" charset="0"/>
                <a:cs typeface="Times New Roman" panose="02020603050405020304" pitchFamily="18" charset="0"/>
              </a:rPr>
              <a:t>Gate 5 delivery materials reference the frozen Gate 0–4 baseline. They do not redefine the scientific baseline.</a:t>
            </a:r>
            <a:endParaRPr sz="1600" b="0" dirty="0">
              <a:solidFill>
                <a:srgbClr val="666666"/>
              </a:solidFill>
              <a:latin typeface="Times New Roman" panose="02020603050405020304" pitchFamily="18" charset="0"/>
              <a:cs typeface="Times New Roman" panose="02020603050405020304" pitchFamily="18" charset="0"/>
            </a:endParaRPr>
          </a:p>
        </p:txBody>
      </p:sp>
      <p:sp>
        <p:nvSpPr>
          <p:cNvPr id="129" name="18_Benchmark_Title">
            <a:extLst>
              <a:ext uri="{FF2B5EF4-FFF2-40B4-BE49-F238E27FC236}">
                <a16:creationId xmlns:a16="http://schemas.microsoft.com/office/drawing/2014/main" id="{0D54B664-0448-B17B-0CE4-F0CC1A2898B4}"/>
              </a:ext>
            </a:extLst>
          </p:cNvPr>
          <p:cNvSpPr txBox="1"/>
          <p:nvPr/>
        </p:nvSpPr>
        <p:spPr>
          <a:xfrm>
            <a:off x="513519" y="3944272"/>
            <a:ext cx="1920240" cy="219456"/>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lang="en-US" sz="1300" b="1" dirty="0">
                <a:solidFill>
                  <a:srgbClr val="111111"/>
                </a:solidFill>
                <a:latin typeface="Times New Roman" panose="02020603050405020304" pitchFamily="18" charset="0"/>
                <a:cs typeface="Times New Roman" panose="02020603050405020304" pitchFamily="18" charset="0"/>
              </a:rPr>
              <a:t>Research baseline</a:t>
            </a:r>
            <a:endParaRPr sz="1300" b="1" dirty="0">
              <a:solidFill>
                <a:srgbClr val="111111"/>
              </a:solidFill>
              <a:latin typeface="Times New Roman" panose="02020603050405020304" pitchFamily="18" charset="0"/>
              <a:cs typeface="Times New Roman" panose="02020603050405020304" pitchFamily="18" charset="0"/>
            </a:endParaRPr>
          </a:p>
        </p:txBody>
      </p:sp>
      <p:sp>
        <p:nvSpPr>
          <p:cNvPr id="131" name="19_Benchmark_Path">
            <a:extLst>
              <a:ext uri="{FF2B5EF4-FFF2-40B4-BE49-F238E27FC236}">
                <a16:creationId xmlns:a16="http://schemas.microsoft.com/office/drawing/2014/main" id="{B3A0D6C1-5A30-CD91-4F3E-874AD7DA32D2}"/>
              </a:ext>
            </a:extLst>
          </p:cNvPr>
          <p:cNvSpPr txBox="1"/>
          <p:nvPr/>
        </p:nvSpPr>
        <p:spPr>
          <a:xfrm>
            <a:off x="513519" y="4172872"/>
            <a:ext cx="2880360" cy="219456"/>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lang="en-US" sz="1100" b="0" dirty="0">
                <a:solidFill>
                  <a:srgbClr val="666666"/>
                </a:solidFill>
                <a:latin typeface="Times New Roman" panose="02020603050405020304" pitchFamily="18" charset="0"/>
                <a:cs typeface="Times New Roman" panose="02020603050405020304" pitchFamily="18" charset="0"/>
              </a:rPr>
              <a:t>docs/gate0_4_research_baseline.md</a:t>
            </a:r>
            <a:endParaRPr sz="1100" b="0" dirty="0">
              <a:solidFill>
                <a:srgbClr val="666666"/>
              </a:solidFill>
              <a:latin typeface="Times New Roman" panose="02020603050405020304" pitchFamily="18" charset="0"/>
              <a:cs typeface="Times New Roman" panose="02020603050405020304" pitchFamily="18" charset="0"/>
            </a:endParaRPr>
          </a:p>
        </p:txBody>
      </p:sp>
      <p:sp>
        <p:nvSpPr>
          <p:cNvPr id="132" name="文本框 131">
            <a:extLst>
              <a:ext uri="{FF2B5EF4-FFF2-40B4-BE49-F238E27FC236}">
                <a16:creationId xmlns:a16="http://schemas.microsoft.com/office/drawing/2014/main" id="{F28437DA-E89B-EB8A-CE7E-28454E45DF23}"/>
              </a:ext>
            </a:extLst>
          </p:cNvPr>
          <p:cNvSpPr txBox="1"/>
          <p:nvPr/>
        </p:nvSpPr>
        <p:spPr>
          <a:xfrm>
            <a:off x="6096000" y="3212976"/>
            <a:ext cx="1055186" cy="588552"/>
          </a:xfrm>
          <a:prstGeom prst="rect">
            <a:avLst/>
          </a:prstGeom>
          <a:noFill/>
        </p:spPr>
        <p:txBody>
          <a:bodyPr wrap="square" rtlCol="0">
            <a:spAutoFit/>
          </a:bodyPr>
          <a:lstStyle/>
          <a:p>
            <a:endParaRPr lang="zh-CN" altLang="en-US" dirty="0"/>
          </a:p>
        </p:txBody>
      </p:sp>
      <p:sp>
        <p:nvSpPr>
          <p:cNvPr id="134" name="34_Heldout_Run">
            <a:extLst>
              <a:ext uri="{FF2B5EF4-FFF2-40B4-BE49-F238E27FC236}">
                <a16:creationId xmlns:a16="http://schemas.microsoft.com/office/drawing/2014/main" id="{1E10EF74-F2B7-1103-CA92-FC3B34ABAA45}"/>
              </a:ext>
            </a:extLst>
          </p:cNvPr>
          <p:cNvSpPr txBox="1"/>
          <p:nvPr/>
        </p:nvSpPr>
        <p:spPr>
          <a:xfrm>
            <a:off x="6159475" y="3004063"/>
            <a:ext cx="1645920" cy="365760"/>
          </a:xfrm>
          <a:prstGeom prst="rect">
            <a:avLst/>
          </a:prstGeom>
          <a:noFill/>
        </p:spPr>
        <p:txBody>
          <a:bodyPr wrap="squar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lang="en-US" sz="1200" b="1" dirty="0">
                <a:solidFill>
                  <a:srgbClr val="111111"/>
                </a:solidFill>
                <a:latin typeface="Times New Roman" panose="02020603050405020304" pitchFamily="18" charset="0"/>
                <a:cs typeface="Times New Roman" panose="02020603050405020304" pitchFamily="18" charset="0"/>
              </a:rPr>
              <a:t>Sealed D-S01 artifact</a:t>
            </a:r>
          </a:p>
          <a:p>
            <a:pPr algn="l">
              <a:lnSpc>
                <a:spcPct val="100000"/>
              </a:lnSpc>
              <a:spcBef>
                <a:spcPts val="0"/>
              </a:spcBef>
              <a:spcAft>
                <a:spcPts val="0"/>
              </a:spcAft>
            </a:pPr>
            <a:endParaRPr lang="en-US" sz="1019" b="0" dirty="0">
              <a:solidFill>
                <a:srgbClr val="666666"/>
              </a:solidFill>
              <a:latin typeface="Times New Roman" panose="02020603050405020304" pitchFamily="18" charset="0"/>
              <a:cs typeface="Times New Roman" panose="02020603050405020304" pitchFamily="18" charset="0"/>
            </a:endParaRPr>
          </a:p>
          <a:p>
            <a:pPr algn="l">
              <a:lnSpc>
                <a:spcPct val="100000"/>
              </a:lnSpc>
              <a:spcBef>
                <a:spcPts val="0"/>
              </a:spcBef>
              <a:spcAft>
                <a:spcPts val="0"/>
              </a:spcAft>
            </a:pPr>
            <a:r>
              <a:rPr lang="en-US" sz="1019" b="0" dirty="0" err="1">
                <a:solidFill>
                  <a:srgbClr val="666666"/>
                </a:solidFill>
                <a:latin typeface="Times New Roman" panose="02020603050405020304" pitchFamily="18" charset="0"/>
                <a:cs typeface="Times New Roman" panose="02020603050405020304" pitchFamily="18" charset="0"/>
              </a:rPr>
              <a:t>benchmark_results</a:t>
            </a:r>
            <a:r>
              <a:rPr lang="en-US" sz="1019" b="0" dirty="0">
                <a:solidFill>
                  <a:srgbClr val="666666"/>
                </a:solidFill>
                <a:latin typeface="Times New Roman" panose="02020603050405020304" pitchFamily="18" charset="0"/>
                <a:cs typeface="Times New Roman" panose="02020603050405020304" pitchFamily="18" charset="0"/>
              </a:rPr>
              <a:t>/gate4-development-formal-20260905/</a:t>
            </a:r>
          </a:p>
          <a:p>
            <a:pPr algn="l">
              <a:lnSpc>
                <a:spcPct val="100000"/>
              </a:lnSpc>
              <a:spcBef>
                <a:spcPts val="0"/>
              </a:spcBef>
              <a:spcAft>
                <a:spcPts val="0"/>
              </a:spcAft>
            </a:pPr>
            <a:r>
              <a:rPr lang="en-US" sz="1019" b="0" dirty="0">
                <a:solidFill>
                  <a:srgbClr val="666666"/>
                </a:solidFill>
                <a:latin typeface="Times New Roman" panose="02020603050405020304" pitchFamily="18" charset="0"/>
                <a:cs typeface="Times New Roman" panose="02020603050405020304" pitchFamily="18" charset="0"/>
              </a:rPr>
              <a:t>cases/D-S01/</a:t>
            </a:r>
            <a:endParaRPr sz="1019" b="0" dirty="0">
              <a:solidFill>
                <a:srgbClr val="666666"/>
              </a:solidFill>
              <a:latin typeface="Times New Roman" panose="02020603050405020304" pitchFamily="18" charset="0"/>
              <a:cs typeface="Times New Roman" panose="02020603050405020304" pitchFamily="18" charset="0"/>
            </a:endParaRPr>
          </a:p>
        </p:txBody>
      </p:sp>
      <p:sp>
        <p:nvSpPr>
          <p:cNvPr id="136" name="33_Heldout_Label">
            <a:extLst>
              <a:ext uri="{FF2B5EF4-FFF2-40B4-BE49-F238E27FC236}">
                <a16:creationId xmlns:a16="http://schemas.microsoft.com/office/drawing/2014/main" id="{40E47A1C-16DC-CD0F-9613-62D51129097F}"/>
              </a:ext>
            </a:extLst>
          </p:cNvPr>
          <p:cNvSpPr txBox="1"/>
          <p:nvPr/>
        </p:nvSpPr>
        <p:spPr>
          <a:xfrm>
            <a:off x="8019865" y="3331376"/>
            <a:ext cx="1143000" cy="210312"/>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lang="en-US" sz="1200" b="1" dirty="0">
                <a:solidFill>
                  <a:srgbClr val="111111"/>
                </a:solidFill>
                <a:latin typeface="Times New Roman" panose="02020603050405020304" pitchFamily="18" charset="0"/>
                <a:cs typeface="Times New Roman" panose="02020603050405020304" pitchFamily="18" charset="0"/>
              </a:rPr>
              <a:t>Media index</a:t>
            </a:r>
            <a:endParaRPr sz="1200" b="1" dirty="0">
              <a:solidFill>
                <a:srgbClr val="111111"/>
              </a:solidFill>
              <a:latin typeface="Times New Roman" panose="02020603050405020304" pitchFamily="18" charset="0"/>
              <a:cs typeface="Times New Roman" panose="02020603050405020304" pitchFamily="18" charset="0"/>
            </a:endParaRPr>
          </a:p>
        </p:txBody>
      </p:sp>
      <p:sp>
        <p:nvSpPr>
          <p:cNvPr id="138" name="34_Heldout_Run">
            <a:extLst>
              <a:ext uri="{FF2B5EF4-FFF2-40B4-BE49-F238E27FC236}">
                <a16:creationId xmlns:a16="http://schemas.microsoft.com/office/drawing/2014/main" id="{CF93DEAA-2893-158A-5674-CFC59CAB4181}"/>
              </a:ext>
            </a:extLst>
          </p:cNvPr>
          <p:cNvSpPr txBox="1"/>
          <p:nvPr/>
        </p:nvSpPr>
        <p:spPr>
          <a:xfrm>
            <a:off x="8019865" y="3569121"/>
            <a:ext cx="1645920" cy="365760"/>
          </a:xfrm>
          <a:prstGeom prst="rect">
            <a:avLst/>
          </a:prstGeom>
          <a:noFill/>
        </p:spPr>
        <p:txBody>
          <a:bodyPr wrap="squar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lang="en-US" sz="1019" b="0" dirty="0">
                <a:solidFill>
                  <a:srgbClr val="666666"/>
                </a:solidFill>
                <a:latin typeface="Times New Roman" panose="02020603050405020304" pitchFamily="18" charset="0"/>
                <a:cs typeface="Times New Roman" panose="02020603050405020304" pitchFamily="18" charset="0"/>
              </a:rPr>
              <a:t>docs/gate5_media_index.md</a:t>
            </a:r>
            <a:endParaRPr sz="1019" b="0" dirty="0">
              <a:solidFill>
                <a:srgbClr val="666666"/>
              </a:solidFill>
              <a:latin typeface="Times New Roman" panose="02020603050405020304" pitchFamily="18" charset="0"/>
              <a:cs typeface="Times New Roman" panose="02020603050405020304" pitchFamily="18" charset="0"/>
            </a:endParaRPr>
          </a:p>
        </p:txBody>
      </p:sp>
      <p:sp>
        <p:nvSpPr>
          <p:cNvPr id="140" name="33_Heldout_Label">
            <a:extLst>
              <a:ext uri="{FF2B5EF4-FFF2-40B4-BE49-F238E27FC236}">
                <a16:creationId xmlns:a16="http://schemas.microsoft.com/office/drawing/2014/main" id="{93EB1391-32A8-843B-C785-EA9868A147B2}"/>
              </a:ext>
            </a:extLst>
          </p:cNvPr>
          <p:cNvSpPr txBox="1"/>
          <p:nvPr/>
        </p:nvSpPr>
        <p:spPr>
          <a:xfrm>
            <a:off x="8019863" y="3863340"/>
            <a:ext cx="1794677" cy="210312"/>
          </a:xfrm>
          <a:prstGeom prst="rect">
            <a:avLst/>
          </a:prstGeom>
          <a:noFill/>
        </p:spPr>
        <p:txBody>
          <a:bodyPr wrap="non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lang="en-US" sz="1200" b="1" dirty="0">
                <a:solidFill>
                  <a:srgbClr val="111111"/>
                </a:solidFill>
                <a:latin typeface="Times New Roman" panose="02020603050405020304" pitchFamily="18" charset="0"/>
                <a:cs typeface="Times New Roman" panose="02020603050405020304" pitchFamily="18" charset="0"/>
              </a:rPr>
              <a:t>Delivery snapshot only</a:t>
            </a:r>
            <a:endParaRPr sz="1200" b="1" dirty="0">
              <a:solidFill>
                <a:srgbClr val="111111"/>
              </a:solidFill>
              <a:latin typeface="Times New Roman" panose="02020603050405020304" pitchFamily="18" charset="0"/>
              <a:cs typeface="Times New Roman" panose="02020603050405020304" pitchFamily="18" charset="0"/>
            </a:endParaRPr>
          </a:p>
        </p:txBody>
      </p:sp>
      <p:sp>
        <p:nvSpPr>
          <p:cNvPr id="142" name="34_Heldout_Run">
            <a:extLst>
              <a:ext uri="{FF2B5EF4-FFF2-40B4-BE49-F238E27FC236}">
                <a16:creationId xmlns:a16="http://schemas.microsoft.com/office/drawing/2014/main" id="{D582AA90-EF61-D3F9-DD30-F43B271AE4C0}"/>
              </a:ext>
            </a:extLst>
          </p:cNvPr>
          <p:cNvSpPr txBox="1"/>
          <p:nvPr/>
        </p:nvSpPr>
        <p:spPr>
          <a:xfrm>
            <a:off x="8019864" y="4101085"/>
            <a:ext cx="1645920" cy="365760"/>
          </a:xfrm>
          <a:prstGeom prst="rect">
            <a:avLst/>
          </a:prstGeom>
          <a:noFill/>
        </p:spPr>
        <p:txBody>
          <a:bodyPr wrap="squar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lang="en-US" sz="1019" b="0">
                <a:solidFill>
                  <a:srgbClr val="666666"/>
                </a:solidFill>
                <a:latin typeface="Times New Roman" panose="02020603050405020304" pitchFamily="18" charset="0"/>
                <a:cs typeface="Times New Roman" panose="02020603050405020304" pitchFamily="18" charset="0"/>
              </a:rPr>
              <a:t>Not a new scientific baseline</a:t>
            </a:r>
            <a:endParaRPr sz="1019" b="0" dirty="0">
              <a:solidFill>
                <a:srgbClr val="666666"/>
              </a:solidFill>
              <a:latin typeface="Times New Roman" panose="02020603050405020304" pitchFamily="18" charset="0"/>
              <a:cs typeface="Times New Roman" panose="02020603050405020304" pitchFamily="18" charset="0"/>
            </a:endParaRPr>
          </a:p>
        </p:txBody>
      </p:sp>
      <p:sp>
        <p:nvSpPr>
          <p:cNvPr id="144" name="34_Heldout_Run">
            <a:extLst>
              <a:ext uri="{FF2B5EF4-FFF2-40B4-BE49-F238E27FC236}">
                <a16:creationId xmlns:a16="http://schemas.microsoft.com/office/drawing/2014/main" id="{B6A97335-87D7-53E3-4DA1-920EDD7F6F25}"/>
              </a:ext>
            </a:extLst>
          </p:cNvPr>
          <p:cNvSpPr txBox="1"/>
          <p:nvPr/>
        </p:nvSpPr>
        <p:spPr>
          <a:xfrm>
            <a:off x="8015497" y="4432616"/>
            <a:ext cx="3108958" cy="365760"/>
          </a:xfrm>
          <a:prstGeom prst="rect">
            <a:avLst/>
          </a:prstGeom>
          <a:noFill/>
        </p:spPr>
        <p:txBody>
          <a:bodyPr wrap="square" lIns="0" tIns="0" rIns="0" bIns="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lang="en-US" sz="1100" b="0" dirty="0">
                <a:solidFill>
                  <a:srgbClr val="666666"/>
                </a:solidFill>
                <a:latin typeface="Times New Roman" panose="02020603050405020304" pitchFamily="18" charset="0"/>
                <a:cs typeface="Times New Roman" panose="02020603050405020304" pitchFamily="18" charset="0"/>
              </a:rPr>
              <a:t>The target commit will be recorded in</a:t>
            </a:r>
          </a:p>
          <a:p>
            <a:pPr algn="l">
              <a:lnSpc>
                <a:spcPct val="100000"/>
              </a:lnSpc>
              <a:spcBef>
                <a:spcPts val="0"/>
              </a:spcBef>
              <a:spcAft>
                <a:spcPts val="0"/>
              </a:spcAft>
            </a:pPr>
            <a:r>
              <a:rPr lang="en-US" sz="1100" b="0" dirty="0" err="1">
                <a:solidFill>
                  <a:srgbClr val="666666"/>
                </a:solidFill>
                <a:latin typeface="Times New Roman" panose="02020603050405020304" pitchFamily="18" charset="0"/>
                <a:cs typeface="Times New Roman" panose="02020603050405020304" pitchFamily="18" charset="0"/>
              </a:rPr>
              <a:t>submission_manifest.json</a:t>
            </a:r>
            <a:r>
              <a:rPr lang="en-US" sz="1100" b="0" dirty="0">
                <a:solidFill>
                  <a:srgbClr val="666666"/>
                </a:solidFill>
                <a:latin typeface="Times New Roman" panose="02020603050405020304" pitchFamily="18" charset="0"/>
                <a:cs typeface="Times New Roman" panose="02020603050405020304" pitchFamily="18" charset="0"/>
              </a:rPr>
              <a:t> after final tag creation.</a:t>
            </a:r>
            <a:endParaRPr sz="1100" b="0" dirty="0">
              <a:solidFill>
                <a:srgbClr val="66666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4047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1660294-B3B0-CEE2-8C2B-B6928D1F61E1}"/>
              </a:ext>
            </a:extLst>
          </p:cNvPr>
          <p:cNvSpPr>
            <a:spLocks noGrp="1"/>
          </p:cNvSpPr>
          <p:nvPr>
            <p:ph type="title"/>
          </p:nvPr>
        </p:nvSpPr>
        <p:spPr/>
        <p:txBody>
          <a:bodyPr/>
          <a:lstStyle/>
          <a:p>
            <a:r>
              <a:rPr lang="en-AU" dirty="0"/>
              <a:t>Thanks</a:t>
            </a:r>
          </a:p>
        </p:txBody>
      </p:sp>
      <p:sp>
        <p:nvSpPr>
          <p:cNvPr id="4" name="Text Placeholder 3">
            <a:extLst>
              <a:ext uri="{FF2B5EF4-FFF2-40B4-BE49-F238E27FC236}">
                <a16:creationId xmlns:a16="http://schemas.microsoft.com/office/drawing/2014/main" id="{E2CDDBE6-B49E-DE06-0C02-A9C75F554D05}"/>
              </a:ext>
            </a:extLst>
          </p:cNvPr>
          <p:cNvSpPr>
            <a:spLocks noGrp="1"/>
          </p:cNvSpPr>
          <p:nvPr>
            <p:ph type="body" sz="quarter" idx="18"/>
          </p:nvPr>
        </p:nvSpPr>
        <p:spPr>
          <a:xfrm>
            <a:off x="6230938" y="6219310"/>
            <a:ext cx="5614987" cy="433903"/>
          </a:xfrm>
        </p:spPr>
        <p:txBody>
          <a:bodyPr/>
          <a:lstStyle/>
          <a:p>
            <a:r>
              <a:rPr lang="en-AU" dirty="0"/>
              <a:t>The University of Melbourne (Australian University) PRV12150/CRICOS 00116K</a:t>
            </a:r>
          </a:p>
        </p:txBody>
      </p:sp>
    </p:spTree>
    <p:extLst>
      <p:ext uri="{BB962C8B-B14F-4D97-AF65-F5344CB8AC3E}">
        <p14:creationId xmlns:p14="http://schemas.microsoft.com/office/powerpoint/2010/main" val="2048772096"/>
      </p:ext>
    </p:extLst>
  </p:cSld>
  <p:clrMapOvr>
    <a:masterClrMapping/>
  </p:clrMapOvr>
</p:sld>
</file>

<file path=ppt/theme/theme1.xml><?xml version="1.0" encoding="utf-8"?>
<a:theme xmlns:a="http://schemas.openxmlformats.org/drawingml/2006/main" name="University of Melbourne">
  <a:themeElements>
    <a:clrScheme name="UOM Option2 Colours">
      <a:dk1>
        <a:sysClr val="windowText" lastClr="000000"/>
      </a:dk1>
      <a:lt1>
        <a:sysClr val="window" lastClr="FFFFFF"/>
      </a:lt1>
      <a:dk2>
        <a:srgbClr val="000000"/>
      </a:dk2>
      <a:lt2>
        <a:srgbClr val="000F46"/>
      </a:lt2>
      <a:accent1>
        <a:srgbClr val="000000"/>
      </a:accent1>
      <a:accent2>
        <a:srgbClr val="46C8F0"/>
      </a:accent2>
      <a:accent3>
        <a:srgbClr val="FF2D3C"/>
      </a:accent3>
      <a:accent4>
        <a:srgbClr val="885771"/>
      </a:accent4>
      <a:accent5>
        <a:srgbClr val="9FB825"/>
      </a:accent5>
      <a:accent6>
        <a:srgbClr val="003C55"/>
      </a:accent6>
      <a:hlink>
        <a:srgbClr val="000F46"/>
      </a:hlink>
      <a:folHlink>
        <a:srgbClr val="000F46"/>
      </a:folHlink>
    </a:clrScheme>
    <a:fontScheme name="University of Melbourn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6E6E6"/>
        </a:solidFill>
        <a:ln>
          <a:noFill/>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00F46"/>
          </a:solidFill>
        </a:ln>
      </a:spPr>
      <a:bodyPr/>
      <a:lstStyle/>
      <a:style>
        <a:lnRef idx="1">
          <a:schemeClr val="accent1"/>
        </a:lnRef>
        <a:fillRef idx="0">
          <a:schemeClr val="accent1"/>
        </a:fillRef>
        <a:effectRef idx="0">
          <a:schemeClr val="accent1"/>
        </a:effectRef>
        <a:fontRef idx="minor">
          <a:schemeClr val="tx1"/>
        </a:fontRef>
      </a:style>
    </a:lnDef>
  </a:objectDefaults>
  <a:extraClrSchemeLst/>
  <a:custClrLst>
    <a:custClr name="Black Sheoak (Dark)">
      <a:srgbClr val="78000D"/>
    </a:custClr>
    <a:custClr name="Possum (Dark)">
      <a:srgbClr val="73234B"/>
    </a:custClr>
    <a:custClr name="Possum (Light)">
      <a:srgbClr val="EB7BBE"/>
    </a:custClr>
    <a:custClr name="Yam Daisy (Dark)">
      <a:srgbClr val="A84500"/>
    </a:custClr>
    <a:custClr name="Yam Daisy (Light)">
      <a:srgbClr val="FFD629"/>
    </a:custClr>
    <a:custClr name="Magpie (Light)">
      <a:srgbClr val="C8C8C8"/>
    </a:custClr>
    <a:custClr name="Mt William Greenstone (Light)">
      <a:srgbClr val="ABC1A7"/>
    </a:custClr>
    <a:custClr name="River Red Gum (Dark)">
      <a:srgbClr val="2C421D"/>
    </a:custClr>
    <a:custClr name="Magpie (Dark)">
      <a:srgbClr val="2D2D2D"/>
    </a:custClr>
    <a:custClr name="Mt William Greenstone (Dark)">
      <a:srgbClr val="444A40"/>
    </a:custClr>
  </a:custClrLst>
  <a:extLst>
    <a:ext uri="{05A4C25C-085E-4340-85A3-A5531E510DB2}">
      <thm15:themeFamily xmlns:thm15="http://schemas.microsoft.com/office/thememl/2012/main" name="Master_University of Melbourne.potx" id="{EEF8E8C5-136A-4328-9120-DC238DB23620}" vid="{3C59B156-C13B-4CA4-AD0B-4F3716D70D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UI/customUI.xml><?xml version="1.0" encoding="utf-8"?>
<customUI xmlns="http://schemas.microsoft.com/office/2006/01/customui">
  <ribbon startFromScratch="false">
    <tabs>
      <tab id="CustomTab" label="University of Melbourne" insertBeforeMso="TabHome" keytip="Q">
        <group idMso="GroupSlides"/>
        <group id="Group1" label="Change Bullet Styles">
          <button idMso="IndentDecrease" visible="true" label="Decrease List Level" size="large"/>
          <button idMso="IndentIncrease" visible="true" label="Increase List Level" size="large"/>
        </group>
        <group id="Group2" label=" ">
          <checkBox idMso="GuidesShowHide" label="Guides"/>
          <splitButton id="groupsplitbutton" size="normal">
            <button idMso="ObjectsGroup"/>
            <menu id="groupsplitmenu" itemSize="large">
              <button idMso="ObjectsUngroup" description="Un-group selected objects" screentip="Un-group selected objects"/>
              <button idMso="ObjectsRegroup" description="Combine and re-Group selected objects" screentip="Combine and re-Group selected objects"/>
            </menu>
          </splitButton>
          <splitButton id="Cropping" size="normal">
            <toggleButton idMso="PictureCrop" label="Crop Tools"/>
            <menu id="CropMenu" itemSize="large">
              <button idMso="PictureFitCrop" description="Resize picture to fit the placeholder proportionally"/>
              <menuSeparator id="croppingmenu2"/>
              <menu idMso="PictureCropAspectRatioMenu" description="Crop image to selected aspect ratio"/>
              <gallery idMso="PictureShapeGallery" description="Crop image to selected shape"/>
            </menu>
          </splitButton>
          <separator id="sep1"/>
          <button idMso="ZoomFitToWindow" size="large" label="Fit to Window"/>
        </group>
        <group id="customGroup3" label="Accessibility Tools">
          <splitButton idMso="MenuAccessibility" visible="true" size="large"/>
          <separator id="Acc"/>
          <toggleButton idMso="AltTextPaneRibbon" visible="true" size="large"/>
          <separator id="sep3"/>
          <toggleButton idMso="SelectionPane" label="Selection Pane" size="large"/>
          <separator id="sep2"/>
          <splitButton id="sendbacksplitbutton" size="large">
            <button idMso="ObjectSendToBack" label="Send to Back"/>
            <menu id="sendbacksplitmenu" itemSize="large">
              <button idMso="ObjectBringToFront" label="Bring to Front"/>
            </menu>
          </splitButton>
        </group>
        <group id="group3" label=" ">
          <button idMso="PictureInsertFromFilePowerPoint" visible="true" size="large" label="Insert Symbols and Patterns" imageMso="InsertPictures"/>
          <button idMso="HeaderFooterInsert" size="large"/>
          <button idMso="PasteTextOnly" size="large" imageMso="Paste" label="Paste Unformatted"/>
        </group>
      </tab>
    </tabs>
  </ribbon>
</customUI>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1b4f495-11b8-43f2-b0a6-bd3e9198cf0b">
      <Terms xmlns="http://schemas.microsoft.com/office/infopath/2007/PartnerControls"/>
    </lcf76f155ced4ddcb4097134ff3c332f>
    <TaxCatchAll xmlns="ae8ede3d-ca04-40de-a521-e5739ec48b5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A11C620F3B436428A25057898027FE7" ma:contentTypeVersion="13" ma:contentTypeDescription="Create a new document." ma:contentTypeScope="" ma:versionID="e75af887571335a19ecb0f2c01abbd63">
  <xsd:schema xmlns:xsd="http://www.w3.org/2001/XMLSchema" xmlns:xs="http://www.w3.org/2001/XMLSchema" xmlns:p="http://schemas.microsoft.com/office/2006/metadata/properties" xmlns:ns2="11b4f495-11b8-43f2-b0a6-bd3e9198cf0b" xmlns:ns3="ae8ede3d-ca04-40de-a521-e5739ec48b5f" targetNamespace="http://schemas.microsoft.com/office/2006/metadata/properties" ma:root="true" ma:fieldsID="5a5d3d7acb5601e93c2cbac012439d32" ns2:_="" ns3:_="">
    <xsd:import namespace="11b4f495-11b8-43f2-b0a6-bd3e9198cf0b"/>
    <xsd:import namespace="ae8ede3d-ca04-40de-a521-e5739ec48b5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2:MediaServiceAutoKeyPoints" minOccurs="0"/>
                <xsd:element ref="ns2:MediaServiceKeyPoint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b4f495-11b8-43f2-b0a6-bd3e9198cf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66921fe-4017-451f-be36-692af8ba859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e8ede3d-ca04-40de-a521-e5739ec48b5f"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eebe2cbe-a4cc-4daf-9365-b3e719dfc505}" ma:internalName="TaxCatchAll" ma:showField="CatchAllData" ma:web="ae8ede3d-ca04-40de-a521-e5739ec48b5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E8FFBB9-4FB3-4A1F-8381-B3FA72337E91}">
  <ds:schemaRefs>
    <ds:schemaRef ds:uri="http://purl.org/dc/terms/"/>
    <ds:schemaRef ds:uri="http://schemas.microsoft.com/office/2006/metadata/properties"/>
    <ds:schemaRef ds:uri="ae8ede3d-ca04-40de-a521-e5739ec48b5f"/>
    <ds:schemaRef ds:uri="http://schemas.microsoft.com/office/2006/documentManagement/types"/>
    <ds:schemaRef ds:uri="http://purl.org/dc/elements/1.1/"/>
    <ds:schemaRef ds:uri="http://purl.org/dc/dcmitype/"/>
    <ds:schemaRef ds:uri="http://schemas.microsoft.com/office/infopath/2007/PartnerControls"/>
    <ds:schemaRef ds:uri="http://schemas.openxmlformats.org/package/2006/metadata/core-properties"/>
    <ds:schemaRef ds:uri="11b4f495-11b8-43f2-b0a6-bd3e9198cf0b"/>
    <ds:schemaRef ds:uri="http://www.w3.org/XML/1998/namespace"/>
  </ds:schemaRefs>
</ds:datastoreItem>
</file>

<file path=customXml/itemProps2.xml><?xml version="1.0" encoding="utf-8"?>
<ds:datastoreItem xmlns:ds="http://schemas.openxmlformats.org/officeDocument/2006/customXml" ds:itemID="{FDBE7C61-A3B0-4286-8062-81097C40FC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b4f495-11b8-43f2-b0a6-bd3e9198cf0b"/>
    <ds:schemaRef ds:uri="ae8ede3d-ca04-40de-a521-e5739ec48b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2C75387-93F6-4D93-B300-D671EFAD96D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Master_University-of-Melbourne</Template>
  <TotalTime>28597</TotalTime>
  <Words>7134</Words>
  <Application>Microsoft Office PowerPoint</Application>
  <PresentationFormat>宽屏</PresentationFormat>
  <Paragraphs>513</Paragraphs>
  <Slides>14</Slides>
  <Notes>14</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14</vt:i4>
      </vt:variant>
    </vt:vector>
  </HeadingPairs>
  <TitlesOfParts>
    <vt:vector size="20" baseType="lpstr">
      <vt:lpstr>Aptos</vt:lpstr>
      <vt:lpstr>Aptos Display</vt:lpstr>
      <vt:lpstr>Arial</vt:lpstr>
      <vt:lpstr>Calibri</vt:lpstr>
      <vt:lpstr>Times New Roman</vt:lpstr>
      <vt:lpstr>University of Melbourne</vt:lpstr>
      <vt:lpstr>Rule-based CAD construction sequence synthesis from B-rep models</vt:lpstr>
      <vt:lpstr>Research Question and Scope </vt:lpstr>
      <vt:lpstr>Gate 0–4 Evidence Pipeline </vt:lpstr>
      <vt:lpstr>Benchmark and Evaluation Boundary</vt:lpstr>
      <vt:lpstr>Frozen Gate 4 Observations</vt:lpstr>
      <vt:lpstr>Demonstration Evidence Contract</vt:lpstr>
      <vt:lpstr>D-S04 Single Extrusion</vt:lpstr>
      <vt:lpstr>D-H01 Base and Straight Through Cut</vt:lpstr>
      <vt:lpstr>D-S01 Sealed Ambiguity Evidence</vt:lpstr>
      <vt:lpstr>Validated Scope and Open Question</vt:lpstr>
      <vt:lpstr>Implementation Verification</vt:lpstr>
      <vt:lpstr>Status and Validation Semantics</vt:lpstr>
      <vt:lpstr>Evidence References</vt:lpstr>
      <vt:lpstr>Thanks</vt:lpstr>
    </vt:vector>
  </TitlesOfParts>
  <Company>The University of Melbourne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Susannah Woodward</dc:creator>
  <cp:lastModifiedBy>shuo Ding</cp:lastModifiedBy>
  <cp:revision>127</cp:revision>
  <dcterms:created xsi:type="dcterms:W3CDTF">2024-08-22T01:42:58Z</dcterms:created>
  <dcterms:modified xsi:type="dcterms:W3CDTF">2026-09-21T03:59:03Z</dcterms:modified>
  <cp:category>PowerPoint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0x0101001A11C620F3B436428A25057898027FE7</vt:lpwstr>
  </property>
</Properties>
</file>